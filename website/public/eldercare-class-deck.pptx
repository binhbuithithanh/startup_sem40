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Lãi ròng</c:v>
                </c:pt>
              </c:strCache>
            </c:strRef>
          </c:tx>
          <c:spPr>
            <a:solidFill>
              <a:srgbClr val="0D9488"/>
            </a:solidFill>
            <a:effectLst/>
          </c:spPr>
          <c:invertIfNegative val="0"/>
          <c:dLbls>
            <c:numFmt formatCode="#,##0" sourceLinked="0"/>
            <c:txPr>
              <a:bodyPr/>
              <a:lstStyle/>
              <a:p>
                <a:pPr>
                  <a:defRPr b="1" i="0" strike="noStrike" sz="10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N1</c:v>
                  </c:pt>
                  <c:pt idx="1">
                    <c:v>N2</c:v>
                  </c:pt>
                  <c:pt idx="2">
                    <c:v>N3</c:v>
                  </c:pt>
                  <c:pt idx="3">
                    <c:v>N4</c:v>
                  </c:pt>
                  <c:pt idx="4">
                    <c:v>N5</c:v>
                  </c:pt>
                </c:lvl>
              </c:multiLvlStrCache>
            </c:multiLvlStrRef>
          </c:cat>
          <c:val>
            <c:numRef>
              <c:f>Sheet1!$B$2:$B$6</c:f>
              <c:numCache>
                <c:formatCode>General</c:formatCode>
                <c:ptCount val="5"/>
                <c:pt idx="0">
                  <c:v>10</c:v>
                </c:pt>
                <c:pt idx="1">
                  <c:v>17</c:v>
                </c:pt>
                <c:pt idx="2">
                  <c:v>28</c:v>
                </c:pt>
                <c:pt idx="3">
                  <c:v>44</c:v>
                </c:pt>
                <c:pt idx="4">
                  <c:v>64</c:v>
                </c:pt>
              </c:numCache>
            </c:numRef>
          </c:val>
        </c:ser>
        <c:dLbls>
          <c:numFmt formatCode="#,##0" sourceLinked="0"/>
          <c:txPr>
            <a:bodyPr/>
            <a:lstStyle/>
            <a:p>
              <a:pPr>
                <a:defRPr b="1"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7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 và cả lớp. Nhóm em xin giới thiệu ElderCare VN — super-app chăm sóc sức khỏe người cao tuổi Việt Nam, với tagline 'Một chạm để biết bố mẹ vẫn ổn'. Bài thuyết trình hôm nay chia theo từng thành viên: Tân mở đầu vấn đề và giải pháp, Bình lo tài chính, chị Liên nói marketing và thị trường, anh Hiếu phụ trách bệnh lý và chuyên môn, chị Nhi nói pháp lý và trải nghiệm, cuối cùng Duy demo app và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Việt Nam đang già hóa cực nhanh: 14,2 triệu người trên 60 tuổi hôm nay, dự báo lên gần 21 triệu, và tới 2050 hơn một phần tư dân số là người già. Chi y tế dự kiến đạt 33,8 tỷ đô vào 2030. Nhưng việc chăm sóc đang quá tải và phân mảnh: con cái thuộc thế hệ sandwich vừa nuôi con vừa lo bố mẹ, sợ té ngã, trong khi bệnh viện quá tải và thiếu điều dưỡng. Đây chính là cơ hội thị trường của ElderCare.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pháp gộp toàn bộ hành trình chăm sóc vào MỘT super-app với 5 trụ cột: CareConnect cho điều dưỡng tại nhà, SmartBooking đặt khám bằng AI, TeleSpecialist khám video chuyên khoa, MedFin lo tài chính y tế, và CareSense kèm thương mại dược-thiết bị. Tất cả chia sẻ một lớp dữ liệu sức khỏe được mã hóa, tuân thủ Nghị định 13. Lưu ý: ở Kịch bản B mà bạn Bình sẽ trình bày, tụi em tập trung 3 trụ cột nhẹ vốn trước và tạm hoãn MedFin tự cấp vốn.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 cốt lõi: người trả tiền không phải người dùng. Ông Tâm — con cái ở xa — mua sự an tâm và sẵn sàng chi 300 đến 500 nghìn mỗi tháng; còn Bà Hoa 72 tuổi mới là người được chăm, muốn sống tự chủ tại nhà. Về quy mô, tổng cầu — TAM — khoảng 115 nghìn tỷ một năm, phân khúc phục vụ được — SAM — khoảng 18 nghìn tỷ, và mục tiêu Năm 5 — SOM — khoảng 900 tỷ. Tụi em khởi đầu ngay tại Hà Nội vì cả 6 nhà sáng lập đều ở đây, rồi mở TP.HCM năm 2 và các tỉnh năm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Tân. Em là Bình, phụ trách phần tài chính. Em sẽ trình bày vì sao nhóm chọn Kịch bản B 'Lãi ngay' theo hướng nhẹ tài sản, rồi đi qua bảng P&amp;L 5 năm cho thấy lãi ngay từ Năm 1, và cuối cùng là cấu trúc vốn góp của 6 nhà sáng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vì Kịch bản A đốt tới gần 289 tỷ lỗ lũy kế qua nhiều vòng vốn, nhóm chọn Kịch bản B 'Lãi ngay' theo hướng nhẹ tài sản. Tụi em giữ ba trụ cột tạo dòng tiền ngay là điều dưỡng, telehealth thuê bao và dược thiết bị; còn hoãn hai mảng ngốn vốn là MedFin tự cấp vốn và CareSense tự sản xuất — thay bằng ăn phí giới thiệu và thuê thiết bị. Kết quả: lãi ròng dương 10 tỷ ngay Năm 1, mọi năm đều lãi, chỉ cần 15 đến 20 tỷ vốn, và nhà sáng lập giữ trên 80% cổ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P&amp;L 5 năm theo Kịch bản B. Doanh thu thuần tăng đều từ 70,7 tỷ Năm 1 lên 360 tỷ Năm 5, biên lợi nhuận gộp cải thiện từ 54% lên 62%. Điểm mấu chốt là dòng lãi ròng tô đậm: dương 10 tỷ ngay Năm 1, rồi 17, 28, 44 và 64 tỷ vào Năm 5, biên lãi ròng quanh 14 đến 18%. Khác hẳn mô hình startup đốt tiền — tụi em có lãi và tự nuôi được mình ngay từ năm đầu. Đây là các con số minh họa theo ước tính nội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nhà sáng lập: mỗi người trong 6 người góp 1 tỷ, tổng 6 tỷ, chia làm 3 đợt theo milestone 40-30-30 để giảm rủi ro. Cơ cấu sở hữu là CEO 20% cộng năm người mỗi người 16%, thành 100%; nếu gọi thêm seed khoảng 10 tỷ là tùy chọn thì founders vẫn giữ trên 80%. Về thời gian, giai đoạn đầu cả sáu làm bán thời gian, sang Năm 1 chỉ CEO và COO full-time. Về thoái vốn: cổ tức từ Năm 2 giúp hoàn vốn trong 2 đến 3 năm, kèm secondary và strategic exit, vesting 4 năm cliff 1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Bình. Em là Liên, phụ trách marketing và thị trường. Em sẽ nói về chiến lược tiếp cận khách hàng kép theo hướng lean, cách tụi em phân khúc khách hàng theo ba trục, và bản đồ đối thủ cạnh tranh cho thấy ElderCare đang ở ô trống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Đặc thù marketing của tụi em là người trả tiền và người dùng khác nhau: con cái mua sự an tâm, bố mẹ cần trải nghiệm ấm áp đơn giản để giữ chân. Vì theo Kịch bản B 'Lãi ngay', tụi em giữ marketing dưới 15 đến 20% doanh thu, ưu tiên kênh rẻ nhất là referral với CAC chỉ 180 nghìn, cộng đối tác bệnh viện hậu phẫu và KOL bác sĩ, hạn chế phụ thuộc digital đắt đỏ. Phễu AARRR đi từ quảng cáo cảm xúc 'sợ té ngã', tới dùng thử miễn phí, rồi giữ chân bằng rào cản quen người chăm và thiết bị đã lắp.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Tụi em phân khúc khách hàng theo ba trục độc lập. Trục A là người trả tiền — con cái, phân theo khoảng cách, thu nhập và độ rành công nghệ, quyết định chọn gói. Trục B quan trọng nhất cho vận hành — người dùng theo mức phụ thuộc, từ tự chủ tới phụ thuộc nặng, hậu phẫu và sa sút trí tuệ. Trục C là địa lý, quyết định thứ tự mở rộng: đô thị lớn ra trước, tỉnh mạnh về telehealth. Giao của ba trục cho ra ô khách hàng cụ thể, rồi nối tới ma trận chuyên gia để biết ghép đúng điều dưỡng, bác sĩ chuyên khoa, phục hồi chức năng hay dược lâm sàng.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Thị trường đã có một số tên tuổi: Jio Health gọi được 20 triệu đô Series B nhưng làm app sức khỏe tổng quát; bTaskee và bCare từ Đại học Y Dược TP.HCM, Bluecare, Med247 với 4,5 triệu đô, và Wellcare. Điểm chung là họ bán dịch vụ lẻ hoặc nhắm đại trà. Trên bản đồ định vị hai trục — super-app trọn hành trình so với dịch vụ lẻ, và chuyên người già so với đại trà — góc trên bên phải đang trống. Đó chính là ô của ElderCare: super-app trọn gói chuyên biệt cho người cao tuổi.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chị Liên. Em là Hiếu, phụ trách phần chuyên môn y khoa. Em sẽ trình bày tám nhóm bệnh lý lão khoa mà đội chăm sóc phải theo dõi, rồi tới chương trình đào tạo điều dưỡng bốn cấp và kế hoạch chuyên môn bốn tầng để đảm bảo chất lượng và đúng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Mạng lưới chuyên gia chỉ tạo giá trị khi theo dõi đúng bệnh. Tụi em lập bản đồ tám nhóm bệnh lý và hội chứng lão khoa thường gặp nhất: tim mạch, nội tiết chuyển hóa, cơ xương khớp, thần kinh, hô hấp, ung thư, sức khỏe tâm thần, và nhóm hội chứng lão khoa như té ngã, đa thuốc, lú lẫn. Mỗi nhóm tụi em xác định rõ dấu hiệu, cần theo dõi chỉ số gì, và ai chăm — nối thẳng về ma trận chuyên gia. Ví dụ Bà Hoa có ba bệnh mạn tim mạch, nội tiết và khớp, cần điều dưỡng lão khoa cộng dược lâm sàng theo dõi đa thuốc.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Chất lượng chuyên môn là điểm tin cậy sống còn. Về đào tạo, tụi em chia điều dưỡng và caregiver thành bốn cấp, từ chăm sóc sinh hoạt cơ bản, theo dõi bệnh mạn, tới chuyên sâu hậu phẫu và sa sút trí tuệ, cao nhất là lão khoa nâng cao — dạy theo hình thức blended e-learning kết hợp thực hành OSCE chấm theo tình huống. Về chuyên môn, tụi em xây bốn tầng: hội đồng cố vấn KOL nhận equity nhỏ, Medical Director retainer 30 đến 50 triệu một tháng, dược sĩ phụ trách bắt buộc theo Luật Dược cùng điều dưỡng trưởng và QA, và đối tác Đại học Y. Tổng chỉ khoảng 1,86 tỷ một năm, gọn trong OpEx của Kịch bản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anh Hiếu. Em là Nhi, phụ trách pháp lý đạo đức và trải nghiệm khách hàng. Em sẽ nói tụi em tuân thủ chủ động khung pháp lý nào để biến tuân thủ thành điểm tin cậy, rồi tới cách tụi em thiết kế trải nghiệm và giữ chân khách hàng bằng care-team địa phương.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sản phẩm chạm vào dữ liệu sức khỏe và người già dễ tổn thương, tuân thủ không phải gánh nặng mà là lợi thế cạnh tranh bằng niềm tin. Tụi em bám sát Nghị định 13/2023 về bảo vệ dữ liệu, Điều 80 Luật Khám chữa bệnh cho telehealth phải có hồ sơ điện tử, Luật Dược yêu cầu dược sĩ phụ trách, và xác thực thuốc bằng QR chống hàng giả. Về đạo đức, camera và GPS chỉ bật khi có sự đồng ý rõ ràng, có quy trình giám hộ cho người sa sút trí tuệ, minh bạch phí và đối xử công bằng với caregiver. Tuân thủ chủ động chính là điểm tin cậy.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Trải nghiệm tốt mới giữ được khách trong mô hình lãi ngay. Hai điểm khác biệt: thứ nhất là care-team địa phương — điều dưỡng cố định, quen mặt, tuyển lao động tại chỗ Hà Nội, để bố mẹ gắn bó và yên tâm; thứ hai là 'Nhật ký yêu thương' — mỗi ngày gửi con cái ảnh và nhật ký chăm sóc, biến sự an tâm thành cảm xúc cụ thể. Nhờ vậy các chỉ số rất khỏe: giữ chân khoảng 85% mỗi năm, NRR 110%, tỷ lệ LTV trên CAC 6 đến 8 lần, khoảng 35% gia đình mới đến từ giới thiệu, NPS trên 60 và CSAT trên 4,7. SLA phản hồi dưới 15 phút, xử lý sự cố dưới 2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chị Nhi. Em là Duy, phụ trách phần cuối. Em sẽ demo app clickable mà nhóm đã build, trình bày Business Model Canvas theo Kịch bản B, và chốt lại vì sao tụi em chọn hướng đi này cùng lời kêu gọi.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không chỉ là ý tưởng — nhóm đã build một app demo clickable và deploy thật. Điểm đặc biệt là persona switch: cùng một app nhưng hai giao diện, dashboard an tâm cho con cái và màn hình chữ to đơn giản cho bố mẹ, chuyển qua lại giữa Bà Hoa và Ông Tâm. Demo cho thấy ngưỡng cảnh báo CareSense và té ngã, AI gợi ý chuyên gia phù hợp, màn MedFin trả góp, và quét QR xác thực thuốc. Cả lớp có thể vào link phía dưới để tự bấm thử ngay năm màn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Business Model Canvas tổng hợp theo Kịch bản B. Đối tác chính gồm bệnh viện, mạng bác sĩ dược sĩ, nhà cung cấp thiết bị và ngân hàng cấp vốn cho MedFin. Hoạt động cốt lõi là điều phối điều dưỡng, telehealth và vận hành nền tảng AI. Giá trị cốt lõi là super-app trọn hành trình với lời hứa 'một chạm để biết bố mẹ vẫn ổn'. Quan hệ khách hàng dựa trên care-team quen mặt và 'Nhật ký yêu thương'. Phân khúc là con cái trả tiền và bố mẹ dùng. Quan trọng nhất: cơ cấu chi phí nhẹ tài sản và bốn dòng doanh thu — hoa hồng điều dưỡng, thuê bao, markup dược và phí giới thiệu — cho ra mô hình lãi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vì sao nhóm chọn Kịch bản B. Thứ nhất, nó default-alive: lãi ngay Năm 1 với 10 tỷ và mọi năm đều có lãi, không phải sống nhờ vòng gọi vốn tiếp theo. Thứ hai, kiểm soát: chỉ cần 15 đến 20 tỷ vốn, nhà sáng lập giữ trên 80% và tự định đoạt hướng đi. Thứ ba, vẫn lớn được: lãi ròng đạt 64 tỷ vào Năm 5, đủ nền tảng để mở rộng TP.HCM rồi các tỉnh. Tầm nhìn của tụi em là một super-app mà mọi gia đình có bố mẹ già đều cài, bắt đầu từ Hà Nội, có lãi và tự chủ. Một chạm để biết bố mẹ vẫn ổn. Nhóm em xin cảm ơn thầy và cả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F766E">
              <a:alpha val="65000"/>
            </a:srgbClr>
          </a:solidFill>
          <a:ln/>
        </p:spPr>
      </p:sp>
      <p:sp>
        <p:nvSpPr>
          <p:cNvPr id="3" name="Shape 1"/>
          <p:cNvSpPr/>
          <p:nvPr/>
        </p:nvSpPr>
        <p:spPr>
          <a:xfrm>
            <a:off x="10424160" y="3291840"/>
            <a:ext cx="3840480" cy="3840480"/>
          </a:xfrm>
          <a:prstGeom prst="ellipse">
            <a:avLst/>
          </a:prstGeom>
          <a:solidFill>
            <a:srgbClr val="0D9488">
              <a:alpha val="55000"/>
            </a:srgbClr>
          </a:solidFill>
          <a:ln/>
        </p:spPr>
      </p:sp>
      <p:sp>
        <p:nvSpPr>
          <p:cNvPr id="4" name="Shape 2"/>
          <p:cNvSpPr/>
          <p:nvPr/>
        </p:nvSpPr>
        <p:spPr>
          <a:xfrm>
            <a:off x="-1280160" y="4206240"/>
            <a:ext cx="3657600" cy="3657600"/>
          </a:xfrm>
          <a:prstGeom prst="ellipse">
            <a:avLst/>
          </a:prstGeom>
          <a:solidFill>
            <a:srgbClr val="0F766E">
              <a:alpha val="50000"/>
            </a:srgbClr>
          </a:solidFill>
          <a:ln/>
        </p:spPr>
      </p:sp>
      <p:sp>
        <p:nvSpPr>
          <p:cNvPr id="5" name="Shape 3"/>
          <p:cNvSpPr/>
          <p:nvPr/>
        </p:nvSpPr>
        <p:spPr>
          <a:xfrm>
            <a:off x="822960" y="777240"/>
            <a:ext cx="310896" cy="310896"/>
          </a:xfrm>
          <a:prstGeom prst="ellipse">
            <a:avLst/>
          </a:prstGeom>
          <a:solidFill>
            <a:srgbClr val="2DD4BF"/>
          </a:solidFill>
          <a:ln/>
        </p:spPr>
      </p:sp>
      <p:pic>
        <p:nvPicPr>
          <p:cNvPr id="6" name="Image 0" descr="preencoded.png">    </p:cNvPr>
          <p:cNvPicPr>
            <a:picLocks noChangeAspect="1"/>
          </p:cNvPicPr>
          <p:nvPr/>
        </p:nvPicPr>
        <p:blipFill>
          <a:blip r:embed="rId1"/>
          <a:stretch>
            <a:fillRect/>
          </a:stretch>
        </p:blipFill>
        <p:spPr>
          <a:xfrm>
            <a:off x="900684" y="854964"/>
            <a:ext cx="155448" cy="155448"/>
          </a:xfrm>
          <a:prstGeom prst="rect">
            <a:avLst/>
          </a:prstGeom>
        </p:spPr>
      </p:pic>
      <p:sp>
        <p:nvSpPr>
          <p:cNvPr id="7" name="Text 4"/>
          <p:cNvSpPr/>
          <p:nvPr/>
        </p:nvSpPr>
        <p:spPr>
          <a:xfrm>
            <a:off x="1243584" y="749808"/>
            <a:ext cx="5486400" cy="384048"/>
          </a:xfrm>
          <a:prstGeom prst="rect">
            <a:avLst/>
          </a:prstGeom>
          <a:noFill/>
          <a:ln/>
        </p:spPr>
        <p:txBody>
          <a:bodyPr wrap="square" lIns="0" tIns="0" rIns="0" bIns="0" rtlCol="0" anchor="ctr"/>
          <a:lstStyle/>
          <a:p>
            <a:pPr indent="0" marL="0">
              <a:buNone/>
            </a:pPr>
            <a:r>
              <a:rPr lang="en-US" sz="1500" b="1" spc="300" kern="0" dirty="0">
                <a:solidFill>
                  <a:srgbClr val="FFFFFF"/>
                </a:solidFill>
                <a:latin typeface="Trebuchet MS" pitchFamily="34" charset="0"/>
                <a:ea typeface="Trebuchet MS" pitchFamily="34" charset="-122"/>
                <a:cs typeface="Trebuchet MS" pitchFamily="34" charset="-120"/>
              </a:rPr>
              <a:t>ELDERCARE VN</a:t>
            </a:r>
            <a:endParaRPr lang="en-US" sz="1500" dirty="0"/>
          </a:p>
        </p:txBody>
      </p:sp>
      <p:sp>
        <p:nvSpPr>
          <p:cNvPr id="8" name="Text 5"/>
          <p:cNvSpPr/>
          <p:nvPr/>
        </p:nvSpPr>
        <p:spPr>
          <a:xfrm>
            <a:off x="822960" y="1920240"/>
            <a:ext cx="10241280" cy="1737360"/>
          </a:xfrm>
          <a:prstGeom prst="rect">
            <a:avLst/>
          </a:prstGeom>
          <a:noFill/>
          <a:ln/>
        </p:spPr>
        <p:txBody>
          <a:bodyPr wrap="square" lIns="0" tIns="0" rIns="0" bIns="0" rtlCol="0" anchor="ctr"/>
          <a:lstStyle/>
          <a:p>
            <a:pPr indent="0" marL="0">
              <a:lnSpc>
                <a:spcPct val="102000"/>
              </a:lnSpc>
              <a:buNone/>
            </a:pPr>
            <a:r>
              <a:rPr lang="en-US" sz="4200" b="1" dirty="0">
                <a:solidFill>
                  <a:srgbClr val="FFFFFF"/>
                </a:solidFill>
                <a:latin typeface="Trebuchet MS" pitchFamily="34" charset="0"/>
                <a:ea typeface="Trebuchet MS" pitchFamily="34" charset="-122"/>
                <a:cs typeface="Trebuchet MS" pitchFamily="34" charset="-120"/>
              </a:rPr>
              <a:t>Super-app chăm sóc sức khỏe</a:t>
            </a:r>
            <a:endParaRPr lang="en-US" sz="4200" dirty="0"/>
          </a:p>
          <a:p>
            <a:pPr indent="0" marL="0">
              <a:lnSpc>
                <a:spcPct val="102000"/>
              </a:lnSpc>
              <a:buNone/>
            </a:pPr>
            <a:r>
              <a:rPr lang="en-US" sz="4200" b="1" dirty="0">
                <a:solidFill>
                  <a:srgbClr val="FFFFFF"/>
                </a:solidFill>
                <a:latin typeface="Trebuchet MS" pitchFamily="34" charset="0"/>
                <a:ea typeface="Trebuchet MS" pitchFamily="34" charset="-122"/>
                <a:cs typeface="Trebuchet MS" pitchFamily="34" charset="-120"/>
              </a:rPr>
              <a:t>người cao tuổi Việt Nam</a:t>
            </a:r>
            <a:endParaRPr lang="en-US" sz="4200" dirty="0"/>
          </a:p>
        </p:txBody>
      </p:sp>
      <p:sp>
        <p:nvSpPr>
          <p:cNvPr id="9" name="Text 6"/>
          <p:cNvSpPr/>
          <p:nvPr/>
        </p:nvSpPr>
        <p:spPr>
          <a:xfrm>
            <a:off x="859536" y="3657600"/>
            <a:ext cx="8229600" cy="457200"/>
          </a:xfrm>
          <a:prstGeom prst="rect">
            <a:avLst/>
          </a:prstGeom>
          <a:noFill/>
          <a:ln/>
        </p:spPr>
        <p:txBody>
          <a:bodyPr wrap="square" lIns="0" tIns="0" rIns="0" bIns="0" rtlCol="0" anchor="ctr"/>
          <a:lstStyle/>
          <a:p>
            <a:pPr indent="0" marL="0">
              <a:buNone/>
            </a:pPr>
            <a:r>
              <a:rPr lang="en-US" sz="1900" i="1" dirty="0">
                <a:solidFill>
                  <a:srgbClr val="2DD4BF"/>
                </a:solidFill>
                <a:latin typeface="Calibri" pitchFamily="34" charset="0"/>
                <a:ea typeface="Calibri" pitchFamily="34" charset="-122"/>
                <a:cs typeface="Calibri" pitchFamily="34" charset="-120"/>
              </a:rPr>
              <a:t>Một chạm để biết bố mẹ vẫn ổn.</a:t>
            </a:r>
            <a:endParaRPr lang="en-US" sz="1900" dirty="0"/>
          </a:p>
        </p:txBody>
      </p:sp>
      <p:sp>
        <p:nvSpPr>
          <p:cNvPr id="10" name="Shape 7"/>
          <p:cNvSpPr/>
          <p:nvPr/>
        </p:nvSpPr>
        <p:spPr>
          <a:xfrm>
            <a:off x="822960" y="4343400"/>
            <a:ext cx="859536" cy="475488"/>
          </a:xfrm>
          <a:prstGeom prst="roundRect">
            <a:avLst>
              <a:gd name="adj" fmla="val 50000"/>
            </a:avLst>
          </a:prstGeom>
          <a:solidFill>
            <a:srgbClr val="0F766E"/>
          </a:solidFill>
          <a:ln/>
        </p:spPr>
      </p:sp>
      <p:sp>
        <p:nvSpPr>
          <p:cNvPr id="11" name="Text 8"/>
          <p:cNvSpPr/>
          <p:nvPr/>
        </p:nvSpPr>
        <p:spPr>
          <a:xfrm>
            <a:off x="822960" y="4343400"/>
            <a:ext cx="859536"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Tân</a:t>
            </a:r>
            <a:endParaRPr lang="en-US" sz="1300" dirty="0"/>
          </a:p>
        </p:txBody>
      </p:sp>
      <p:sp>
        <p:nvSpPr>
          <p:cNvPr id="12" name="Shape 9"/>
          <p:cNvSpPr/>
          <p:nvPr/>
        </p:nvSpPr>
        <p:spPr>
          <a:xfrm>
            <a:off x="1883664" y="4343400"/>
            <a:ext cx="978408" cy="475488"/>
          </a:xfrm>
          <a:prstGeom prst="roundRect">
            <a:avLst>
              <a:gd name="adj" fmla="val 50000"/>
            </a:avLst>
          </a:prstGeom>
          <a:solidFill>
            <a:srgbClr val="0F766E"/>
          </a:solidFill>
          <a:ln/>
        </p:spPr>
      </p:sp>
      <p:sp>
        <p:nvSpPr>
          <p:cNvPr id="13" name="Text 10"/>
          <p:cNvSpPr/>
          <p:nvPr/>
        </p:nvSpPr>
        <p:spPr>
          <a:xfrm>
            <a:off x="1883664" y="4343400"/>
            <a:ext cx="97840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Bình</a:t>
            </a:r>
            <a:endParaRPr lang="en-US" sz="1300" dirty="0"/>
          </a:p>
        </p:txBody>
      </p:sp>
      <p:sp>
        <p:nvSpPr>
          <p:cNvPr id="14" name="Shape 11"/>
          <p:cNvSpPr/>
          <p:nvPr/>
        </p:nvSpPr>
        <p:spPr>
          <a:xfrm>
            <a:off x="3063240" y="4343400"/>
            <a:ext cx="978408" cy="475488"/>
          </a:xfrm>
          <a:prstGeom prst="roundRect">
            <a:avLst>
              <a:gd name="adj" fmla="val 50000"/>
            </a:avLst>
          </a:prstGeom>
          <a:solidFill>
            <a:srgbClr val="0F766E"/>
          </a:solidFill>
          <a:ln/>
        </p:spPr>
      </p:sp>
      <p:sp>
        <p:nvSpPr>
          <p:cNvPr id="15" name="Text 12"/>
          <p:cNvSpPr/>
          <p:nvPr/>
        </p:nvSpPr>
        <p:spPr>
          <a:xfrm>
            <a:off x="3063240" y="4343400"/>
            <a:ext cx="97840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Liên</a:t>
            </a:r>
            <a:endParaRPr lang="en-US" sz="1300" dirty="0"/>
          </a:p>
        </p:txBody>
      </p:sp>
      <p:sp>
        <p:nvSpPr>
          <p:cNvPr id="16" name="Shape 13"/>
          <p:cNvSpPr/>
          <p:nvPr/>
        </p:nvSpPr>
        <p:spPr>
          <a:xfrm>
            <a:off x="4242816" y="4343400"/>
            <a:ext cx="978408" cy="475488"/>
          </a:xfrm>
          <a:prstGeom prst="roundRect">
            <a:avLst>
              <a:gd name="adj" fmla="val 50000"/>
            </a:avLst>
          </a:prstGeom>
          <a:solidFill>
            <a:srgbClr val="0F766E"/>
          </a:solidFill>
          <a:ln/>
        </p:spPr>
      </p:sp>
      <p:sp>
        <p:nvSpPr>
          <p:cNvPr id="17" name="Text 14"/>
          <p:cNvSpPr/>
          <p:nvPr/>
        </p:nvSpPr>
        <p:spPr>
          <a:xfrm>
            <a:off x="4242816" y="4343400"/>
            <a:ext cx="97840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Hiếu</a:t>
            </a:r>
            <a:endParaRPr lang="en-US" sz="1300" dirty="0"/>
          </a:p>
        </p:txBody>
      </p:sp>
      <p:sp>
        <p:nvSpPr>
          <p:cNvPr id="18" name="Shape 15"/>
          <p:cNvSpPr/>
          <p:nvPr/>
        </p:nvSpPr>
        <p:spPr>
          <a:xfrm>
            <a:off x="5422392" y="4343400"/>
            <a:ext cx="859536" cy="475488"/>
          </a:xfrm>
          <a:prstGeom prst="roundRect">
            <a:avLst>
              <a:gd name="adj" fmla="val 50000"/>
            </a:avLst>
          </a:prstGeom>
          <a:solidFill>
            <a:srgbClr val="0F766E"/>
          </a:solidFill>
          <a:ln/>
        </p:spPr>
      </p:sp>
      <p:sp>
        <p:nvSpPr>
          <p:cNvPr id="19" name="Text 16"/>
          <p:cNvSpPr/>
          <p:nvPr/>
        </p:nvSpPr>
        <p:spPr>
          <a:xfrm>
            <a:off x="5422392" y="4343400"/>
            <a:ext cx="859536"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Nhi</a:t>
            </a:r>
            <a:endParaRPr lang="en-US" sz="1300" dirty="0"/>
          </a:p>
        </p:txBody>
      </p:sp>
      <p:sp>
        <p:nvSpPr>
          <p:cNvPr id="20" name="Shape 17"/>
          <p:cNvSpPr/>
          <p:nvPr/>
        </p:nvSpPr>
        <p:spPr>
          <a:xfrm>
            <a:off x="6483096" y="4343400"/>
            <a:ext cx="859536" cy="475488"/>
          </a:xfrm>
          <a:prstGeom prst="roundRect">
            <a:avLst>
              <a:gd name="adj" fmla="val 50000"/>
            </a:avLst>
          </a:prstGeom>
          <a:solidFill>
            <a:srgbClr val="0F766E"/>
          </a:solidFill>
          <a:ln/>
        </p:spPr>
      </p:sp>
      <p:sp>
        <p:nvSpPr>
          <p:cNvPr id="21" name="Text 18"/>
          <p:cNvSpPr/>
          <p:nvPr/>
        </p:nvSpPr>
        <p:spPr>
          <a:xfrm>
            <a:off x="6483096" y="4343400"/>
            <a:ext cx="859536"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Duy</a:t>
            </a:r>
            <a:endParaRPr lang="en-US" sz="1300" dirty="0"/>
          </a:p>
        </p:txBody>
      </p:sp>
      <p:sp>
        <p:nvSpPr>
          <p:cNvPr id="22" name="Shape 19"/>
          <p:cNvSpPr/>
          <p:nvPr/>
        </p:nvSpPr>
        <p:spPr>
          <a:xfrm>
            <a:off x="822960" y="5212080"/>
            <a:ext cx="45720" cy="1097280"/>
          </a:xfrm>
          <a:prstGeom prst="rect">
            <a:avLst/>
          </a:prstGeom>
          <a:solidFill>
            <a:srgbClr val="FB7185"/>
          </a:solidFill>
          <a:ln/>
        </p:spPr>
      </p:sp>
      <p:sp>
        <p:nvSpPr>
          <p:cNvPr id="23" name="Text 20"/>
          <p:cNvSpPr/>
          <p:nvPr/>
        </p:nvSpPr>
        <p:spPr>
          <a:xfrm>
            <a:off x="987552" y="5175504"/>
            <a:ext cx="9601200" cy="114300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ETR601 — Khởi nghiệp &amp; Đổi mới sáng tạo trong Kỷ nguyên AI</a:t>
            </a:r>
            <a:endParaRPr lang="en-US" sz="1300" dirty="0"/>
          </a:p>
          <a:p>
            <a:pPr indent="0" marL="0">
              <a:lnSpc>
                <a:spcPct val="115000"/>
              </a:lnSpc>
              <a:buNone/>
            </a:pPr>
            <a:r>
              <a:rPr lang="en-US" sz="1150" dirty="0">
                <a:solidFill>
                  <a:srgbClr val="2DD4BF"/>
                </a:solidFill>
                <a:latin typeface="Calibri" pitchFamily="34" charset="0"/>
                <a:ea typeface="Calibri" pitchFamily="34" charset="-122"/>
                <a:cs typeface="Calibri" pitchFamily="34" charset="-120"/>
              </a:rPr>
              <a:t>FPT School of Business · Lớp SEM40HN · Nhóm 6 thành viên</a:t>
            </a:r>
            <a:endParaRPr lang="en-US" sz="1300" dirty="0"/>
          </a:p>
          <a:p>
            <a:pPr indent="0" marL="0">
              <a:lnSpc>
                <a:spcPct val="115000"/>
              </a:lnSpc>
              <a:buNone/>
            </a:pPr>
            <a:r>
              <a:rPr lang="en-US" sz="1150" dirty="0">
                <a:solidFill>
                  <a:srgbClr val="2DD4BF"/>
                </a:solidFill>
                <a:latin typeface="Calibri" pitchFamily="34" charset="0"/>
                <a:ea typeface="Calibri" pitchFamily="34" charset="-122"/>
                <a:cs typeface="Calibri" pitchFamily="34" charset="-120"/>
              </a:rPr>
              <a:t>Tân · Bình · Liên · Hiếu · Nhi · Duy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TÂN · VẤN ĐỀ &amp; CƠ HỘI</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Việt Nam già hóa — chăm sóc đang quá tải</a:t>
            </a:r>
            <a:endParaRPr lang="en-US" sz="3000" dirty="0"/>
          </a:p>
        </p:txBody>
      </p:sp>
      <p:sp>
        <p:nvSpPr>
          <p:cNvPr id="5" name="Shape 3"/>
          <p:cNvSpPr/>
          <p:nvPr/>
        </p:nvSpPr>
        <p:spPr>
          <a:xfrm>
            <a:off x="640080" y="1737360"/>
            <a:ext cx="2679192"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37360"/>
            <a:ext cx="2679192" cy="64008"/>
          </a:xfrm>
          <a:prstGeom prst="rect">
            <a:avLst/>
          </a:prstGeom>
          <a:solidFill>
            <a:srgbClr val="0D9488"/>
          </a:solidFill>
          <a:ln/>
        </p:spPr>
      </p:sp>
      <p:sp>
        <p:nvSpPr>
          <p:cNvPr id="7" name="Text 5"/>
          <p:cNvSpPr/>
          <p:nvPr/>
        </p:nvSpPr>
        <p:spPr>
          <a:xfrm>
            <a:off x="731520" y="1901952"/>
            <a:ext cx="2496312" cy="777240"/>
          </a:xfrm>
          <a:prstGeom prst="rect">
            <a:avLst/>
          </a:prstGeom>
          <a:noFill/>
          <a:ln/>
        </p:spPr>
        <p:txBody>
          <a:bodyPr wrap="square" lIns="0" tIns="0" rIns="0" bIns="0" rtlCol="0" anchor="ctr"/>
          <a:lstStyle/>
          <a:p>
            <a:pPr algn="ctr" indent="0" marL="0">
              <a:buNone/>
            </a:pPr>
            <a:r>
              <a:rPr lang="en-US" sz="2600" b="1" dirty="0">
                <a:solidFill>
                  <a:srgbClr val="0D9488"/>
                </a:solidFill>
                <a:latin typeface="Trebuchet MS" pitchFamily="34" charset="0"/>
                <a:ea typeface="Trebuchet MS" pitchFamily="34" charset="-122"/>
                <a:cs typeface="Trebuchet MS" pitchFamily="34" charset="-120"/>
              </a:rPr>
              <a:t>14,2 triệu</a:t>
            </a:r>
            <a:endParaRPr lang="en-US" sz="2600" dirty="0"/>
          </a:p>
        </p:txBody>
      </p:sp>
      <p:sp>
        <p:nvSpPr>
          <p:cNvPr id="8" name="Text 6"/>
          <p:cNvSpPr/>
          <p:nvPr/>
        </p:nvSpPr>
        <p:spPr>
          <a:xfrm>
            <a:off x="749808" y="2607869"/>
            <a:ext cx="2459736"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người ≥60 tuổi (nay)</a:t>
            </a:r>
            <a:endParaRPr lang="en-US" sz="1100" dirty="0"/>
          </a:p>
        </p:txBody>
      </p:sp>
      <p:sp>
        <p:nvSpPr>
          <p:cNvPr id="9" name="Shape 7"/>
          <p:cNvSpPr/>
          <p:nvPr/>
        </p:nvSpPr>
        <p:spPr>
          <a:xfrm>
            <a:off x="3456432" y="1737360"/>
            <a:ext cx="2679192"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10" name="Shape 8"/>
          <p:cNvSpPr/>
          <p:nvPr/>
        </p:nvSpPr>
        <p:spPr>
          <a:xfrm>
            <a:off x="3456432" y="1737360"/>
            <a:ext cx="2679192" cy="64008"/>
          </a:xfrm>
          <a:prstGeom prst="rect">
            <a:avLst/>
          </a:prstGeom>
          <a:solidFill>
            <a:srgbClr val="0F766E"/>
          </a:solidFill>
          <a:ln/>
        </p:spPr>
      </p:sp>
      <p:sp>
        <p:nvSpPr>
          <p:cNvPr id="11" name="Text 9"/>
          <p:cNvSpPr/>
          <p:nvPr/>
        </p:nvSpPr>
        <p:spPr>
          <a:xfrm>
            <a:off x="3547872" y="1901952"/>
            <a:ext cx="2496312" cy="777240"/>
          </a:xfrm>
          <a:prstGeom prst="rect">
            <a:avLst/>
          </a:prstGeom>
          <a:noFill/>
          <a:ln/>
        </p:spPr>
        <p:txBody>
          <a:bodyPr wrap="square" lIns="0" tIns="0" rIns="0" bIns="0" rtlCol="0" anchor="ctr"/>
          <a:lstStyle/>
          <a:p>
            <a:pPr algn="ctr" indent="0" marL="0">
              <a:buNone/>
            </a:pPr>
            <a:r>
              <a:rPr lang="en-US" sz="2600" b="1" dirty="0">
                <a:solidFill>
                  <a:srgbClr val="0F766E"/>
                </a:solidFill>
                <a:latin typeface="Trebuchet MS" pitchFamily="34" charset="0"/>
                <a:ea typeface="Trebuchet MS" pitchFamily="34" charset="-122"/>
                <a:cs typeface="Trebuchet MS" pitchFamily="34" charset="-120"/>
              </a:rPr>
              <a:t>20,9 triệu</a:t>
            </a:r>
            <a:endParaRPr lang="en-US" sz="2600" dirty="0"/>
          </a:p>
        </p:txBody>
      </p:sp>
      <p:sp>
        <p:nvSpPr>
          <p:cNvPr id="12" name="Text 10"/>
          <p:cNvSpPr/>
          <p:nvPr/>
        </p:nvSpPr>
        <p:spPr>
          <a:xfrm>
            <a:off x="3566160" y="2607869"/>
            <a:ext cx="2459736"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dự báo ≥60 (tương lai)</a:t>
            </a:r>
            <a:endParaRPr lang="en-US" sz="1100" dirty="0"/>
          </a:p>
        </p:txBody>
      </p:sp>
      <p:sp>
        <p:nvSpPr>
          <p:cNvPr id="13" name="Shape 11"/>
          <p:cNvSpPr/>
          <p:nvPr/>
        </p:nvSpPr>
        <p:spPr>
          <a:xfrm>
            <a:off x="6272784" y="1737360"/>
            <a:ext cx="2679192"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6272784" y="1737360"/>
            <a:ext cx="2679192" cy="64008"/>
          </a:xfrm>
          <a:prstGeom prst="rect">
            <a:avLst/>
          </a:prstGeom>
          <a:solidFill>
            <a:srgbClr val="FB7185"/>
          </a:solidFill>
          <a:ln/>
        </p:spPr>
      </p:sp>
      <p:sp>
        <p:nvSpPr>
          <p:cNvPr id="15" name="Text 13"/>
          <p:cNvSpPr/>
          <p:nvPr/>
        </p:nvSpPr>
        <p:spPr>
          <a:xfrm>
            <a:off x="6364224" y="1901952"/>
            <a:ext cx="2496312" cy="777240"/>
          </a:xfrm>
          <a:prstGeom prst="rect">
            <a:avLst/>
          </a:prstGeom>
          <a:noFill/>
          <a:ln/>
        </p:spPr>
        <p:txBody>
          <a:bodyPr wrap="square" lIns="0" tIns="0" rIns="0" bIns="0" rtlCol="0" anchor="ctr"/>
          <a:lstStyle/>
          <a:p>
            <a:pPr algn="ctr" indent="0" marL="0">
              <a:buNone/>
            </a:pPr>
            <a:r>
              <a:rPr lang="en-US" sz="2600" b="1" dirty="0">
                <a:solidFill>
                  <a:srgbClr val="FB7185"/>
                </a:solidFill>
                <a:latin typeface="Trebuchet MS" pitchFamily="34" charset="0"/>
                <a:ea typeface="Trebuchet MS" pitchFamily="34" charset="-122"/>
                <a:cs typeface="Trebuchet MS" pitchFamily="34" charset="-120"/>
              </a:rPr>
              <a:t>&gt;25%</a:t>
            </a:r>
            <a:endParaRPr lang="en-US" sz="2600" dirty="0"/>
          </a:p>
        </p:txBody>
      </p:sp>
      <p:sp>
        <p:nvSpPr>
          <p:cNvPr id="16" name="Text 14"/>
          <p:cNvSpPr/>
          <p:nvPr/>
        </p:nvSpPr>
        <p:spPr>
          <a:xfrm>
            <a:off x="6382512" y="2607869"/>
            <a:ext cx="2459736"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dân số ≥60 vào 2050</a:t>
            </a:r>
            <a:endParaRPr lang="en-US" sz="1100" dirty="0"/>
          </a:p>
        </p:txBody>
      </p:sp>
      <p:sp>
        <p:nvSpPr>
          <p:cNvPr id="17" name="Shape 15"/>
          <p:cNvSpPr/>
          <p:nvPr/>
        </p:nvSpPr>
        <p:spPr>
          <a:xfrm>
            <a:off x="9089136" y="1737360"/>
            <a:ext cx="2459736"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18" name="Shape 16"/>
          <p:cNvSpPr/>
          <p:nvPr/>
        </p:nvSpPr>
        <p:spPr>
          <a:xfrm>
            <a:off x="9089136" y="1737360"/>
            <a:ext cx="2459736" cy="64008"/>
          </a:xfrm>
          <a:prstGeom prst="rect">
            <a:avLst/>
          </a:prstGeom>
          <a:solidFill>
            <a:srgbClr val="F5A623"/>
          </a:solidFill>
          <a:ln/>
        </p:spPr>
      </p:sp>
      <p:sp>
        <p:nvSpPr>
          <p:cNvPr id="19" name="Text 17"/>
          <p:cNvSpPr/>
          <p:nvPr/>
        </p:nvSpPr>
        <p:spPr>
          <a:xfrm>
            <a:off x="9180576" y="1901952"/>
            <a:ext cx="2276856" cy="777240"/>
          </a:xfrm>
          <a:prstGeom prst="rect">
            <a:avLst/>
          </a:prstGeom>
          <a:noFill/>
          <a:ln/>
        </p:spPr>
        <p:txBody>
          <a:bodyPr wrap="square" lIns="0" tIns="0" rIns="0" bIns="0" rtlCol="0" anchor="ctr"/>
          <a:lstStyle/>
          <a:p>
            <a:pPr algn="ctr" indent="0" marL="0">
              <a:buNone/>
            </a:pPr>
            <a:r>
              <a:rPr lang="en-US" sz="2600" b="1" dirty="0">
                <a:solidFill>
                  <a:srgbClr val="F5A623"/>
                </a:solidFill>
                <a:latin typeface="Trebuchet MS" pitchFamily="34" charset="0"/>
                <a:ea typeface="Trebuchet MS" pitchFamily="34" charset="-122"/>
                <a:cs typeface="Trebuchet MS" pitchFamily="34" charset="-120"/>
              </a:rPr>
              <a:t>~33,8 tỷ$</a:t>
            </a:r>
            <a:endParaRPr lang="en-US" sz="2600" dirty="0"/>
          </a:p>
        </p:txBody>
      </p:sp>
      <p:sp>
        <p:nvSpPr>
          <p:cNvPr id="20" name="Text 18"/>
          <p:cNvSpPr/>
          <p:nvPr/>
        </p:nvSpPr>
        <p:spPr>
          <a:xfrm>
            <a:off x="9198864" y="2607869"/>
            <a:ext cx="2240280"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chi y tế VN 2030</a:t>
            </a:r>
            <a:endParaRPr lang="en-US" sz="1100" dirty="0"/>
          </a:p>
        </p:txBody>
      </p:sp>
      <p:sp>
        <p:nvSpPr>
          <p:cNvPr id="21" name="Shape 19"/>
          <p:cNvSpPr/>
          <p:nvPr/>
        </p:nvSpPr>
        <p:spPr>
          <a:xfrm>
            <a:off x="640080" y="3611880"/>
            <a:ext cx="2679192" cy="2514600"/>
          </a:xfrm>
          <a:prstGeom prst="roundRect">
            <a:avLst>
              <a:gd name="adj" fmla="val 2909"/>
            </a:avLst>
          </a:prstGeom>
          <a:solidFill>
            <a:srgbClr val="FFFFFF"/>
          </a:solidFill>
          <a:ln/>
          <a:effectLst>
            <a:outerShdw sx="100000" sy="100000" kx="0" ky="0" algn="bl" rotWithShape="0" blurRad="63500" dist="25400" dir="5400000">
              <a:srgbClr val="0F172A">
                <a:alpha val="10000"/>
              </a:srgbClr>
            </a:outerShdw>
          </a:effectLst>
        </p:spPr>
      </p:sp>
      <p:sp>
        <p:nvSpPr>
          <p:cNvPr id="22" name="Shape 20"/>
          <p:cNvSpPr/>
          <p:nvPr/>
        </p:nvSpPr>
        <p:spPr>
          <a:xfrm>
            <a:off x="1613916" y="3904488"/>
            <a:ext cx="731520" cy="731520"/>
          </a:xfrm>
          <a:prstGeom prst="ellipse">
            <a:avLst/>
          </a:prstGeom>
          <a:solidFill>
            <a:srgbClr val="FB7185"/>
          </a:solidFill>
          <a:ln/>
        </p:spPr>
      </p:sp>
      <p:pic>
        <p:nvPicPr>
          <p:cNvPr id="23" name="Image 0" descr="preencoded.png">    </p:cNvPr>
          <p:cNvPicPr>
            <a:picLocks noChangeAspect="1"/>
          </p:cNvPicPr>
          <p:nvPr/>
        </p:nvPicPr>
        <p:blipFill>
          <a:blip r:embed="rId1"/>
          <a:stretch>
            <a:fillRect/>
          </a:stretch>
        </p:blipFill>
        <p:spPr>
          <a:xfrm>
            <a:off x="1796796" y="4087368"/>
            <a:ext cx="365760" cy="365760"/>
          </a:xfrm>
          <a:prstGeom prst="rect">
            <a:avLst/>
          </a:prstGeom>
        </p:spPr>
      </p:pic>
      <p:sp>
        <p:nvSpPr>
          <p:cNvPr id="24" name="Text 21"/>
          <p:cNvSpPr/>
          <p:nvPr/>
        </p:nvSpPr>
        <p:spPr>
          <a:xfrm>
            <a:off x="749808" y="4754880"/>
            <a:ext cx="2459736" cy="50292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Thế hệ “sandwich”</a:t>
            </a:r>
            <a:endParaRPr lang="en-US" sz="1350" dirty="0"/>
          </a:p>
        </p:txBody>
      </p:sp>
      <p:sp>
        <p:nvSpPr>
          <p:cNvPr id="25" name="Text 22"/>
          <p:cNvSpPr/>
          <p:nvPr/>
        </p:nvSpPr>
        <p:spPr>
          <a:xfrm>
            <a:off x="804672" y="5239512"/>
            <a:ext cx="2350008" cy="822960"/>
          </a:xfrm>
          <a:prstGeom prst="rect">
            <a:avLst/>
          </a:prstGeom>
          <a:noFill/>
          <a:ln/>
        </p:spPr>
        <p:txBody>
          <a:bodyPr wrap="square" lIns="0" tIns="0" rIns="0" bIns="0" rtlCol="0" anchor="t"/>
          <a:lstStyle/>
          <a:p>
            <a:pPr algn="ctr" indent="0" marL="0">
              <a:lnSpc>
                <a:spcPct val="102000"/>
              </a:lnSpc>
              <a:buNone/>
            </a:pPr>
            <a:r>
              <a:rPr lang="en-US" sz="1050" dirty="0">
                <a:solidFill>
                  <a:srgbClr val="64748B"/>
                </a:solidFill>
                <a:latin typeface="Calibri" pitchFamily="34" charset="0"/>
                <a:ea typeface="Calibri" pitchFamily="34" charset="-122"/>
                <a:cs typeface="Calibri" pitchFamily="34" charset="-120"/>
              </a:rPr>
              <a:t>Con cái 30–50t bận việc, sống xa bố mẹ — áy náy không chăm được.</a:t>
            </a:r>
            <a:endParaRPr lang="en-US" sz="1050" dirty="0"/>
          </a:p>
        </p:txBody>
      </p:sp>
      <p:sp>
        <p:nvSpPr>
          <p:cNvPr id="26" name="Shape 23"/>
          <p:cNvSpPr/>
          <p:nvPr/>
        </p:nvSpPr>
        <p:spPr>
          <a:xfrm>
            <a:off x="3483864" y="3611880"/>
            <a:ext cx="2679192" cy="2514600"/>
          </a:xfrm>
          <a:prstGeom prst="roundRect">
            <a:avLst>
              <a:gd name="adj" fmla="val 2909"/>
            </a:avLst>
          </a:prstGeom>
          <a:solidFill>
            <a:srgbClr val="FFFFFF"/>
          </a:solidFill>
          <a:ln/>
          <a:effectLst>
            <a:outerShdw sx="100000" sy="100000" kx="0" ky="0" algn="bl" rotWithShape="0" blurRad="63500" dist="25400" dir="5400000">
              <a:srgbClr val="0F172A">
                <a:alpha val="10000"/>
              </a:srgbClr>
            </a:outerShdw>
          </a:effectLst>
        </p:spPr>
      </p:sp>
      <p:sp>
        <p:nvSpPr>
          <p:cNvPr id="27" name="Shape 24"/>
          <p:cNvSpPr/>
          <p:nvPr/>
        </p:nvSpPr>
        <p:spPr>
          <a:xfrm>
            <a:off x="4457700" y="3904488"/>
            <a:ext cx="731520" cy="731520"/>
          </a:xfrm>
          <a:prstGeom prst="ellipse">
            <a:avLst/>
          </a:prstGeom>
          <a:solidFill>
            <a:srgbClr val="FB7185"/>
          </a:solidFill>
          <a:ln/>
        </p:spPr>
      </p:sp>
      <p:pic>
        <p:nvPicPr>
          <p:cNvPr id="28" name="Image 1" descr="preencoded.png">    </p:cNvPr>
          <p:cNvPicPr>
            <a:picLocks noChangeAspect="1"/>
          </p:cNvPicPr>
          <p:nvPr/>
        </p:nvPicPr>
        <p:blipFill>
          <a:blip r:embed="rId2"/>
          <a:stretch>
            <a:fillRect/>
          </a:stretch>
        </p:blipFill>
        <p:spPr>
          <a:xfrm>
            <a:off x="4640580" y="4087368"/>
            <a:ext cx="365760" cy="365760"/>
          </a:xfrm>
          <a:prstGeom prst="rect">
            <a:avLst/>
          </a:prstGeom>
        </p:spPr>
      </p:pic>
      <p:sp>
        <p:nvSpPr>
          <p:cNvPr id="29" name="Text 25"/>
          <p:cNvSpPr/>
          <p:nvPr/>
        </p:nvSpPr>
        <p:spPr>
          <a:xfrm>
            <a:off x="3593592" y="4754880"/>
            <a:ext cx="2459736" cy="50292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Chăm sóc phân mảnh</a:t>
            </a:r>
            <a:endParaRPr lang="en-US" sz="1350" dirty="0"/>
          </a:p>
        </p:txBody>
      </p:sp>
      <p:sp>
        <p:nvSpPr>
          <p:cNvPr id="30" name="Text 26"/>
          <p:cNvSpPr/>
          <p:nvPr/>
        </p:nvSpPr>
        <p:spPr>
          <a:xfrm>
            <a:off x="3648456" y="5239512"/>
            <a:ext cx="2350008" cy="822960"/>
          </a:xfrm>
          <a:prstGeom prst="rect">
            <a:avLst/>
          </a:prstGeom>
          <a:noFill/>
          <a:ln/>
        </p:spPr>
        <p:txBody>
          <a:bodyPr wrap="square" lIns="0" tIns="0" rIns="0" bIns="0" rtlCol="0" anchor="t"/>
          <a:lstStyle/>
          <a:p>
            <a:pPr algn="ctr" indent="0" marL="0">
              <a:lnSpc>
                <a:spcPct val="102000"/>
              </a:lnSpc>
              <a:buNone/>
            </a:pPr>
            <a:r>
              <a:rPr lang="en-US" sz="1050" dirty="0">
                <a:solidFill>
                  <a:srgbClr val="64748B"/>
                </a:solidFill>
                <a:latin typeface="Calibri" pitchFamily="34" charset="0"/>
                <a:ea typeface="Calibri" pitchFamily="34" charset="-122"/>
                <a:cs typeface="Calibri" pitchFamily="34" charset="-120"/>
              </a:rPr>
              <a:t>Đặt khám, thuê điều dưỡng, mua thuốc… mỗi việc một nơi rời rạc.</a:t>
            </a:r>
            <a:endParaRPr lang="en-US" sz="1050" dirty="0"/>
          </a:p>
        </p:txBody>
      </p:sp>
      <p:sp>
        <p:nvSpPr>
          <p:cNvPr id="31" name="Shape 27"/>
          <p:cNvSpPr/>
          <p:nvPr/>
        </p:nvSpPr>
        <p:spPr>
          <a:xfrm>
            <a:off x="6327648" y="3611880"/>
            <a:ext cx="2679192" cy="2514600"/>
          </a:xfrm>
          <a:prstGeom prst="roundRect">
            <a:avLst>
              <a:gd name="adj" fmla="val 2909"/>
            </a:avLst>
          </a:prstGeom>
          <a:solidFill>
            <a:srgbClr val="FFFFFF"/>
          </a:solidFill>
          <a:ln/>
          <a:effectLst>
            <a:outerShdw sx="100000" sy="100000" kx="0" ky="0" algn="bl" rotWithShape="0" blurRad="63500" dist="25400" dir="5400000">
              <a:srgbClr val="0F172A">
                <a:alpha val="10000"/>
              </a:srgbClr>
            </a:outerShdw>
          </a:effectLst>
        </p:spPr>
      </p:sp>
      <p:sp>
        <p:nvSpPr>
          <p:cNvPr id="32" name="Shape 28"/>
          <p:cNvSpPr/>
          <p:nvPr/>
        </p:nvSpPr>
        <p:spPr>
          <a:xfrm>
            <a:off x="7301484" y="3904488"/>
            <a:ext cx="731520" cy="731520"/>
          </a:xfrm>
          <a:prstGeom prst="ellipse">
            <a:avLst/>
          </a:prstGeom>
          <a:solidFill>
            <a:srgbClr val="FB7185"/>
          </a:solidFill>
          <a:ln/>
        </p:spPr>
      </p:sp>
      <p:pic>
        <p:nvPicPr>
          <p:cNvPr id="33" name="Image 2" descr="preencoded.png">    </p:cNvPr>
          <p:cNvPicPr>
            <a:picLocks noChangeAspect="1"/>
          </p:cNvPicPr>
          <p:nvPr/>
        </p:nvPicPr>
        <p:blipFill>
          <a:blip r:embed="rId3"/>
          <a:stretch>
            <a:fillRect/>
          </a:stretch>
        </p:blipFill>
        <p:spPr>
          <a:xfrm>
            <a:off x="7484364" y="4087368"/>
            <a:ext cx="365760" cy="365760"/>
          </a:xfrm>
          <a:prstGeom prst="rect">
            <a:avLst/>
          </a:prstGeom>
        </p:spPr>
      </p:pic>
      <p:sp>
        <p:nvSpPr>
          <p:cNvPr id="34" name="Text 29"/>
          <p:cNvSpPr/>
          <p:nvPr/>
        </p:nvSpPr>
        <p:spPr>
          <a:xfrm>
            <a:off x="6437376" y="4754880"/>
            <a:ext cx="2459736" cy="50292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Nỗi sợ té ngã / sự cố</a:t>
            </a:r>
            <a:endParaRPr lang="en-US" sz="1350" dirty="0"/>
          </a:p>
        </p:txBody>
      </p:sp>
      <p:sp>
        <p:nvSpPr>
          <p:cNvPr id="35" name="Text 30"/>
          <p:cNvSpPr/>
          <p:nvPr/>
        </p:nvSpPr>
        <p:spPr>
          <a:xfrm>
            <a:off x="6492240" y="5239512"/>
            <a:ext cx="2350008" cy="822960"/>
          </a:xfrm>
          <a:prstGeom prst="rect">
            <a:avLst/>
          </a:prstGeom>
          <a:noFill/>
          <a:ln/>
        </p:spPr>
        <p:txBody>
          <a:bodyPr wrap="square" lIns="0" tIns="0" rIns="0" bIns="0" rtlCol="0" anchor="t"/>
          <a:lstStyle/>
          <a:p>
            <a:pPr algn="ctr" indent="0" marL="0">
              <a:lnSpc>
                <a:spcPct val="102000"/>
              </a:lnSpc>
              <a:buNone/>
            </a:pPr>
            <a:r>
              <a:rPr lang="en-US" sz="1050" dirty="0">
                <a:solidFill>
                  <a:srgbClr val="64748B"/>
                </a:solidFill>
                <a:latin typeface="Calibri" pitchFamily="34" charset="0"/>
                <a:ea typeface="Calibri" pitchFamily="34" charset="-122"/>
                <a:cs typeface="Calibri" pitchFamily="34" charset="-120"/>
              </a:rPr>
              <a:t>Té ngã ban đêm không ai biết kịp — “phút vàng” trôi qua.</a:t>
            </a:r>
            <a:endParaRPr lang="en-US" sz="1050" dirty="0"/>
          </a:p>
        </p:txBody>
      </p:sp>
      <p:sp>
        <p:nvSpPr>
          <p:cNvPr id="36" name="Shape 31"/>
          <p:cNvSpPr/>
          <p:nvPr/>
        </p:nvSpPr>
        <p:spPr>
          <a:xfrm>
            <a:off x="9171432" y="3611880"/>
            <a:ext cx="2679192" cy="2514600"/>
          </a:xfrm>
          <a:prstGeom prst="roundRect">
            <a:avLst>
              <a:gd name="adj" fmla="val 2909"/>
            </a:avLst>
          </a:prstGeom>
          <a:solidFill>
            <a:srgbClr val="FFFFFF"/>
          </a:solidFill>
          <a:ln/>
          <a:effectLst>
            <a:outerShdw sx="100000" sy="100000" kx="0" ky="0" algn="bl" rotWithShape="0" blurRad="63500" dist="25400" dir="5400000">
              <a:srgbClr val="0F172A">
                <a:alpha val="10000"/>
              </a:srgbClr>
            </a:outerShdw>
          </a:effectLst>
        </p:spPr>
      </p:sp>
      <p:sp>
        <p:nvSpPr>
          <p:cNvPr id="37" name="Shape 32"/>
          <p:cNvSpPr/>
          <p:nvPr/>
        </p:nvSpPr>
        <p:spPr>
          <a:xfrm>
            <a:off x="10145268" y="3904488"/>
            <a:ext cx="731520" cy="731520"/>
          </a:xfrm>
          <a:prstGeom prst="ellipse">
            <a:avLst/>
          </a:prstGeom>
          <a:solidFill>
            <a:srgbClr val="FB7185"/>
          </a:solidFill>
          <a:ln/>
        </p:spPr>
      </p:sp>
      <p:pic>
        <p:nvPicPr>
          <p:cNvPr id="38" name="Image 3" descr="preencoded.png">    </p:cNvPr>
          <p:cNvPicPr>
            <a:picLocks noChangeAspect="1"/>
          </p:cNvPicPr>
          <p:nvPr/>
        </p:nvPicPr>
        <p:blipFill>
          <a:blip r:embed="rId4"/>
          <a:stretch>
            <a:fillRect/>
          </a:stretch>
        </p:blipFill>
        <p:spPr>
          <a:xfrm>
            <a:off x="10328148" y="4087368"/>
            <a:ext cx="365760" cy="365760"/>
          </a:xfrm>
          <a:prstGeom prst="rect">
            <a:avLst/>
          </a:prstGeom>
        </p:spPr>
      </p:pic>
      <p:sp>
        <p:nvSpPr>
          <p:cNvPr id="39" name="Text 33"/>
          <p:cNvSpPr/>
          <p:nvPr/>
        </p:nvSpPr>
        <p:spPr>
          <a:xfrm>
            <a:off x="9281160" y="4754880"/>
            <a:ext cx="2459736" cy="50292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BV quá tải, thiếu ĐD</a:t>
            </a:r>
            <a:endParaRPr lang="en-US" sz="1350" dirty="0"/>
          </a:p>
        </p:txBody>
      </p:sp>
      <p:sp>
        <p:nvSpPr>
          <p:cNvPr id="40" name="Text 34"/>
          <p:cNvSpPr/>
          <p:nvPr/>
        </p:nvSpPr>
        <p:spPr>
          <a:xfrm>
            <a:off x="9336024" y="5239512"/>
            <a:ext cx="2350008" cy="822960"/>
          </a:xfrm>
          <a:prstGeom prst="rect">
            <a:avLst/>
          </a:prstGeom>
          <a:noFill/>
          <a:ln/>
        </p:spPr>
        <p:txBody>
          <a:bodyPr wrap="square" lIns="0" tIns="0" rIns="0" bIns="0" rtlCol="0" anchor="t"/>
          <a:lstStyle/>
          <a:p>
            <a:pPr algn="ctr" indent="0" marL="0">
              <a:lnSpc>
                <a:spcPct val="102000"/>
              </a:lnSpc>
              <a:buNone/>
            </a:pPr>
            <a:r>
              <a:rPr lang="en-US" sz="1050" dirty="0">
                <a:solidFill>
                  <a:srgbClr val="64748B"/>
                </a:solidFill>
                <a:latin typeface="Calibri" pitchFamily="34" charset="0"/>
                <a:ea typeface="Calibri" pitchFamily="34" charset="-122"/>
                <a:cs typeface="Calibri" pitchFamily="34" charset="-120"/>
              </a:rPr>
              <a:t>Xếp hàng từ sáng sớm; thiếu hàng chục nghìn điều dưỡng.</a:t>
            </a:r>
            <a:endParaRPr lang="en-US" sz="1050" dirty="0"/>
          </a:p>
        </p:txBody>
      </p:sp>
      <p:sp>
        <p:nvSpPr>
          <p:cNvPr id="41" name="Shape 35"/>
          <p:cNvSpPr/>
          <p:nvPr/>
        </p:nvSpPr>
        <p:spPr>
          <a:xfrm>
            <a:off x="0" y="6565392"/>
            <a:ext cx="12191695" cy="292608"/>
          </a:xfrm>
          <a:prstGeom prst="rect">
            <a:avLst/>
          </a:prstGeom>
          <a:solidFill>
            <a:srgbClr val="FFFFFF"/>
          </a:solidFill>
          <a:ln/>
        </p:spPr>
      </p:sp>
      <p:sp>
        <p:nvSpPr>
          <p:cNvPr id="42" name="Shape 36"/>
          <p:cNvSpPr/>
          <p:nvPr/>
        </p:nvSpPr>
        <p:spPr>
          <a:xfrm>
            <a:off x="0" y="6547104"/>
            <a:ext cx="12191695" cy="20117"/>
          </a:xfrm>
          <a:prstGeom prst="rect">
            <a:avLst/>
          </a:prstGeom>
          <a:solidFill>
            <a:srgbClr val="E2E8F0"/>
          </a:solidFill>
          <a:ln/>
        </p:spPr>
      </p:sp>
      <p:sp>
        <p:nvSpPr>
          <p:cNvPr id="43" name="Shape 37"/>
          <p:cNvSpPr/>
          <p:nvPr/>
        </p:nvSpPr>
        <p:spPr>
          <a:xfrm>
            <a:off x="457200" y="6624828"/>
            <a:ext cx="118872" cy="118872"/>
          </a:xfrm>
          <a:prstGeom prst="ellipse">
            <a:avLst/>
          </a:prstGeom>
          <a:solidFill>
            <a:srgbClr val="0D9488"/>
          </a:solidFill>
          <a:ln/>
        </p:spPr>
      </p:sp>
      <p:sp>
        <p:nvSpPr>
          <p:cNvPr id="44" name="Text 38"/>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5" name="Text 39"/>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6" name="Text 40"/>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TÂN · GIẢI PHÁP</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Một super-app — 5 trụ cột chăm sóc</a:t>
            </a:r>
            <a:endParaRPr lang="en-US" sz="3000" dirty="0"/>
          </a:p>
        </p:txBody>
      </p:sp>
      <p:sp>
        <p:nvSpPr>
          <p:cNvPr id="5" name="Shape 3"/>
          <p:cNvSpPr/>
          <p:nvPr/>
        </p:nvSpPr>
        <p:spPr>
          <a:xfrm>
            <a:off x="640080" y="1874520"/>
            <a:ext cx="2103120" cy="31089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874520"/>
            <a:ext cx="2103120" cy="64008"/>
          </a:xfrm>
          <a:prstGeom prst="rect">
            <a:avLst/>
          </a:prstGeom>
          <a:solidFill>
            <a:srgbClr val="0D9488"/>
          </a:solidFill>
          <a:ln/>
        </p:spPr>
      </p:sp>
      <p:sp>
        <p:nvSpPr>
          <p:cNvPr id="7" name="Shape 5"/>
          <p:cNvSpPr/>
          <p:nvPr/>
        </p:nvSpPr>
        <p:spPr>
          <a:xfrm>
            <a:off x="1271016" y="2221992"/>
            <a:ext cx="841248" cy="841248"/>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1481328" y="2432304"/>
            <a:ext cx="420624" cy="420624"/>
          </a:xfrm>
          <a:prstGeom prst="rect">
            <a:avLst/>
          </a:prstGeom>
        </p:spPr>
      </p:pic>
      <p:sp>
        <p:nvSpPr>
          <p:cNvPr id="9" name="Text 6"/>
          <p:cNvSpPr/>
          <p:nvPr/>
        </p:nvSpPr>
        <p:spPr>
          <a:xfrm>
            <a:off x="713232" y="3200400"/>
            <a:ext cx="1956816" cy="54864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CareConnect</a:t>
            </a:r>
            <a:endParaRPr lang="en-US" sz="1350" dirty="0"/>
          </a:p>
        </p:txBody>
      </p:sp>
      <p:sp>
        <p:nvSpPr>
          <p:cNvPr id="10" name="Text 7"/>
          <p:cNvSpPr/>
          <p:nvPr/>
        </p:nvSpPr>
        <p:spPr>
          <a:xfrm>
            <a:off x="768096" y="3721608"/>
            <a:ext cx="1847088" cy="1188720"/>
          </a:xfrm>
          <a:prstGeom prst="rect">
            <a:avLst/>
          </a:prstGeom>
          <a:noFill/>
          <a:ln/>
        </p:spPr>
        <p:txBody>
          <a:bodyPr wrap="square" lIns="0" tIns="0" rIns="0" bIns="0" rtlCol="0" anchor="t"/>
          <a:lstStyle/>
          <a:p>
            <a:pPr algn="ctr" indent="0" marL="0">
              <a:lnSpc>
                <a:spcPct val="104000"/>
              </a:lnSpc>
              <a:buNone/>
            </a:pPr>
            <a:r>
              <a:rPr lang="en-US" sz="1000" dirty="0">
                <a:solidFill>
                  <a:srgbClr val="64748B"/>
                </a:solidFill>
                <a:latin typeface="Calibri" pitchFamily="34" charset="0"/>
                <a:ea typeface="Calibri" pitchFamily="34" charset="-122"/>
                <a:cs typeface="Calibri" pitchFamily="34" charset="-120"/>
              </a:rPr>
              <a:t>Điều dưỡng tại nhà đã xác minh · hoa hồng 20% · biên ~85%.</a:t>
            </a:r>
            <a:endParaRPr lang="en-US" sz="1000" dirty="0"/>
          </a:p>
        </p:txBody>
      </p:sp>
      <p:sp>
        <p:nvSpPr>
          <p:cNvPr id="11" name="Shape 8"/>
          <p:cNvSpPr/>
          <p:nvPr/>
        </p:nvSpPr>
        <p:spPr>
          <a:xfrm>
            <a:off x="2907792" y="1874520"/>
            <a:ext cx="2103120" cy="31089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12" name="Shape 9"/>
          <p:cNvSpPr/>
          <p:nvPr/>
        </p:nvSpPr>
        <p:spPr>
          <a:xfrm>
            <a:off x="2907792" y="1874520"/>
            <a:ext cx="2103120" cy="64008"/>
          </a:xfrm>
          <a:prstGeom prst="rect">
            <a:avLst/>
          </a:prstGeom>
          <a:solidFill>
            <a:srgbClr val="0F766E"/>
          </a:solidFill>
          <a:ln/>
        </p:spPr>
      </p:sp>
      <p:sp>
        <p:nvSpPr>
          <p:cNvPr id="13" name="Shape 10"/>
          <p:cNvSpPr/>
          <p:nvPr/>
        </p:nvSpPr>
        <p:spPr>
          <a:xfrm>
            <a:off x="3538728" y="2221992"/>
            <a:ext cx="841248" cy="841248"/>
          </a:xfrm>
          <a:prstGeom prst="ellipse">
            <a:avLst/>
          </a:prstGeom>
          <a:solidFill>
            <a:srgbClr val="0F766E"/>
          </a:solidFill>
          <a:ln/>
        </p:spPr>
      </p:sp>
      <p:pic>
        <p:nvPicPr>
          <p:cNvPr id="14" name="Image 1" descr="preencoded.png">    </p:cNvPr>
          <p:cNvPicPr>
            <a:picLocks noChangeAspect="1"/>
          </p:cNvPicPr>
          <p:nvPr/>
        </p:nvPicPr>
        <p:blipFill>
          <a:blip r:embed="rId2"/>
          <a:stretch>
            <a:fillRect/>
          </a:stretch>
        </p:blipFill>
        <p:spPr>
          <a:xfrm>
            <a:off x="3749040" y="2432304"/>
            <a:ext cx="420624" cy="420624"/>
          </a:xfrm>
          <a:prstGeom prst="rect">
            <a:avLst/>
          </a:prstGeom>
        </p:spPr>
      </p:pic>
      <p:sp>
        <p:nvSpPr>
          <p:cNvPr id="15" name="Text 11"/>
          <p:cNvSpPr/>
          <p:nvPr/>
        </p:nvSpPr>
        <p:spPr>
          <a:xfrm>
            <a:off x="2980944" y="3200400"/>
            <a:ext cx="1956816" cy="54864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SmartBooking</a:t>
            </a:r>
            <a:endParaRPr lang="en-US" sz="1350" dirty="0"/>
          </a:p>
        </p:txBody>
      </p:sp>
      <p:sp>
        <p:nvSpPr>
          <p:cNvPr id="16" name="Text 12"/>
          <p:cNvSpPr/>
          <p:nvPr/>
        </p:nvSpPr>
        <p:spPr>
          <a:xfrm>
            <a:off x="3035808" y="3721608"/>
            <a:ext cx="1847088" cy="1188720"/>
          </a:xfrm>
          <a:prstGeom prst="rect">
            <a:avLst/>
          </a:prstGeom>
          <a:noFill/>
          <a:ln/>
        </p:spPr>
        <p:txBody>
          <a:bodyPr wrap="square" lIns="0" tIns="0" rIns="0" bIns="0" rtlCol="0" anchor="t"/>
          <a:lstStyle/>
          <a:p>
            <a:pPr algn="ctr" indent="0" marL="0">
              <a:lnSpc>
                <a:spcPct val="104000"/>
              </a:lnSpc>
              <a:buNone/>
            </a:pPr>
            <a:r>
              <a:rPr lang="en-US" sz="1000" dirty="0">
                <a:solidFill>
                  <a:srgbClr val="64748B"/>
                </a:solidFill>
                <a:latin typeface="Calibri" pitchFamily="34" charset="0"/>
                <a:ea typeface="Calibri" pitchFamily="34" charset="-122"/>
                <a:cs typeface="Calibri" pitchFamily="34" charset="-120"/>
              </a:rPr>
              <a:t>Đặt lịch &amp; điều phối khám bằng AI, xe đưa đón.</a:t>
            </a:r>
            <a:endParaRPr lang="en-US" sz="1000" dirty="0"/>
          </a:p>
        </p:txBody>
      </p:sp>
      <p:sp>
        <p:nvSpPr>
          <p:cNvPr id="17" name="Shape 13"/>
          <p:cNvSpPr/>
          <p:nvPr/>
        </p:nvSpPr>
        <p:spPr>
          <a:xfrm>
            <a:off x="5175504" y="1874520"/>
            <a:ext cx="2103120" cy="31089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18" name="Shape 14"/>
          <p:cNvSpPr/>
          <p:nvPr/>
        </p:nvSpPr>
        <p:spPr>
          <a:xfrm>
            <a:off x="5175504" y="1874520"/>
            <a:ext cx="2103120" cy="64008"/>
          </a:xfrm>
          <a:prstGeom prst="rect">
            <a:avLst/>
          </a:prstGeom>
          <a:solidFill>
            <a:srgbClr val="2DD4BF"/>
          </a:solidFill>
          <a:ln/>
        </p:spPr>
      </p:sp>
      <p:sp>
        <p:nvSpPr>
          <p:cNvPr id="19" name="Shape 15"/>
          <p:cNvSpPr/>
          <p:nvPr/>
        </p:nvSpPr>
        <p:spPr>
          <a:xfrm>
            <a:off x="5806440" y="2221992"/>
            <a:ext cx="841248" cy="841248"/>
          </a:xfrm>
          <a:prstGeom prst="ellipse">
            <a:avLst/>
          </a:prstGeom>
          <a:solidFill>
            <a:srgbClr val="2DD4BF"/>
          </a:solidFill>
          <a:ln/>
        </p:spPr>
      </p:sp>
      <p:pic>
        <p:nvPicPr>
          <p:cNvPr id="20" name="Image 2" descr="preencoded.png">    </p:cNvPr>
          <p:cNvPicPr>
            <a:picLocks noChangeAspect="1"/>
          </p:cNvPicPr>
          <p:nvPr/>
        </p:nvPicPr>
        <p:blipFill>
          <a:blip r:embed="rId3"/>
          <a:stretch>
            <a:fillRect/>
          </a:stretch>
        </p:blipFill>
        <p:spPr>
          <a:xfrm>
            <a:off x="6016752" y="2432304"/>
            <a:ext cx="420624" cy="420624"/>
          </a:xfrm>
          <a:prstGeom prst="rect">
            <a:avLst/>
          </a:prstGeom>
        </p:spPr>
      </p:pic>
      <p:sp>
        <p:nvSpPr>
          <p:cNvPr id="21" name="Text 16"/>
          <p:cNvSpPr/>
          <p:nvPr/>
        </p:nvSpPr>
        <p:spPr>
          <a:xfrm>
            <a:off x="5248656" y="3200400"/>
            <a:ext cx="1956816" cy="54864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TeleSpecialist</a:t>
            </a:r>
            <a:endParaRPr lang="en-US" sz="1350" dirty="0"/>
          </a:p>
        </p:txBody>
      </p:sp>
      <p:sp>
        <p:nvSpPr>
          <p:cNvPr id="22" name="Text 17"/>
          <p:cNvSpPr/>
          <p:nvPr/>
        </p:nvSpPr>
        <p:spPr>
          <a:xfrm>
            <a:off x="5303520" y="3721608"/>
            <a:ext cx="1847088" cy="1188720"/>
          </a:xfrm>
          <a:prstGeom prst="rect">
            <a:avLst/>
          </a:prstGeom>
          <a:noFill/>
          <a:ln/>
        </p:spPr>
        <p:txBody>
          <a:bodyPr wrap="square" lIns="0" tIns="0" rIns="0" bIns="0" rtlCol="0" anchor="t"/>
          <a:lstStyle/>
          <a:p>
            <a:pPr algn="ctr" indent="0" marL="0">
              <a:lnSpc>
                <a:spcPct val="104000"/>
              </a:lnSpc>
              <a:buNone/>
            </a:pPr>
            <a:r>
              <a:rPr lang="en-US" sz="1000" dirty="0">
                <a:solidFill>
                  <a:srgbClr val="64748B"/>
                </a:solidFill>
                <a:latin typeface="Calibri" pitchFamily="34" charset="0"/>
                <a:ea typeface="Calibri" pitchFamily="34" charset="-122"/>
                <a:cs typeface="Calibri" pitchFamily="34" charset="-120"/>
              </a:rPr>
              <a:t>Khám video chuyên khoa · gói 299–599k/tháng.</a:t>
            </a:r>
            <a:endParaRPr lang="en-US" sz="1000" dirty="0"/>
          </a:p>
        </p:txBody>
      </p:sp>
      <p:sp>
        <p:nvSpPr>
          <p:cNvPr id="23" name="Shape 18"/>
          <p:cNvSpPr/>
          <p:nvPr/>
        </p:nvSpPr>
        <p:spPr>
          <a:xfrm>
            <a:off x="7443216" y="1874520"/>
            <a:ext cx="2103120" cy="31089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24" name="Shape 19"/>
          <p:cNvSpPr/>
          <p:nvPr/>
        </p:nvSpPr>
        <p:spPr>
          <a:xfrm>
            <a:off x="7443216" y="1874520"/>
            <a:ext cx="2103120" cy="64008"/>
          </a:xfrm>
          <a:prstGeom prst="rect">
            <a:avLst/>
          </a:prstGeom>
          <a:solidFill>
            <a:srgbClr val="F5A623"/>
          </a:solidFill>
          <a:ln/>
        </p:spPr>
      </p:sp>
      <p:sp>
        <p:nvSpPr>
          <p:cNvPr id="25" name="Shape 20"/>
          <p:cNvSpPr/>
          <p:nvPr/>
        </p:nvSpPr>
        <p:spPr>
          <a:xfrm>
            <a:off x="8074152" y="2221992"/>
            <a:ext cx="841248" cy="841248"/>
          </a:xfrm>
          <a:prstGeom prst="ellipse">
            <a:avLst/>
          </a:prstGeom>
          <a:solidFill>
            <a:srgbClr val="F5A623"/>
          </a:solidFill>
          <a:ln/>
        </p:spPr>
      </p:sp>
      <p:pic>
        <p:nvPicPr>
          <p:cNvPr id="26" name="Image 3" descr="preencoded.png">    </p:cNvPr>
          <p:cNvPicPr>
            <a:picLocks noChangeAspect="1"/>
          </p:cNvPicPr>
          <p:nvPr/>
        </p:nvPicPr>
        <p:blipFill>
          <a:blip r:embed="rId4"/>
          <a:stretch>
            <a:fillRect/>
          </a:stretch>
        </p:blipFill>
        <p:spPr>
          <a:xfrm>
            <a:off x="8284464" y="2432304"/>
            <a:ext cx="420624" cy="420624"/>
          </a:xfrm>
          <a:prstGeom prst="rect">
            <a:avLst/>
          </a:prstGeom>
        </p:spPr>
      </p:pic>
      <p:sp>
        <p:nvSpPr>
          <p:cNvPr id="27" name="Text 21"/>
          <p:cNvSpPr/>
          <p:nvPr/>
        </p:nvSpPr>
        <p:spPr>
          <a:xfrm>
            <a:off x="7516368" y="3200400"/>
            <a:ext cx="1956816" cy="54864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MedFin</a:t>
            </a:r>
            <a:endParaRPr lang="en-US" sz="1350" dirty="0"/>
          </a:p>
        </p:txBody>
      </p:sp>
      <p:sp>
        <p:nvSpPr>
          <p:cNvPr id="28" name="Text 22"/>
          <p:cNvSpPr/>
          <p:nvPr/>
        </p:nvSpPr>
        <p:spPr>
          <a:xfrm>
            <a:off x="7571232" y="3721608"/>
            <a:ext cx="1847088" cy="1188720"/>
          </a:xfrm>
          <a:prstGeom prst="rect">
            <a:avLst/>
          </a:prstGeom>
          <a:noFill/>
          <a:ln/>
        </p:spPr>
        <p:txBody>
          <a:bodyPr wrap="square" lIns="0" tIns="0" rIns="0" bIns="0" rtlCol="0" anchor="t"/>
          <a:lstStyle/>
          <a:p>
            <a:pPr algn="ctr" indent="0" marL="0">
              <a:lnSpc>
                <a:spcPct val="104000"/>
              </a:lnSpc>
              <a:buNone/>
            </a:pPr>
            <a:r>
              <a:rPr lang="en-US" sz="1000" dirty="0">
                <a:solidFill>
                  <a:srgbClr val="64748B"/>
                </a:solidFill>
                <a:latin typeface="Calibri" pitchFamily="34" charset="0"/>
                <a:ea typeface="Calibri" pitchFamily="34" charset="-122"/>
                <a:cs typeface="Calibri" pitchFamily="34" charset="-120"/>
              </a:rPr>
              <a:t>Tài chính y tế — HOÃN ở KB B (chỉ ăn phí giới thiệu).</a:t>
            </a:r>
            <a:endParaRPr lang="en-US" sz="1000" dirty="0"/>
          </a:p>
        </p:txBody>
      </p:sp>
      <p:sp>
        <p:nvSpPr>
          <p:cNvPr id="29" name="Shape 23"/>
          <p:cNvSpPr/>
          <p:nvPr/>
        </p:nvSpPr>
        <p:spPr>
          <a:xfrm>
            <a:off x="9710928" y="1874520"/>
            <a:ext cx="2103120" cy="3108960"/>
          </a:xfrm>
          <a:prstGeom prst="roundRect">
            <a:avLst>
              <a:gd name="adj" fmla="val 3478"/>
            </a:avLst>
          </a:prstGeom>
          <a:solidFill>
            <a:srgbClr val="FFFFFF"/>
          </a:solidFill>
          <a:ln/>
          <a:effectLst>
            <a:outerShdw sx="100000" sy="100000" kx="0" ky="0" algn="bl" rotWithShape="0" blurRad="63500" dist="25400" dir="5400000">
              <a:srgbClr val="0F172A">
                <a:alpha val="10000"/>
              </a:srgbClr>
            </a:outerShdw>
          </a:effectLst>
        </p:spPr>
      </p:sp>
      <p:sp>
        <p:nvSpPr>
          <p:cNvPr id="30" name="Shape 24"/>
          <p:cNvSpPr/>
          <p:nvPr/>
        </p:nvSpPr>
        <p:spPr>
          <a:xfrm>
            <a:off x="9710928" y="1874520"/>
            <a:ext cx="2103120" cy="64008"/>
          </a:xfrm>
          <a:prstGeom prst="rect">
            <a:avLst/>
          </a:prstGeom>
          <a:solidFill>
            <a:srgbClr val="FB7185"/>
          </a:solidFill>
          <a:ln/>
        </p:spPr>
      </p:sp>
      <p:sp>
        <p:nvSpPr>
          <p:cNvPr id="31" name="Shape 25"/>
          <p:cNvSpPr/>
          <p:nvPr/>
        </p:nvSpPr>
        <p:spPr>
          <a:xfrm>
            <a:off x="10341864" y="2221992"/>
            <a:ext cx="841248" cy="841248"/>
          </a:xfrm>
          <a:prstGeom prst="ellipse">
            <a:avLst/>
          </a:prstGeom>
          <a:solidFill>
            <a:srgbClr val="FB7185"/>
          </a:solidFill>
          <a:ln/>
        </p:spPr>
      </p:sp>
      <p:pic>
        <p:nvPicPr>
          <p:cNvPr id="32" name="Image 4" descr="preencoded.png">    </p:cNvPr>
          <p:cNvPicPr>
            <a:picLocks noChangeAspect="1"/>
          </p:cNvPicPr>
          <p:nvPr/>
        </p:nvPicPr>
        <p:blipFill>
          <a:blip r:embed="rId5"/>
          <a:stretch>
            <a:fillRect/>
          </a:stretch>
        </p:blipFill>
        <p:spPr>
          <a:xfrm>
            <a:off x="10552176" y="2432304"/>
            <a:ext cx="420624" cy="420624"/>
          </a:xfrm>
          <a:prstGeom prst="rect">
            <a:avLst/>
          </a:prstGeom>
        </p:spPr>
      </p:pic>
      <p:sp>
        <p:nvSpPr>
          <p:cNvPr id="33" name="Text 26"/>
          <p:cNvSpPr/>
          <p:nvPr/>
        </p:nvSpPr>
        <p:spPr>
          <a:xfrm>
            <a:off x="9784080" y="3200400"/>
            <a:ext cx="1956816" cy="548640"/>
          </a:xfrm>
          <a:prstGeom prst="rect">
            <a:avLst/>
          </a:prstGeom>
          <a:noFill/>
          <a:ln/>
        </p:spPr>
        <p:txBody>
          <a:bodyPr wrap="square" lIns="0" tIns="0" rIns="0" bIns="0" rtlCol="0" anchor="t"/>
          <a:lstStyle/>
          <a:p>
            <a:pPr algn="ctr" indent="0" marL="0">
              <a:buNone/>
            </a:pPr>
            <a:r>
              <a:rPr lang="en-US" sz="1350" b="1" dirty="0">
                <a:solidFill>
                  <a:srgbClr val="1E293B"/>
                </a:solidFill>
                <a:latin typeface="Trebuchet MS" pitchFamily="34" charset="0"/>
                <a:ea typeface="Trebuchet MS" pitchFamily="34" charset="-122"/>
                <a:cs typeface="Trebuchet MS" pitchFamily="34" charset="-120"/>
              </a:rPr>
              <a:t>CareSense + Commerce</a:t>
            </a:r>
            <a:endParaRPr lang="en-US" sz="1350" dirty="0"/>
          </a:p>
        </p:txBody>
      </p:sp>
      <p:sp>
        <p:nvSpPr>
          <p:cNvPr id="34" name="Text 27"/>
          <p:cNvSpPr/>
          <p:nvPr/>
        </p:nvSpPr>
        <p:spPr>
          <a:xfrm>
            <a:off x="9838944" y="3721608"/>
            <a:ext cx="1847088" cy="1188720"/>
          </a:xfrm>
          <a:prstGeom prst="rect">
            <a:avLst/>
          </a:prstGeom>
          <a:noFill/>
          <a:ln/>
        </p:spPr>
        <p:txBody>
          <a:bodyPr wrap="square" lIns="0" tIns="0" rIns="0" bIns="0" rtlCol="0" anchor="t"/>
          <a:lstStyle/>
          <a:p>
            <a:pPr algn="ctr" indent="0" marL="0">
              <a:lnSpc>
                <a:spcPct val="104000"/>
              </a:lnSpc>
              <a:buNone/>
            </a:pPr>
            <a:r>
              <a:rPr lang="en-US" sz="1000" dirty="0">
                <a:solidFill>
                  <a:srgbClr val="64748B"/>
                </a:solidFill>
                <a:latin typeface="Calibri" pitchFamily="34" charset="0"/>
                <a:ea typeface="Calibri" pitchFamily="34" charset="-122"/>
                <a:cs typeface="Calibri" pitchFamily="34" charset="-120"/>
              </a:rPr>
              <a:t>Camera AI té ngã + wearable + dược/thiết bị, markup ~25%.</a:t>
            </a:r>
            <a:endParaRPr lang="en-US" sz="1000" dirty="0"/>
          </a:p>
        </p:txBody>
      </p:sp>
      <p:sp>
        <p:nvSpPr>
          <p:cNvPr id="35" name="Shape 28"/>
          <p:cNvSpPr/>
          <p:nvPr/>
        </p:nvSpPr>
        <p:spPr>
          <a:xfrm>
            <a:off x="640080" y="5212080"/>
            <a:ext cx="10908792" cy="914400"/>
          </a:xfrm>
          <a:prstGeom prst="roundRect">
            <a:avLst>
              <a:gd name="adj" fmla="val 8000"/>
            </a:avLst>
          </a:prstGeom>
          <a:solidFill>
            <a:srgbClr val="134E4A"/>
          </a:solidFill>
          <a:ln/>
        </p:spPr>
      </p:sp>
      <p:pic>
        <p:nvPicPr>
          <p:cNvPr id="36" name="Image 5" descr="preencoded.png">    </p:cNvPr>
          <p:cNvPicPr>
            <a:picLocks noChangeAspect="1"/>
          </p:cNvPicPr>
          <p:nvPr/>
        </p:nvPicPr>
        <p:blipFill>
          <a:blip r:embed="rId6"/>
          <a:stretch>
            <a:fillRect/>
          </a:stretch>
        </p:blipFill>
        <p:spPr>
          <a:xfrm>
            <a:off x="960120" y="5458968"/>
            <a:ext cx="384048" cy="384048"/>
          </a:xfrm>
          <a:prstGeom prst="rect">
            <a:avLst/>
          </a:prstGeom>
        </p:spPr>
      </p:pic>
      <p:sp>
        <p:nvSpPr>
          <p:cNvPr id="37" name="Text 29"/>
          <p:cNvSpPr/>
          <p:nvPr/>
        </p:nvSpPr>
        <p:spPr>
          <a:xfrm>
            <a:off x="1508760" y="5212080"/>
            <a:ext cx="9875520" cy="914400"/>
          </a:xfrm>
          <a:prstGeom prst="rect">
            <a:avLst/>
          </a:prstGeom>
          <a:noFill/>
          <a:ln/>
        </p:spPr>
        <p:txBody>
          <a:bodyPr wrap="square" lIns="0" tIns="0" rIns="0" bIns="0" rtlCol="0" anchor="ctr"/>
          <a:lstStyle/>
          <a:p>
            <a:pPr indent="0" marL="0">
              <a:lnSpc>
                <a:spcPct val="102000"/>
              </a:lnSpc>
              <a:buNone/>
            </a:pPr>
            <a:r>
              <a:rPr lang="en-US" sz="1400" b="1" dirty="0">
                <a:solidFill>
                  <a:srgbClr val="FFFFFF"/>
                </a:solidFill>
                <a:latin typeface="Calibri" pitchFamily="34" charset="0"/>
                <a:ea typeface="Calibri" pitchFamily="34" charset="-122"/>
                <a:cs typeface="Calibri" pitchFamily="34" charset="-120"/>
              </a:rPr>
              <a:t>Lớp dữ liệu sức khỏe chung &amp; bảo mật  </a:t>
            </a:r>
            <a:pPr indent="0" marL="0">
              <a:lnSpc>
                <a:spcPct val="102000"/>
              </a:lnSpc>
              <a:buNone/>
            </a:pPr>
            <a:r>
              <a:rPr lang="en-US" sz="1150" dirty="0">
                <a:solidFill>
                  <a:srgbClr val="2DD4BF"/>
                </a:solidFill>
                <a:latin typeface="Calibri" pitchFamily="34" charset="0"/>
                <a:ea typeface="Calibri" pitchFamily="34" charset="-122"/>
                <a:cs typeface="Calibri" pitchFamily="34" charset="-120"/>
              </a:rPr>
              <a:t>— phân quyền con cái · người già · bác sĩ, tuân thủ Nghị định 13/2023. Ở Kịch bản B, ưu tiên 3 trụ cột nhẹ vốn (CareConnect · Tele · Dược).</a:t>
            </a:r>
            <a:endParaRPr lang="en-US" sz="1400" dirty="0"/>
          </a:p>
        </p:txBody>
      </p:sp>
      <p:sp>
        <p:nvSpPr>
          <p:cNvPr id="38" name="Shape 30"/>
          <p:cNvSpPr/>
          <p:nvPr/>
        </p:nvSpPr>
        <p:spPr>
          <a:xfrm>
            <a:off x="0" y="6565392"/>
            <a:ext cx="12191695" cy="292608"/>
          </a:xfrm>
          <a:prstGeom prst="rect">
            <a:avLst/>
          </a:prstGeom>
          <a:solidFill>
            <a:srgbClr val="FFFFFF"/>
          </a:solidFill>
          <a:ln/>
        </p:spPr>
      </p:sp>
      <p:sp>
        <p:nvSpPr>
          <p:cNvPr id="39" name="Shape 31"/>
          <p:cNvSpPr/>
          <p:nvPr/>
        </p:nvSpPr>
        <p:spPr>
          <a:xfrm>
            <a:off x="0" y="6547104"/>
            <a:ext cx="12191695" cy="20117"/>
          </a:xfrm>
          <a:prstGeom prst="rect">
            <a:avLst/>
          </a:prstGeom>
          <a:solidFill>
            <a:srgbClr val="E2E8F0"/>
          </a:solidFill>
          <a:ln/>
        </p:spPr>
      </p:sp>
      <p:sp>
        <p:nvSpPr>
          <p:cNvPr id="40" name="Shape 32"/>
          <p:cNvSpPr/>
          <p:nvPr/>
        </p:nvSpPr>
        <p:spPr>
          <a:xfrm>
            <a:off x="457200" y="6624828"/>
            <a:ext cx="118872" cy="118872"/>
          </a:xfrm>
          <a:prstGeom prst="ellipse">
            <a:avLst/>
          </a:prstGeom>
          <a:solidFill>
            <a:srgbClr val="0D9488"/>
          </a:solidFill>
          <a:ln/>
        </p:spPr>
      </p:sp>
      <p:sp>
        <p:nvSpPr>
          <p:cNvPr id="41" name="Text 33"/>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2" name="Text 34"/>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3" name="Text 35"/>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TÂN · KHÁCH HÀNG KÉP &amp; THỊ TRƯỜNG</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Người trả tiền ≠ người dùng</a:t>
            </a:r>
            <a:endParaRPr lang="en-US" sz="3000" dirty="0"/>
          </a:p>
        </p:txBody>
      </p:sp>
      <p:sp>
        <p:nvSpPr>
          <p:cNvPr id="5" name="Shape 3"/>
          <p:cNvSpPr/>
          <p:nvPr/>
        </p:nvSpPr>
        <p:spPr>
          <a:xfrm>
            <a:off x="640080" y="1783080"/>
            <a:ext cx="5440680" cy="2148840"/>
          </a:xfrm>
          <a:prstGeom prst="roundRect">
            <a:avLst>
              <a:gd name="adj" fmla="val 3404"/>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83080"/>
            <a:ext cx="5440680" cy="73152"/>
          </a:xfrm>
          <a:prstGeom prst="rect">
            <a:avLst/>
          </a:prstGeom>
          <a:solidFill>
            <a:srgbClr val="0D9488"/>
          </a:solidFill>
          <a:ln/>
        </p:spPr>
      </p:sp>
      <p:sp>
        <p:nvSpPr>
          <p:cNvPr id="7" name="Shape 5"/>
          <p:cNvSpPr/>
          <p:nvPr/>
        </p:nvSpPr>
        <p:spPr>
          <a:xfrm>
            <a:off x="960120" y="2103120"/>
            <a:ext cx="868680" cy="868680"/>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1170432" y="2313432"/>
            <a:ext cx="448056" cy="448056"/>
          </a:xfrm>
          <a:prstGeom prst="rect">
            <a:avLst/>
          </a:prstGeom>
        </p:spPr>
      </p:pic>
      <p:sp>
        <p:nvSpPr>
          <p:cNvPr id="9" name="Text 6"/>
          <p:cNvSpPr/>
          <p:nvPr/>
        </p:nvSpPr>
        <p:spPr>
          <a:xfrm>
            <a:off x="2011680" y="2121408"/>
            <a:ext cx="3840480" cy="274320"/>
          </a:xfrm>
          <a:prstGeom prst="rect">
            <a:avLst/>
          </a:prstGeom>
          <a:noFill/>
          <a:ln/>
        </p:spPr>
        <p:txBody>
          <a:bodyPr wrap="square" lIns="0" tIns="0" rIns="0" bIns="0" rtlCol="0" anchor="ctr"/>
          <a:lstStyle/>
          <a:p>
            <a:pPr indent="0" marL="0">
              <a:buNone/>
            </a:pPr>
            <a:r>
              <a:rPr lang="en-US" sz="1100" b="1" spc="100" kern="0" dirty="0">
                <a:solidFill>
                  <a:srgbClr val="0D9488"/>
                </a:solidFill>
                <a:latin typeface="Trebuchet MS" pitchFamily="34" charset="0"/>
                <a:ea typeface="Trebuchet MS" pitchFamily="34" charset="-122"/>
                <a:cs typeface="Trebuchet MS" pitchFamily="34" charset="-120"/>
              </a:rPr>
              <a:t>NGƯỜI TRẢ TIỀN · CON CÁI 30–50</a:t>
            </a:r>
            <a:endParaRPr lang="en-US" sz="1100" dirty="0"/>
          </a:p>
        </p:txBody>
      </p:sp>
      <p:sp>
        <p:nvSpPr>
          <p:cNvPr id="10" name="Text 7"/>
          <p:cNvSpPr/>
          <p:nvPr/>
        </p:nvSpPr>
        <p:spPr>
          <a:xfrm>
            <a:off x="2011680" y="2377440"/>
            <a:ext cx="3840480" cy="411480"/>
          </a:xfrm>
          <a:prstGeom prst="rect">
            <a:avLst/>
          </a:prstGeom>
          <a:noFill/>
          <a:ln/>
        </p:spPr>
        <p:txBody>
          <a:bodyPr wrap="square" lIns="0" tIns="0" rIns="0" bIns="0" rtlCol="0" anchor="ctr"/>
          <a:lstStyle/>
          <a:p>
            <a:pPr indent="0" marL="0">
              <a:buNone/>
            </a:pPr>
            <a:r>
              <a:rPr lang="en-US" sz="2000" b="1" dirty="0">
                <a:solidFill>
                  <a:srgbClr val="1E293B"/>
                </a:solidFill>
                <a:latin typeface="Trebuchet MS" pitchFamily="34" charset="0"/>
                <a:ea typeface="Trebuchet MS" pitchFamily="34" charset="-122"/>
                <a:cs typeface="Trebuchet MS" pitchFamily="34" charset="-120"/>
              </a:rPr>
              <a:t>Ông Tâm</a:t>
            </a:r>
            <a:endParaRPr lang="en-US" sz="2000" dirty="0"/>
          </a:p>
        </p:txBody>
      </p:sp>
      <p:sp>
        <p:nvSpPr>
          <p:cNvPr id="11" name="Text 8"/>
          <p:cNvSpPr/>
          <p:nvPr/>
        </p:nvSpPr>
        <p:spPr>
          <a:xfrm>
            <a:off x="1005840" y="3108960"/>
            <a:ext cx="4754880" cy="731520"/>
          </a:xfrm>
          <a:prstGeom prst="rect">
            <a:avLst/>
          </a:prstGeom>
          <a:noFill/>
          <a:ln/>
        </p:spPr>
        <p:txBody>
          <a:bodyPr wrap="square" lIns="0" tIns="0" rIns="0" bIns="0" rtlCol="0" anchor="t"/>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Con ở xa, bận, sợ bố mẹ té ngã. Sẵn sàng chi 300–500k/tháng để biết bố mẹ an toàn — mua “sự an tâm”.</a:t>
            </a:r>
            <a:endParaRPr lang="en-US" sz="1150" dirty="0"/>
          </a:p>
        </p:txBody>
      </p:sp>
      <p:sp>
        <p:nvSpPr>
          <p:cNvPr id="12" name="Shape 9"/>
          <p:cNvSpPr/>
          <p:nvPr/>
        </p:nvSpPr>
        <p:spPr>
          <a:xfrm>
            <a:off x="6263640" y="1783080"/>
            <a:ext cx="5440680" cy="2148840"/>
          </a:xfrm>
          <a:prstGeom prst="roundRect">
            <a:avLst>
              <a:gd name="adj" fmla="val 3404"/>
            </a:avLst>
          </a:prstGeom>
          <a:solidFill>
            <a:srgbClr val="FFFFFF"/>
          </a:solidFill>
          <a:ln/>
          <a:effectLst>
            <a:outerShdw sx="100000" sy="100000" kx="0" ky="0" algn="bl" rotWithShape="0" blurRad="63500" dist="25400" dir="5400000">
              <a:srgbClr val="0F172A">
                <a:alpha val="10000"/>
              </a:srgbClr>
            </a:outerShdw>
          </a:effectLst>
        </p:spPr>
      </p:sp>
      <p:sp>
        <p:nvSpPr>
          <p:cNvPr id="13" name="Shape 10"/>
          <p:cNvSpPr/>
          <p:nvPr/>
        </p:nvSpPr>
        <p:spPr>
          <a:xfrm>
            <a:off x="6263640" y="1783080"/>
            <a:ext cx="5440680" cy="73152"/>
          </a:xfrm>
          <a:prstGeom prst="rect">
            <a:avLst/>
          </a:prstGeom>
          <a:solidFill>
            <a:srgbClr val="FB7185"/>
          </a:solidFill>
          <a:ln/>
        </p:spPr>
      </p:sp>
      <p:sp>
        <p:nvSpPr>
          <p:cNvPr id="14" name="Shape 11"/>
          <p:cNvSpPr/>
          <p:nvPr/>
        </p:nvSpPr>
        <p:spPr>
          <a:xfrm>
            <a:off x="6583680" y="2103120"/>
            <a:ext cx="868680" cy="868680"/>
          </a:xfrm>
          <a:prstGeom prst="ellipse">
            <a:avLst/>
          </a:prstGeom>
          <a:solidFill>
            <a:srgbClr val="FB7185"/>
          </a:solidFill>
          <a:ln/>
        </p:spPr>
      </p:sp>
      <p:pic>
        <p:nvPicPr>
          <p:cNvPr id="15" name="Image 1" descr="preencoded.png">    </p:cNvPr>
          <p:cNvPicPr>
            <a:picLocks noChangeAspect="1"/>
          </p:cNvPicPr>
          <p:nvPr/>
        </p:nvPicPr>
        <p:blipFill>
          <a:blip r:embed="rId2"/>
          <a:stretch>
            <a:fillRect/>
          </a:stretch>
        </p:blipFill>
        <p:spPr>
          <a:xfrm>
            <a:off x="6793992" y="2313432"/>
            <a:ext cx="448056" cy="448056"/>
          </a:xfrm>
          <a:prstGeom prst="rect">
            <a:avLst/>
          </a:prstGeom>
        </p:spPr>
      </p:pic>
      <p:sp>
        <p:nvSpPr>
          <p:cNvPr id="16" name="Text 12"/>
          <p:cNvSpPr/>
          <p:nvPr/>
        </p:nvSpPr>
        <p:spPr>
          <a:xfrm>
            <a:off x="7635240" y="2121408"/>
            <a:ext cx="3840480" cy="274320"/>
          </a:xfrm>
          <a:prstGeom prst="rect">
            <a:avLst/>
          </a:prstGeom>
          <a:noFill/>
          <a:ln/>
        </p:spPr>
        <p:txBody>
          <a:bodyPr wrap="square" lIns="0" tIns="0" rIns="0" bIns="0" rtlCol="0" anchor="ctr"/>
          <a:lstStyle/>
          <a:p>
            <a:pPr indent="0" marL="0">
              <a:buNone/>
            </a:pPr>
            <a:r>
              <a:rPr lang="en-US" sz="1100" b="1" spc="100" kern="0" dirty="0">
                <a:solidFill>
                  <a:srgbClr val="FB7185"/>
                </a:solidFill>
                <a:latin typeface="Trebuchet MS" pitchFamily="34" charset="0"/>
                <a:ea typeface="Trebuchet MS" pitchFamily="34" charset="-122"/>
                <a:cs typeface="Trebuchet MS" pitchFamily="34" charset="-120"/>
              </a:rPr>
              <a:t>NGƯỜI DÙNG · BỐ MẸ ≥60</a:t>
            </a:r>
            <a:endParaRPr lang="en-US" sz="1100" dirty="0"/>
          </a:p>
        </p:txBody>
      </p:sp>
      <p:sp>
        <p:nvSpPr>
          <p:cNvPr id="17" name="Text 13"/>
          <p:cNvSpPr/>
          <p:nvPr/>
        </p:nvSpPr>
        <p:spPr>
          <a:xfrm>
            <a:off x="7635240" y="2377440"/>
            <a:ext cx="3840480" cy="411480"/>
          </a:xfrm>
          <a:prstGeom prst="rect">
            <a:avLst/>
          </a:prstGeom>
          <a:noFill/>
          <a:ln/>
        </p:spPr>
        <p:txBody>
          <a:bodyPr wrap="square" lIns="0" tIns="0" rIns="0" bIns="0" rtlCol="0" anchor="ctr"/>
          <a:lstStyle/>
          <a:p>
            <a:pPr indent="0" marL="0">
              <a:buNone/>
            </a:pPr>
            <a:r>
              <a:rPr lang="en-US" sz="2000" b="1" dirty="0">
                <a:solidFill>
                  <a:srgbClr val="1E293B"/>
                </a:solidFill>
                <a:latin typeface="Trebuchet MS" pitchFamily="34" charset="0"/>
                <a:ea typeface="Trebuchet MS" pitchFamily="34" charset="-122"/>
                <a:cs typeface="Trebuchet MS" pitchFamily="34" charset="-120"/>
              </a:rPr>
              <a:t>Bà Hoa</a:t>
            </a:r>
            <a:endParaRPr lang="en-US" sz="2000" dirty="0"/>
          </a:p>
        </p:txBody>
      </p:sp>
      <p:sp>
        <p:nvSpPr>
          <p:cNvPr id="18" name="Text 14"/>
          <p:cNvSpPr/>
          <p:nvPr/>
        </p:nvSpPr>
        <p:spPr>
          <a:xfrm>
            <a:off x="6629400" y="3108960"/>
            <a:ext cx="4754880" cy="731520"/>
          </a:xfrm>
          <a:prstGeom prst="rect">
            <a:avLst/>
          </a:prstGeom>
          <a:noFill/>
          <a:ln/>
        </p:spPr>
        <p:txBody>
          <a:bodyPr wrap="square" lIns="0" tIns="0" rIns="0" bIns="0" rtlCol="0" anchor="t"/>
          <a:lstStyle/>
          <a:p>
            <a:pPr indent="0" marL="0">
              <a:lnSpc>
                <a:spcPct val="102000"/>
              </a:lnSpc>
              <a:buNone/>
            </a:pPr>
            <a:r>
              <a:rPr lang="en-US" sz="1150" dirty="0">
                <a:solidFill>
                  <a:srgbClr val="64748B"/>
                </a:solidFill>
                <a:latin typeface="Calibri" pitchFamily="34" charset="0"/>
                <a:ea typeface="Calibri" pitchFamily="34" charset="-122"/>
                <a:cs typeface="Calibri" pitchFamily="34" charset="-120"/>
              </a:rPr>
              <a:t>72 tuổi, 3 bệnh mạn tính, sống một mình. Muốn tự chủ tại nhà, cần được chăm &amp; theo dõi — không vào viện dưỡng lão.</a:t>
            </a:r>
            <a:endParaRPr lang="en-US" sz="1150" dirty="0"/>
          </a:p>
        </p:txBody>
      </p:sp>
      <p:sp>
        <p:nvSpPr>
          <p:cNvPr id="19" name="Shape 15"/>
          <p:cNvSpPr/>
          <p:nvPr/>
        </p:nvSpPr>
        <p:spPr>
          <a:xfrm>
            <a:off x="641452" y="4114800"/>
            <a:ext cx="10908792" cy="713232"/>
          </a:xfrm>
          <a:prstGeom prst="roundRect">
            <a:avLst>
              <a:gd name="adj" fmla="val 10256"/>
            </a:avLst>
          </a:prstGeom>
          <a:solidFill>
            <a:srgbClr val="2DD4BF"/>
          </a:solidFill>
          <a:ln/>
          <a:effectLst>
            <a:outerShdw sx="100000" sy="100000" kx="0" ky="0" algn="bl" rotWithShape="0" blurRad="63500" dist="25400" dir="5400000">
              <a:srgbClr val="0F172A">
                <a:alpha val="10000"/>
              </a:srgbClr>
            </a:outerShdw>
          </a:effectLst>
        </p:spPr>
      </p:sp>
      <p:sp>
        <p:nvSpPr>
          <p:cNvPr id="20" name="Text 16"/>
          <p:cNvSpPr/>
          <p:nvPr/>
        </p:nvSpPr>
        <p:spPr>
          <a:xfrm>
            <a:off x="915772" y="4114800"/>
            <a:ext cx="1188720" cy="713232"/>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TAM</a:t>
            </a:r>
            <a:endParaRPr lang="en-US" sz="1700" dirty="0"/>
          </a:p>
        </p:txBody>
      </p:sp>
      <p:sp>
        <p:nvSpPr>
          <p:cNvPr id="21" name="Text 17"/>
          <p:cNvSpPr/>
          <p:nvPr/>
        </p:nvSpPr>
        <p:spPr>
          <a:xfrm>
            <a:off x="2058772" y="4114800"/>
            <a:ext cx="3108960" cy="713232"/>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~115.000 tỷ VNĐ/năm</a:t>
            </a:r>
            <a:endParaRPr lang="en-US" sz="1600" dirty="0"/>
          </a:p>
        </p:txBody>
      </p:sp>
      <p:sp>
        <p:nvSpPr>
          <p:cNvPr id="22" name="Text 18"/>
          <p:cNvSpPr/>
          <p:nvPr/>
        </p:nvSpPr>
        <p:spPr>
          <a:xfrm>
            <a:off x="5213452" y="4114800"/>
            <a:ext cx="6153912" cy="713232"/>
          </a:xfrm>
          <a:prstGeom prst="rect">
            <a:avLst/>
          </a:prstGeom>
          <a:noFill/>
          <a:ln/>
        </p:spPr>
        <p:txBody>
          <a:bodyPr wrap="square" lIns="0" tIns="0" rIns="0" bIns="0" rtlCol="0" anchor="ctr"/>
          <a:lstStyle/>
          <a:p>
            <a:pPr indent="0" marL="0">
              <a:buNone/>
            </a:pPr>
            <a:r>
              <a:rPr lang="en-US" sz="1050" dirty="0">
                <a:solidFill>
                  <a:srgbClr val="ECFEFF"/>
                </a:solidFill>
                <a:latin typeface="Calibri" pitchFamily="34" charset="0"/>
                <a:ea typeface="Calibri" pitchFamily="34" charset="-122"/>
                <a:cs typeface="Calibri" pitchFamily="34" charset="-120"/>
              </a:rPr>
              <a:t>Toàn thị trường chăm sóc người cao tuổi VN</a:t>
            </a:r>
            <a:endParaRPr lang="en-US" sz="1050" dirty="0"/>
          </a:p>
        </p:txBody>
      </p:sp>
      <p:sp>
        <p:nvSpPr>
          <p:cNvPr id="23" name="Shape 19"/>
          <p:cNvSpPr/>
          <p:nvPr/>
        </p:nvSpPr>
        <p:spPr>
          <a:xfrm>
            <a:off x="1889608" y="4681728"/>
            <a:ext cx="8412480" cy="713232"/>
          </a:xfrm>
          <a:prstGeom prst="roundRect">
            <a:avLst>
              <a:gd name="adj" fmla="val 10256"/>
            </a:avLst>
          </a:prstGeom>
          <a:solidFill>
            <a:srgbClr val="0D9488"/>
          </a:solidFill>
          <a:ln/>
          <a:effectLst>
            <a:outerShdw sx="100000" sy="100000" kx="0" ky="0" algn="bl" rotWithShape="0" blurRad="63500" dist="25400" dir="5400000">
              <a:srgbClr val="0F172A">
                <a:alpha val="10000"/>
              </a:srgbClr>
            </a:outerShdw>
          </a:effectLst>
        </p:spPr>
      </p:sp>
      <p:sp>
        <p:nvSpPr>
          <p:cNvPr id="24" name="Text 20"/>
          <p:cNvSpPr/>
          <p:nvPr/>
        </p:nvSpPr>
        <p:spPr>
          <a:xfrm>
            <a:off x="2163928" y="4681728"/>
            <a:ext cx="1188720" cy="713232"/>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SAM</a:t>
            </a:r>
            <a:endParaRPr lang="en-US" sz="1700" dirty="0"/>
          </a:p>
        </p:txBody>
      </p:sp>
      <p:sp>
        <p:nvSpPr>
          <p:cNvPr id="25" name="Text 21"/>
          <p:cNvSpPr/>
          <p:nvPr/>
        </p:nvSpPr>
        <p:spPr>
          <a:xfrm>
            <a:off x="3306928" y="4681728"/>
            <a:ext cx="3108960" cy="713232"/>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~18.000 tỷ VNĐ/năm</a:t>
            </a:r>
            <a:endParaRPr lang="en-US" sz="1600" dirty="0"/>
          </a:p>
        </p:txBody>
      </p:sp>
      <p:sp>
        <p:nvSpPr>
          <p:cNvPr id="26" name="Text 22"/>
          <p:cNvSpPr/>
          <p:nvPr/>
        </p:nvSpPr>
        <p:spPr>
          <a:xfrm>
            <a:off x="6461608" y="4681728"/>
            <a:ext cx="3657600" cy="713232"/>
          </a:xfrm>
          <a:prstGeom prst="rect">
            <a:avLst/>
          </a:prstGeom>
          <a:noFill/>
          <a:ln/>
        </p:spPr>
        <p:txBody>
          <a:bodyPr wrap="square" lIns="0" tIns="0" rIns="0" bIns="0" rtlCol="0" anchor="ctr"/>
          <a:lstStyle/>
          <a:p>
            <a:pPr indent="0" marL="0">
              <a:buNone/>
            </a:pPr>
            <a:r>
              <a:rPr lang="en-US" sz="1050" dirty="0">
                <a:solidFill>
                  <a:srgbClr val="ECFEFF"/>
                </a:solidFill>
                <a:latin typeface="Calibri" pitchFamily="34" charset="0"/>
                <a:ea typeface="Calibri" pitchFamily="34" charset="-122"/>
                <a:cs typeface="Calibri" pitchFamily="34" charset="-120"/>
              </a:rPr>
              <a:t>Hộ đô thị có bố mẹ già, rành smartphone</a:t>
            </a:r>
            <a:endParaRPr lang="en-US" sz="1050" dirty="0"/>
          </a:p>
        </p:txBody>
      </p:sp>
      <p:sp>
        <p:nvSpPr>
          <p:cNvPr id="27" name="Shape 23"/>
          <p:cNvSpPr/>
          <p:nvPr/>
        </p:nvSpPr>
        <p:spPr>
          <a:xfrm>
            <a:off x="3261208" y="5248656"/>
            <a:ext cx="5669280" cy="713232"/>
          </a:xfrm>
          <a:prstGeom prst="roundRect">
            <a:avLst>
              <a:gd name="adj" fmla="val 10256"/>
            </a:avLst>
          </a:prstGeom>
          <a:solidFill>
            <a:srgbClr val="0F766E"/>
          </a:solidFill>
          <a:ln/>
          <a:effectLst>
            <a:outerShdw sx="100000" sy="100000" kx="0" ky="0" algn="bl" rotWithShape="0" blurRad="63500" dist="25400" dir="5400000">
              <a:srgbClr val="0F172A">
                <a:alpha val="10000"/>
              </a:srgbClr>
            </a:outerShdw>
          </a:effectLst>
        </p:spPr>
      </p:sp>
      <p:sp>
        <p:nvSpPr>
          <p:cNvPr id="28" name="Text 24"/>
          <p:cNvSpPr/>
          <p:nvPr/>
        </p:nvSpPr>
        <p:spPr>
          <a:xfrm>
            <a:off x="3535528" y="5248656"/>
            <a:ext cx="1188720" cy="713232"/>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SOM</a:t>
            </a:r>
            <a:endParaRPr lang="en-US" sz="1700" dirty="0"/>
          </a:p>
        </p:txBody>
      </p:sp>
      <p:sp>
        <p:nvSpPr>
          <p:cNvPr id="29" name="Text 25"/>
          <p:cNvSpPr/>
          <p:nvPr/>
        </p:nvSpPr>
        <p:spPr>
          <a:xfrm>
            <a:off x="4678528" y="5248656"/>
            <a:ext cx="3108960" cy="713232"/>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~900 tỷ VNĐ/năm</a:t>
            </a:r>
            <a:endParaRPr lang="en-US" sz="1600" dirty="0"/>
          </a:p>
        </p:txBody>
      </p:sp>
      <p:sp>
        <p:nvSpPr>
          <p:cNvPr id="30" name="Text 26"/>
          <p:cNvSpPr/>
          <p:nvPr/>
        </p:nvSpPr>
        <p:spPr>
          <a:xfrm>
            <a:off x="7833208" y="5248656"/>
            <a:ext cx="914400" cy="713232"/>
          </a:xfrm>
          <a:prstGeom prst="rect">
            <a:avLst/>
          </a:prstGeom>
          <a:noFill/>
          <a:ln/>
        </p:spPr>
        <p:txBody>
          <a:bodyPr wrap="square" lIns="0" tIns="0" rIns="0" bIns="0" rtlCol="0" anchor="ctr"/>
          <a:lstStyle/>
          <a:p>
            <a:pPr indent="0" marL="0">
              <a:buNone/>
            </a:pPr>
            <a:r>
              <a:rPr lang="en-US" sz="1050" dirty="0">
                <a:solidFill>
                  <a:srgbClr val="ECFEFF"/>
                </a:solidFill>
                <a:latin typeface="Calibri" pitchFamily="34" charset="0"/>
                <a:ea typeface="Calibri" pitchFamily="34" charset="-122"/>
                <a:cs typeface="Calibri" pitchFamily="34" charset="-120"/>
              </a:rPr>
              <a:t>Mục tiêu Năm 5 — khởi đầu Hà Nội</a:t>
            </a:r>
            <a:endParaRPr lang="en-US" sz="1050" dirty="0"/>
          </a:p>
        </p:txBody>
      </p:sp>
      <p:sp>
        <p:nvSpPr>
          <p:cNvPr id="31" name="Text 27"/>
          <p:cNvSpPr/>
          <p:nvPr/>
        </p:nvSpPr>
        <p:spPr>
          <a:xfrm>
            <a:off x="640080" y="5870448"/>
            <a:ext cx="10881360" cy="27432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Khởi đầu Hà Nội (6 founder ở HN) → TP.HCM năm 2 → tỉnh năm 3.  Nguồn: ước tính nội bộ.</a:t>
            </a:r>
            <a:endParaRPr lang="en-US" sz="950" dirty="0"/>
          </a:p>
        </p:txBody>
      </p:sp>
      <p:sp>
        <p:nvSpPr>
          <p:cNvPr id="32" name="Shape 28"/>
          <p:cNvSpPr/>
          <p:nvPr/>
        </p:nvSpPr>
        <p:spPr>
          <a:xfrm>
            <a:off x="0" y="6565392"/>
            <a:ext cx="12191695" cy="292608"/>
          </a:xfrm>
          <a:prstGeom prst="rect">
            <a:avLst/>
          </a:prstGeom>
          <a:solidFill>
            <a:srgbClr val="FFFFFF"/>
          </a:solidFill>
          <a:ln/>
        </p:spPr>
      </p:sp>
      <p:sp>
        <p:nvSpPr>
          <p:cNvPr id="33" name="Shape 29"/>
          <p:cNvSpPr/>
          <p:nvPr/>
        </p:nvSpPr>
        <p:spPr>
          <a:xfrm>
            <a:off x="0" y="6547104"/>
            <a:ext cx="12191695" cy="20117"/>
          </a:xfrm>
          <a:prstGeom prst="rect">
            <a:avLst/>
          </a:prstGeom>
          <a:solidFill>
            <a:srgbClr val="E2E8F0"/>
          </a:solidFill>
          <a:ln/>
        </p:spPr>
      </p:sp>
      <p:sp>
        <p:nvSpPr>
          <p:cNvPr id="34" name="Shape 30"/>
          <p:cNvSpPr/>
          <p:nvPr/>
        </p:nvSpPr>
        <p:spPr>
          <a:xfrm>
            <a:off x="457200" y="6624828"/>
            <a:ext cx="118872" cy="118872"/>
          </a:xfrm>
          <a:prstGeom prst="ellipse">
            <a:avLst/>
          </a:prstGeom>
          <a:solidFill>
            <a:srgbClr val="0D9488"/>
          </a:solidFill>
          <a:ln/>
        </p:spPr>
      </p:sp>
      <p:sp>
        <p:nvSpPr>
          <p:cNvPr id="35" name="Text 31"/>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6" name="Text 32"/>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7" name="Text 33"/>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F766E">
              <a:alpha val="65000"/>
            </a:srgbClr>
          </a:solidFill>
          <a:ln/>
        </p:spPr>
      </p:sp>
      <p:sp>
        <p:nvSpPr>
          <p:cNvPr id="3" name="Shape 1"/>
          <p:cNvSpPr/>
          <p:nvPr/>
        </p:nvSpPr>
        <p:spPr>
          <a:xfrm>
            <a:off x="-1280160" y="4206240"/>
            <a:ext cx="3657600" cy="3657600"/>
          </a:xfrm>
          <a:prstGeom prst="ellipse">
            <a:avLst/>
          </a:prstGeom>
          <a:solidFill>
            <a:srgbClr val="0F766E">
              <a:alpha val="50000"/>
            </a:srgbClr>
          </a:solidFill>
          <a:ln/>
        </p:spPr>
      </p:sp>
      <p:sp>
        <p:nvSpPr>
          <p:cNvPr id="4" name="Shape 2"/>
          <p:cNvSpPr/>
          <p:nvPr/>
        </p:nvSpPr>
        <p:spPr>
          <a:xfrm>
            <a:off x="822960" y="1371600"/>
            <a:ext cx="1188720" cy="1188720"/>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06424" y="1655064"/>
            <a:ext cx="621792" cy="621792"/>
          </a:xfrm>
          <a:prstGeom prst="rect">
            <a:avLst/>
          </a:prstGeom>
        </p:spPr>
      </p:pic>
      <p:sp>
        <p:nvSpPr>
          <p:cNvPr id="6" name="Text 3"/>
          <p:cNvSpPr/>
          <p:nvPr/>
        </p:nvSpPr>
        <p:spPr>
          <a:xfrm>
            <a:off x="822960" y="2743200"/>
            <a:ext cx="100584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Trebuchet MS" pitchFamily="34" charset="0"/>
                <a:ea typeface="Trebuchet MS" pitchFamily="34" charset="-122"/>
                <a:cs typeface="Trebuchet MS" pitchFamily="34" charset="-120"/>
              </a:rPr>
              <a:t>PHẦN TÀI CHÍNH</a:t>
            </a:r>
            <a:endParaRPr lang="en-US" sz="1400" dirty="0"/>
          </a:p>
        </p:txBody>
      </p:sp>
      <p:sp>
        <p:nvSpPr>
          <p:cNvPr id="7" name="Text 4"/>
          <p:cNvSpPr/>
          <p:nvPr/>
        </p:nvSpPr>
        <p:spPr>
          <a:xfrm>
            <a:off x="804672" y="3127248"/>
            <a:ext cx="10515600" cy="109728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Trebuchet MS" pitchFamily="34" charset="0"/>
                <a:ea typeface="Trebuchet MS" pitchFamily="34" charset="-122"/>
                <a:cs typeface="Trebuchet MS" pitchFamily="34" charset="-120"/>
              </a:rPr>
              <a:t>Mô hình lãi ngay &amp; nhà sáng lập</a:t>
            </a:r>
            <a:endParaRPr lang="en-US" sz="3800" dirty="0"/>
          </a:p>
        </p:txBody>
      </p:sp>
      <p:sp>
        <p:nvSpPr>
          <p:cNvPr id="8" name="Shape 5"/>
          <p:cNvSpPr/>
          <p:nvPr/>
        </p:nvSpPr>
        <p:spPr>
          <a:xfrm>
            <a:off x="822960" y="4343400"/>
            <a:ext cx="4206240" cy="566928"/>
          </a:xfrm>
          <a:prstGeom prst="roundRect">
            <a:avLst>
              <a:gd name="adj" fmla="val 50000"/>
            </a:avLst>
          </a:prstGeom>
          <a:solidFill>
            <a:srgbClr val="FB7185"/>
          </a:solidFill>
          <a:ln/>
        </p:spPr>
      </p:sp>
      <p:pic>
        <p:nvPicPr>
          <p:cNvPr id="9" name="Image 1" descr="preencoded.png">    </p:cNvPr>
          <p:cNvPicPr>
            <a:picLocks noChangeAspect="1"/>
          </p:cNvPicPr>
          <p:nvPr/>
        </p:nvPicPr>
        <p:blipFill>
          <a:blip r:embed="rId2"/>
          <a:stretch>
            <a:fillRect/>
          </a:stretch>
        </p:blipFill>
        <p:spPr>
          <a:xfrm>
            <a:off x="1024128" y="4480560"/>
            <a:ext cx="292608" cy="292608"/>
          </a:xfrm>
          <a:prstGeom prst="rect">
            <a:avLst/>
          </a:prstGeom>
        </p:spPr>
      </p:pic>
      <p:sp>
        <p:nvSpPr>
          <p:cNvPr id="10" name="Text 6"/>
          <p:cNvSpPr/>
          <p:nvPr/>
        </p:nvSpPr>
        <p:spPr>
          <a:xfrm>
            <a:off x="1371600" y="4343400"/>
            <a:ext cx="3566160" cy="56692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Trình bày: Bình</a:t>
            </a:r>
            <a:endParaRPr lang="en-US" sz="1400" dirty="0"/>
          </a:p>
        </p:txBody>
      </p:sp>
      <p:sp>
        <p:nvSpPr>
          <p:cNvPr id="11" name="Text 7"/>
          <p:cNvSpPr/>
          <p:nvPr/>
        </p:nvSpPr>
        <p:spPr>
          <a:xfrm>
            <a:off x="868680" y="5120640"/>
            <a:ext cx="10058400" cy="137160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Kịch bản B “Lãi ngay” — asset-light</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P&amp;L 5 năm: doanh thu, EBITDA, lãi ròng</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Cấu trúc &amp; vốn góp nhà sáng lập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BÌNH · CHIẾN LƯỢC TÀI CHÍNH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Kịch bản B “Lãi ngay” — nhẹ tài sản</a:t>
            </a:r>
            <a:endParaRPr lang="en-US" sz="3000" dirty="0"/>
          </a:p>
        </p:txBody>
      </p:sp>
      <p:sp>
        <p:nvSpPr>
          <p:cNvPr id="5" name="Shape 3"/>
          <p:cNvSpPr/>
          <p:nvPr/>
        </p:nvSpPr>
        <p:spPr>
          <a:xfrm>
            <a:off x="640080" y="1737360"/>
            <a:ext cx="2679192" cy="1508760"/>
          </a:xfrm>
          <a:prstGeom prst="roundRect">
            <a:avLst>
              <a:gd name="adj" fmla="val 4848"/>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37360"/>
            <a:ext cx="2679192" cy="64008"/>
          </a:xfrm>
          <a:prstGeom prst="rect">
            <a:avLst/>
          </a:prstGeom>
          <a:solidFill>
            <a:srgbClr val="0D9488"/>
          </a:solidFill>
          <a:ln/>
        </p:spPr>
      </p:sp>
      <p:sp>
        <p:nvSpPr>
          <p:cNvPr id="7" name="Text 5"/>
          <p:cNvSpPr/>
          <p:nvPr/>
        </p:nvSpPr>
        <p:spPr>
          <a:xfrm>
            <a:off x="731520" y="1901952"/>
            <a:ext cx="2496312" cy="754380"/>
          </a:xfrm>
          <a:prstGeom prst="rect">
            <a:avLst/>
          </a:prstGeom>
          <a:noFill/>
          <a:ln/>
        </p:spPr>
        <p:txBody>
          <a:bodyPr wrap="square" lIns="0" tIns="0" rIns="0" bIns="0" rtlCol="0" anchor="ctr"/>
          <a:lstStyle/>
          <a:p>
            <a:pPr algn="ctr" indent="0" marL="0">
              <a:buNone/>
            </a:pPr>
            <a:r>
              <a:rPr lang="en-US" sz="2600" b="1" dirty="0">
                <a:solidFill>
                  <a:srgbClr val="0D9488"/>
                </a:solidFill>
                <a:latin typeface="Trebuchet MS" pitchFamily="34" charset="0"/>
                <a:ea typeface="Trebuchet MS" pitchFamily="34" charset="-122"/>
                <a:cs typeface="Trebuchet MS" pitchFamily="34" charset="-120"/>
              </a:rPr>
              <a:t>+10 tỷ</a:t>
            </a:r>
            <a:endParaRPr lang="en-US" sz="2600" dirty="0"/>
          </a:p>
        </p:txBody>
      </p:sp>
      <p:sp>
        <p:nvSpPr>
          <p:cNvPr id="8" name="Text 6"/>
          <p:cNvSpPr/>
          <p:nvPr/>
        </p:nvSpPr>
        <p:spPr>
          <a:xfrm>
            <a:off x="749808" y="2582266"/>
            <a:ext cx="2459736" cy="603504"/>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lãi ròng NGAY Năm 1</a:t>
            </a:r>
            <a:endParaRPr lang="en-US" sz="1100" dirty="0"/>
          </a:p>
        </p:txBody>
      </p:sp>
      <p:sp>
        <p:nvSpPr>
          <p:cNvPr id="9" name="Shape 7"/>
          <p:cNvSpPr/>
          <p:nvPr/>
        </p:nvSpPr>
        <p:spPr>
          <a:xfrm>
            <a:off x="3456432" y="1737360"/>
            <a:ext cx="2679192" cy="1508760"/>
          </a:xfrm>
          <a:prstGeom prst="roundRect">
            <a:avLst>
              <a:gd name="adj" fmla="val 4848"/>
            </a:avLst>
          </a:prstGeom>
          <a:solidFill>
            <a:srgbClr val="FFFFFF"/>
          </a:solidFill>
          <a:ln/>
          <a:effectLst>
            <a:outerShdw sx="100000" sy="100000" kx="0" ky="0" algn="bl" rotWithShape="0" blurRad="63500" dist="25400" dir="5400000">
              <a:srgbClr val="0F172A">
                <a:alpha val="10000"/>
              </a:srgbClr>
            </a:outerShdw>
          </a:effectLst>
        </p:spPr>
      </p:sp>
      <p:sp>
        <p:nvSpPr>
          <p:cNvPr id="10" name="Shape 8"/>
          <p:cNvSpPr/>
          <p:nvPr/>
        </p:nvSpPr>
        <p:spPr>
          <a:xfrm>
            <a:off x="3456432" y="1737360"/>
            <a:ext cx="2679192" cy="64008"/>
          </a:xfrm>
          <a:prstGeom prst="rect">
            <a:avLst/>
          </a:prstGeom>
          <a:solidFill>
            <a:srgbClr val="0F766E"/>
          </a:solidFill>
          <a:ln/>
        </p:spPr>
      </p:sp>
      <p:sp>
        <p:nvSpPr>
          <p:cNvPr id="11" name="Text 9"/>
          <p:cNvSpPr/>
          <p:nvPr/>
        </p:nvSpPr>
        <p:spPr>
          <a:xfrm>
            <a:off x="3547872" y="1901952"/>
            <a:ext cx="2496312" cy="754380"/>
          </a:xfrm>
          <a:prstGeom prst="rect">
            <a:avLst/>
          </a:prstGeom>
          <a:noFill/>
          <a:ln/>
        </p:spPr>
        <p:txBody>
          <a:bodyPr wrap="square" lIns="0" tIns="0" rIns="0" bIns="0" rtlCol="0" anchor="ctr"/>
          <a:lstStyle/>
          <a:p>
            <a:pPr algn="ctr" indent="0" marL="0">
              <a:buNone/>
            </a:pPr>
            <a:r>
              <a:rPr lang="en-US" sz="2600" b="1" dirty="0">
                <a:solidFill>
                  <a:srgbClr val="0F766E"/>
                </a:solidFill>
                <a:latin typeface="Trebuchet MS" pitchFamily="34" charset="0"/>
                <a:ea typeface="Trebuchet MS" pitchFamily="34" charset="-122"/>
                <a:cs typeface="Trebuchet MS" pitchFamily="34" charset="-120"/>
              </a:rPr>
              <a:t>Mọi năm</a:t>
            </a:r>
            <a:endParaRPr lang="en-US" sz="2600" dirty="0"/>
          </a:p>
        </p:txBody>
      </p:sp>
      <p:sp>
        <p:nvSpPr>
          <p:cNvPr id="12" name="Text 10"/>
          <p:cNvSpPr/>
          <p:nvPr/>
        </p:nvSpPr>
        <p:spPr>
          <a:xfrm>
            <a:off x="3566160" y="2582266"/>
            <a:ext cx="2459736" cy="603504"/>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đều có lãi (default-alive)</a:t>
            </a:r>
            <a:endParaRPr lang="en-US" sz="1100" dirty="0"/>
          </a:p>
        </p:txBody>
      </p:sp>
      <p:sp>
        <p:nvSpPr>
          <p:cNvPr id="13" name="Shape 11"/>
          <p:cNvSpPr/>
          <p:nvPr/>
        </p:nvSpPr>
        <p:spPr>
          <a:xfrm>
            <a:off x="6272784" y="1737360"/>
            <a:ext cx="2679192" cy="1508760"/>
          </a:xfrm>
          <a:prstGeom prst="roundRect">
            <a:avLst>
              <a:gd name="adj" fmla="val 4848"/>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6272784" y="1737360"/>
            <a:ext cx="2679192" cy="64008"/>
          </a:xfrm>
          <a:prstGeom prst="rect">
            <a:avLst/>
          </a:prstGeom>
          <a:solidFill>
            <a:srgbClr val="F5A623"/>
          </a:solidFill>
          <a:ln/>
        </p:spPr>
      </p:sp>
      <p:sp>
        <p:nvSpPr>
          <p:cNvPr id="15" name="Text 13"/>
          <p:cNvSpPr/>
          <p:nvPr/>
        </p:nvSpPr>
        <p:spPr>
          <a:xfrm>
            <a:off x="6364224" y="1901952"/>
            <a:ext cx="2496312" cy="754380"/>
          </a:xfrm>
          <a:prstGeom prst="rect">
            <a:avLst/>
          </a:prstGeom>
          <a:noFill/>
          <a:ln/>
        </p:spPr>
        <p:txBody>
          <a:bodyPr wrap="square" lIns="0" tIns="0" rIns="0" bIns="0" rtlCol="0" anchor="ctr"/>
          <a:lstStyle/>
          <a:p>
            <a:pPr algn="ctr" indent="0" marL="0">
              <a:buNone/>
            </a:pPr>
            <a:r>
              <a:rPr lang="en-US" sz="2600" b="1" dirty="0">
                <a:solidFill>
                  <a:srgbClr val="F5A623"/>
                </a:solidFill>
                <a:latin typeface="Trebuchet MS" pitchFamily="34" charset="0"/>
                <a:ea typeface="Trebuchet MS" pitchFamily="34" charset="-122"/>
                <a:cs typeface="Trebuchet MS" pitchFamily="34" charset="-120"/>
              </a:rPr>
              <a:t>~15–20 tỷ</a:t>
            </a:r>
            <a:endParaRPr lang="en-US" sz="2600" dirty="0"/>
          </a:p>
        </p:txBody>
      </p:sp>
      <p:sp>
        <p:nvSpPr>
          <p:cNvPr id="16" name="Text 14"/>
          <p:cNvSpPr/>
          <p:nvPr/>
        </p:nvSpPr>
        <p:spPr>
          <a:xfrm>
            <a:off x="6382512" y="2582266"/>
            <a:ext cx="2459736" cy="603504"/>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vốn cần (KB A: ~289 tỷ lỗ)</a:t>
            </a:r>
            <a:endParaRPr lang="en-US" sz="1100" dirty="0"/>
          </a:p>
        </p:txBody>
      </p:sp>
      <p:sp>
        <p:nvSpPr>
          <p:cNvPr id="17" name="Shape 15"/>
          <p:cNvSpPr/>
          <p:nvPr/>
        </p:nvSpPr>
        <p:spPr>
          <a:xfrm>
            <a:off x="9089136" y="1737360"/>
            <a:ext cx="2459736" cy="1508760"/>
          </a:xfrm>
          <a:prstGeom prst="roundRect">
            <a:avLst>
              <a:gd name="adj" fmla="val 4848"/>
            </a:avLst>
          </a:prstGeom>
          <a:solidFill>
            <a:srgbClr val="FFFFFF"/>
          </a:solidFill>
          <a:ln/>
          <a:effectLst>
            <a:outerShdw sx="100000" sy="100000" kx="0" ky="0" algn="bl" rotWithShape="0" blurRad="63500" dist="25400" dir="5400000">
              <a:srgbClr val="0F172A">
                <a:alpha val="10000"/>
              </a:srgbClr>
            </a:outerShdw>
          </a:effectLst>
        </p:spPr>
      </p:sp>
      <p:sp>
        <p:nvSpPr>
          <p:cNvPr id="18" name="Shape 16"/>
          <p:cNvSpPr/>
          <p:nvPr/>
        </p:nvSpPr>
        <p:spPr>
          <a:xfrm>
            <a:off x="9089136" y="1737360"/>
            <a:ext cx="2459736" cy="64008"/>
          </a:xfrm>
          <a:prstGeom prst="rect">
            <a:avLst/>
          </a:prstGeom>
          <a:solidFill>
            <a:srgbClr val="FB7185"/>
          </a:solidFill>
          <a:ln/>
        </p:spPr>
      </p:sp>
      <p:sp>
        <p:nvSpPr>
          <p:cNvPr id="19" name="Text 17"/>
          <p:cNvSpPr/>
          <p:nvPr/>
        </p:nvSpPr>
        <p:spPr>
          <a:xfrm>
            <a:off x="9180576" y="1901952"/>
            <a:ext cx="2276856" cy="754380"/>
          </a:xfrm>
          <a:prstGeom prst="rect">
            <a:avLst/>
          </a:prstGeom>
          <a:noFill/>
          <a:ln/>
        </p:spPr>
        <p:txBody>
          <a:bodyPr wrap="square" lIns="0" tIns="0" rIns="0" bIns="0" rtlCol="0" anchor="ctr"/>
          <a:lstStyle/>
          <a:p>
            <a:pPr algn="ctr" indent="0" marL="0">
              <a:buNone/>
            </a:pPr>
            <a:r>
              <a:rPr lang="en-US" sz="2600" b="1" dirty="0">
                <a:solidFill>
                  <a:srgbClr val="FB7185"/>
                </a:solidFill>
                <a:latin typeface="Trebuchet MS" pitchFamily="34" charset="0"/>
                <a:ea typeface="Trebuchet MS" pitchFamily="34" charset="-122"/>
                <a:cs typeface="Trebuchet MS" pitchFamily="34" charset="-120"/>
              </a:rPr>
              <a:t>&gt;80%</a:t>
            </a:r>
            <a:endParaRPr lang="en-US" sz="2600" dirty="0"/>
          </a:p>
        </p:txBody>
      </p:sp>
      <p:sp>
        <p:nvSpPr>
          <p:cNvPr id="20" name="Text 18"/>
          <p:cNvSpPr/>
          <p:nvPr/>
        </p:nvSpPr>
        <p:spPr>
          <a:xfrm>
            <a:off x="9198864" y="2582266"/>
            <a:ext cx="2240280" cy="603504"/>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founders giữ cổ phần</a:t>
            </a:r>
            <a:endParaRPr lang="en-US" sz="1100" dirty="0"/>
          </a:p>
        </p:txBody>
      </p:sp>
      <p:sp>
        <p:nvSpPr>
          <p:cNvPr id="21" name="Shape 19"/>
          <p:cNvSpPr/>
          <p:nvPr/>
        </p:nvSpPr>
        <p:spPr>
          <a:xfrm>
            <a:off x="640080" y="3520440"/>
            <a:ext cx="5440680" cy="2606040"/>
          </a:xfrm>
          <a:prstGeom prst="roundRect">
            <a:avLst>
              <a:gd name="adj" fmla="val 2807"/>
            </a:avLst>
          </a:prstGeom>
          <a:solidFill>
            <a:srgbClr val="FFFFFF"/>
          </a:solidFill>
          <a:ln/>
          <a:effectLst>
            <a:outerShdw sx="100000" sy="100000" kx="0" ky="0" algn="bl" rotWithShape="0" blurRad="63500" dist="25400" dir="5400000">
              <a:srgbClr val="0F172A">
                <a:alpha val="10000"/>
              </a:srgbClr>
            </a:outerShdw>
          </a:effectLst>
        </p:spPr>
      </p:sp>
      <p:sp>
        <p:nvSpPr>
          <p:cNvPr id="22" name="Shape 20"/>
          <p:cNvSpPr/>
          <p:nvPr/>
        </p:nvSpPr>
        <p:spPr>
          <a:xfrm>
            <a:off x="640080" y="3520440"/>
            <a:ext cx="5440680" cy="64008"/>
          </a:xfrm>
          <a:prstGeom prst="rect">
            <a:avLst/>
          </a:prstGeom>
          <a:solidFill>
            <a:srgbClr val="0D9488"/>
          </a:solidFill>
          <a:ln/>
        </p:spPr>
      </p:sp>
      <p:sp>
        <p:nvSpPr>
          <p:cNvPr id="23" name="Text 21"/>
          <p:cNvSpPr/>
          <p:nvPr/>
        </p:nvSpPr>
        <p:spPr>
          <a:xfrm>
            <a:off x="914400" y="3703320"/>
            <a:ext cx="4937760" cy="365760"/>
          </a:xfrm>
          <a:prstGeom prst="rect">
            <a:avLst/>
          </a:prstGeom>
          <a:noFill/>
          <a:ln/>
        </p:spPr>
        <p:txBody>
          <a:bodyPr wrap="square" lIns="0" tIns="0" rIns="0" bIns="0" rtlCol="0" anchor="ctr"/>
          <a:lstStyle/>
          <a:p>
            <a:pPr indent="0" marL="0">
              <a:buNone/>
            </a:pPr>
            <a:r>
              <a:rPr lang="en-US" sz="1400" b="1" dirty="0">
                <a:solidFill>
                  <a:srgbClr val="0F766E"/>
                </a:solidFill>
                <a:latin typeface="Trebuchet MS" pitchFamily="34" charset="0"/>
                <a:ea typeface="Trebuchet MS" pitchFamily="34" charset="-122"/>
                <a:cs typeface="Trebuchet MS" pitchFamily="34" charset="-120"/>
              </a:rPr>
              <a:t>GIỮ — 3 trụ cột nhẹ vốn</a:t>
            </a:r>
            <a:endParaRPr lang="en-US" sz="1400" dirty="0"/>
          </a:p>
        </p:txBody>
      </p:sp>
      <p:sp>
        <p:nvSpPr>
          <p:cNvPr id="24" name="Text 22"/>
          <p:cNvSpPr/>
          <p:nvPr/>
        </p:nvSpPr>
        <p:spPr>
          <a:xfrm>
            <a:off x="914400" y="4114800"/>
            <a:ext cx="4937760" cy="182880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CareConnect — hoa hồng điều dưỡng (biên ~85%).</a:t>
            </a:r>
            <a:endParaRPr lang="en-US" sz="1150" dirty="0"/>
          </a:p>
          <a:p>
            <a:pPr marL="342900" indent="-342900">
              <a:lnSpc>
                <a:spcPct val="102000"/>
              </a:lnSpc>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TeleSpecialist &amp; gói thuê bao — doanh thu định kỳ.</a:t>
            </a:r>
            <a:endParaRPr lang="en-US" sz="1150" dirty="0"/>
          </a:p>
          <a:p>
            <a:pPr marL="342900" indent="-342900">
              <a:lnSpc>
                <a:spcPct val="102000"/>
              </a:lnSpc>
              <a:buSzPct val="100000"/>
              <a:buChar char="•"/>
            </a:pPr>
            <a:r>
              <a:rPr lang="en-US" sz="1150" dirty="0">
                <a:solidFill>
                  <a:srgbClr val="1E293B"/>
                </a:solidFill>
                <a:latin typeface="Calibri" pitchFamily="34" charset="0"/>
                <a:ea typeface="Calibri" pitchFamily="34" charset="-122"/>
                <a:cs typeface="Calibri" pitchFamily="34" charset="-120"/>
              </a:rPr>
              <a:t>Dược &amp; thiết bị — markup ~25%, không tồn kho lớn.</a:t>
            </a:r>
            <a:endParaRPr lang="en-US" sz="1150" dirty="0"/>
          </a:p>
        </p:txBody>
      </p:sp>
      <p:sp>
        <p:nvSpPr>
          <p:cNvPr id="25" name="Shape 23"/>
          <p:cNvSpPr/>
          <p:nvPr/>
        </p:nvSpPr>
        <p:spPr>
          <a:xfrm>
            <a:off x="6263640" y="3520440"/>
            <a:ext cx="5285232" cy="2606040"/>
          </a:xfrm>
          <a:prstGeom prst="roundRect">
            <a:avLst>
              <a:gd name="adj" fmla="val 2807"/>
            </a:avLst>
          </a:prstGeom>
          <a:solidFill>
            <a:srgbClr val="FFFFFF"/>
          </a:solidFill>
          <a:ln/>
          <a:effectLst>
            <a:outerShdw sx="100000" sy="100000" kx="0" ky="0" algn="bl" rotWithShape="0" blurRad="63500" dist="25400" dir="5400000">
              <a:srgbClr val="0F172A">
                <a:alpha val="10000"/>
              </a:srgbClr>
            </a:outerShdw>
          </a:effectLst>
        </p:spPr>
      </p:sp>
      <p:sp>
        <p:nvSpPr>
          <p:cNvPr id="26" name="Shape 24"/>
          <p:cNvSpPr/>
          <p:nvPr/>
        </p:nvSpPr>
        <p:spPr>
          <a:xfrm>
            <a:off x="6263640" y="3520440"/>
            <a:ext cx="5285232" cy="64008"/>
          </a:xfrm>
          <a:prstGeom prst="rect">
            <a:avLst/>
          </a:prstGeom>
          <a:solidFill>
            <a:srgbClr val="FB7185"/>
          </a:solidFill>
          <a:ln/>
        </p:spPr>
      </p:sp>
      <p:sp>
        <p:nvSpPr>
          <p:cNvPr id="27" name="Text 25"/>
          <p:cNvSpPr/>
          <p:nvPr/>
        </p:nvSpPr>
        <p:spPr>
          <a:xfrm>
            <a:off x="6537960" y="3703320"/>
            <a:ext cx="4800600" cy="365760"/>
          </a:xfrm>
          <a:prstGeom prst="rect">
            <a:avLst/>
          </a:prstGeom>
          <a:noFill/>
          <a:ln/>
        </p:spPr>
        <p:txBody>
          <a:bodyPr wrap="square" lIns="0" tIns="0" rIns="0" bIns="0" rtlCol="0" anchor="ctr"/>
          <a:lstStyle/>
          <a:p>
            <a:pPr indent="0" marL="0">
              <a:buNone/>
            </a:pPr>
            <a:r>
              <a:rPr lang="en-US" sz="1400" b="1" dirty="0">
                <a:solidFill>
                  <a:srgbClr val="FB7185"/>
                </a:solidFill>
                <a:latin typeface="Trebuchet MS" pitchFamily="34" charset="0"/>
                <a:ea typeface="Trebuchet MS" pitchFamily="34" charset="-122"/>
                <a:cs typeface="Trebuchet MS" pitchFamily="34" charset="-120"/>
              </a:rPr>
              <a:t>HOÃN — 2 mảng ngốn vốn</a:t>
            </a:r>
            <a:endParaRPr lang="en-US" sz="1400" dirty="0"/>
          </a:p>
        </p:txBody>
      </p:sp>
      <p:sp>
        <p:nvSpPr>
          <p:cNvPr id="28" name="Text 26"/>
          <p:cNvSpPr/>
          <p:nvPr/>
        </p:nvSpPr>
        <p:spPr>
          <a:xfrm>
            <a:off x="6537960" y="4114800"/>
            <a:ext cx="4800600" cy="182880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MedFin tự cấp vốn → chỉ ăn phí giới thiệu, ngân hàng cấp vốn.</a:t>
            </a:r>
            <a:endParaRPr lang="en-US" sz="1150" dirty="0"/>
          </a:p>
          <a:p>
            <a:pPr marL="342900" indent="-342900">
              <a:lnSpc>
                <a:spcPct val="102000"/>
              </a:lnSpc>
              <a:spcAft>
                <a:spcPts val="700"/>
              </a:spcAft>
              <a:buSzPct val="100000"/>
              <a:buChar char="•"/>
            </a:pPr>
            <a:r>
              <a:rPr lang="en-US" sz="1150" dirty="0">
                <a:solidFill>
                  <a:srgbClr val="1E293B"/>
                </a:solidFill>
                <a:latin typeface="Calibri" pitchFamily="34" charset="0"/>
                <a:ea typeface="Calibri" pitchFamily="34" charset="-122"/>
                <a:cs typeface="Calibri" pitchFamily="34" charset="-120"/>
              </a:rPr>
              <a:t>CareSense tự sản xuất → thuê thiết bị bên thứ 3.</a:t>
            </a:r>
            <a:endParaRPr lang="en-US" sz="1150" dirty="0"/>
          </a:p>
          <a:p>
            <a:pPr marL="342900" indent="-342900">
              <a:lnSpc>
                <a:spcPct val="102000"/>
              </a:lnSpc>
              <a:buSzPct val="100000"/>
              <a:buChar char="•"/>
            </a:pPr>
            <a:r>
              <a:rPr lang="en-US" sz="1150" dirty="0">
                <a:solidFill>
                  <a:srgbClr val="1E293B"/>
                </a:solidFill>
                <a:latin typeface="Calibri" pitchFamily="34" charset="0"/>
                <a:ea typeface="Calibri" pitchFamily="34" charset="-122"/>
                <a:cs typeface="Calibri" pitchFamily="34" charset="-120"/>
              </a:rPr>
              <a:t>→ Tránh “đốt tiền” như Kịch bản A, vẫn giữ trải nghiệm.</a:t>
            </a:r>
            <a:endParaRPr lang="en-US" sz="1150" dirty="0"/>
          </a:p>
        </p:txBody>
      </p:sp>
      <p:sp>
        <p:nvSpPr>
          <p:cNvPr id="29" name="Shape 27"/>
          <p:cNvSpPr/>
          <p:nvPr/>
        </p:nvSpPr>
        <p:spPr>
          <a:xfrm>
            <a:off x="0" y="6565392"/>
            <a:ext cx="12191695" cy="292608"/>
          </a:xfrm>
          <a:prstGeom prst="rect">
            <a:avLst/>
          </a:prstGeom>
          <a:solidFill>
            <a:srgbClr val="FFFFFF"/>
          </a:solidFill>
          <a:ln/>
        </p:spPr>
      </p:sp>
      <p:sp>
        <p:nvSpPr>
          <p:cNvPr id="30" name="Shape 28"/>
          <p:cNvSpPr/>
          <p:nvPr/>
        </p:nvSpPr>
        <p:spPr>
          <a:xfrm>
            <a:off x="0" y="6547104"/>
            <a:ext cx="12191695" cy="20117"/>
          </a:xfrm>
          <a:prstGeom prst="rect">
            <a:avLst/>
          </a:prstGeom>
          <a:solidFill>
            <a:srgbClr val="E2E8F0"/>
          </a:solidFill>
          <a:ln/>
        </p:spPr>
      </p:sp>
      <p:sp>
        <p:nvSpPr>
          <p:cNvPr id="31" name="Shape 29"/>
          <p:cNvSpPr/>
          <p:nvPr/>
        </p:nvSpPr>
        <p:spPr>
          <a:xfrm>
            <a:off x="457200" y="6624828"/>
            <a:ext cx="118872" cy="118872"/>
          </a:xfrm>
          <a:prstGeom prst="ellipse">
            <a:avLst/>
          </a:prstGeom>
          <a:solidFill>
            <a:srgbClr val="0D9488"/>
          </a:solidFill>
          <a:ln/>
        </p:spPr>
      </p:sp>
      <p:sp>
        <p:nvSpPr>
          <p:cNvPr id="32" name="Text 30"/>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3" name="Text 31"/>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4" name="Text 32"/>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BÌNH · TÀI CHÍNH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P&amp;L 5 năm — Kịch bản B (tỷ VNĐ)</a:t>
            </a:r>
            <a:endParaRPr lang="en-US" sz="3000" dirty="0"/>
          </a:p>
        </p:txBody>
      </p:sp>
      <p:sp>
        <p:nvSpPr>
          <p:cNvPr id="5" name="Shape 3"/>
          <p:cNvSpPr/>
          <p:nvPr/>
        </p:nvSpPr>
        <p:spPr>
          <a:xfrm>
            <a:off x="640080" y="1783080"/>
            <a:ext cx="6720840" cy="475488"/>
          </a:xfrm>
          <a:prstGeom prst="rect">
            <a:avLst/>
          </a:prstGeom>
          <a:solidFill>
            <a:srgbClr val="134E4A"/>
          </a:solidFill>
          <a:ln/>
        </p:spPr>
      </p:sp>
      <p:sp>
        <p:nvSpPr>
          <p:cNvPr id="6" name="Text 4"/>
          <p:cNvSpPr/>
          <p:nvPr/>
        </p:nvSpPr>
        <p:spPr>
          <a:xfrm>
            <a:off x="749808" y="1783080"/>
            <a:ext cx="2221992" cy="475488"/>
          </a:xfrm>
          <a:prstGeom prst="rect">
            <a:avLst/>
          </a:prstGeom>
          <a:noFill/>
          <a:ln/>
        </p:spPr>
        <p:txBody>
          <a:bodyPr wrap="square" lIns="0" tIns="0" rIns="0" bIns="0" rtlCol="0" anchor="ctr"/>
          <a:lstStyle/>
          <a:p>
            <a:pPr algn="l" indent="0" marL="0">
              <a:buNone/>
            </a:pPr>
            <a:endParaRPr lang="en-US" sz="1100" dirty="0"/>
          </a:p>
        </p:txBody>
      </p:sp>
      <p:sp>
        <p:nvSpPr>
          <p:cNvPr id="7" name="Text 5"/>
          <p:cNvSpPr/>
          <p:nvPr/>
        </p:nvSpPr>
        <p:spPr>
          <a:xfrm>
            <a:off x="2971800" y="178308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Năm 1</a:t>
            </a:r>
            <a:endParaRPr lang="en-US" sz="1100" dirty="0"/>
          </a:p>
        </p:txBody>
      </p:sp>
      <p:sp>
        <p:nvSpPr>
          <p:cNvPr id="8" name="Text 6"/>
          <p:cNvSpPr/>
          <p:nvPr/>
        </p:nvSpPr>
        <p:spPr>
          <a:xfrm>
            <a:off x="3849624" y="178308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Năm 2</a:t>
            </a:r>
            <a:endParaRPr lang="en-US" sz="1100" dirty="0"/>
          </a:p>
        </p:txBody>
      </p:sp>
      <p:sp>
        <p:nvSpPr>
          <p:cNvPr id="9" name="Text 7"/>
          <p:cNvSpPr/>
          <p:nvPr/>
        </p:nvSpPr>
        <p:spPr>
          <a:xfrm>
            <a:off x="4727448" y="178308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Năm 3</a:t>
            </a:r>
            <a:endParaRPr lang="en-US" sz="1100" dirty="0"/>
          </a:p>
        </p:txBody>
      </p:sp>
      <p:sp>
        <p:nvSpPr>
          <p:cNvPr id="10" name="Text 8"/>
          <p:cNvSpPr/>
          <p:nvPr/>
        </p:nvSpPr>
        <p:spPr>
          <a:xfrm>
            <a:off x="5605272" y="178308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Năm 4</a:t>
            </a:r>
            <a:endParaRPr lang="en-US" sz="1100" dirty="0"/>
          </a:p>
        </p:txBody>
      </p:sp>
      <p:sp>
        <p:nvSpPr>
          <p:cNvPr id="11" name="Text 9"/>
          <p:cNvSpPr/>
          <p:nvPr/>
        </p:nvSpPr>
        <p:spPr>
          <a:xfrm>
            <a:off x="6483096" y="178308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Năm 5</a:t>
            </a:r>
            <a:endParaRPr lang="en-US" sz="1100" dirty="0"/>
          </a:p>
        </p:txBody>
      </p:sp>
      <p:sp>
        <p:nvSpPr>
          <p:cNvPr id="12" name="Shape 10"/>
          <p:cNvSpPr/>
          <p:nvPr/>
        </p:nvSpPr>
        <p:spPr>
          <a:xfrm>
            <a:off x="640080" y="2258568"/>
            <a:ext cx="6720840" cy="475488"/>
          </a:xfrm>
          <a:prstGeom prst="rect">
            <a:avLst/>
          </a:prstGeom>
          <a:solidFill>
            <a:srgbClr val="FFFFFF"/>
          </a:solidFill>
          <a:ln/>
        </p:spPr>
      </p:sp>
      <p:sp>
        <p:nvSpPr>
          <p:cNvPr id="13" name="Text 11"/>
          <p:cNvSpPr/>
          <p:nvPr/>
        </p:nvSpPr>
        <p:spPr>
          <a:xfrm>
            <a:off x="749808" y="2258568"/>
            <a:ext cx="2167128" cy="475488"/>
          </a:xfrm>
          <a:prstGeom prst="rect">
            <a:avLst/>
          </a:prstGeom>
          <a:noFill/>
          <a:ln/>
        </p:spPr>
        <p:txBody>
          <a:bodyPr wrap="square" lIns="0" tIns="0" rIns="0" bIns="0" rtlCol="0" anchor="ctr"/>
          <a:lstStyle/>
          <a:p>
            <a:pPr indent="0" marL="0">
              <a:buNone/>
            </a:pPr>
            <a:r>
              <a:rPr lang="en-US" sz="1050" dirty="0">
                <a:solidFill>
                  <a:srgbClr val="1E293B"/>
                </a:solidFill>
                <a:latin typeface="Trebuchet MS" pitchFamily="34" charset="0"/>
                <a:ea typeface="Trebuchet MS" pitchFamily="34" charset="-122"/>
                <a:cs typeface="Trebuchet MS" pitchFamily="34" charset="-120"/>
              </a:rPr>
              <a:t>Doanh thu thuần</a:t>
            </a:r>
            <a:endParaRPr lang="en-US" sz="1050" dirty="0"/>
          </a:p>
        </p:txBody>
      </p:sp>
      <p:sp>
        <p:nvSpPr>
          <p:cNvPr id="14" name="Text 12"/>
          <p:cNvSpPr/>
          <p:nvPr/>
        </p:nvSpPr>
        <p:spPr>
          <a:xfrm>
            <a:off x="2971800" y="225856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70,7</a:t>
            </a:r>
            <a:endParaRPr lang="en-US" sz="1100" dirty="0"/>
          </a:p>
        </p:txBody>
      </p:sp>
      <p:sp>
        <p:nvSpPr>
          <p:cNvPr id="15" name="Text 13"/>
          <p:cNvSpPr/>
          <p:nvPr/>
        </p:nvSpPr>
        <p:spPr>
          <a:xfrm>
            <a:off x="3849624" y="225856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122,4</a:t>
            </a:r>
            <a:endParaRPr lang="en-US" sz="1100" dirty="0"/>
          </a:p>
        </p:txBody>
      </p:sp>
      <p:sp>
        <p:nvSpPr>
          <p:cNvPr id="16" name="Text 14"/>
          <p:cNvSpPr/>
          <p:nvPr/>
        </p:nvSpPr>
        <p:spPr>
          <a:xfrm>
            <a:off x="4727448" y="225856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185,8</a:t>
            </a:r>
            <a:endParaRPr lang="en-US" sz="1100" dirty="0"/>
          </a:p>
        </p:txBody>
      </p:sp>
      <p:sp>
        <p:nvSpPr>
          <p:cNvPr id="17" name="Text 15"/>
          <p:cNvSpPr/>
          <p:nvPr/>
        </p:nvSpPr>
        <p:spPr>
          <a:xfrm>
            <a:off x="5605272" y="225856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269,0</a:t>
            </a:r>
            <a:endParaRPr lang="en-US" sz="1100" dirty="0"/>
          </a:p>
        </p:txBody>
      </p:sp>
      <p:sp>
        <p:nvSpPr>
          <p:cNvPr id="18" name="Text 16"/>
          <p:cNvSpPr/>
          <p:nvPr/>
        </p:nvSpPr>
        <p:spPr>
          <a:xfrm>
            <a:off x="6483096" y="225856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360,0</a:t>
            </a:r>
            <a:endParaRPr lang="en-US" sz="1100" dirty="0"/>
          </a:p>
        </p:txBody>
      </p:sp>
      <p:sp>
        <p:nvSpPr>
          <p:cNvPr id="19" name="Shape 17"/>
          <p:cNvSpPr/>
          <p:nvPr/>
        </p:nvSpPr>
        <p:spPr>
          <a:xfrm>
            <a:off x="640080" y="2734056"/>
            <a:ext cx="6720840" cy="475488"/>
          </a:xfrm>
          <a:prstGeom prst="rect">
            <a:avLst/>
          </a:prstGeom>
          <a:solidFill>
            <a:srgbClr val="F1F5F9"/>
          </a:solidFill>
          <a:ln/>
        </p:spPr>
      </p:sp>
      <p:sp>
        <p:nvSpPr>
          <p:cNvPr id="20" name="Text 18"/>
          <p:cNvSpPr/>
          <p:nvPr/>
        </p:nvSpPr>
        <p:spPr>
          <a:xfrm>
            <a:off x="749808" y="2734056"/>
            <a:ext cx="2167128" cy="475488"/>
          </a:xfrm>
          <a:prstGeom prst="rect">
            <a:avLst/>
          </a:prstGeom>
          <a:noFill/>
          <a:ln/>
        </p:spPr>
        <p:txBody>
          <a:bodyPr wrap="square" lIns="0" tIns="0" rIns="0" bIns="0" rtlCol="0" anchor="ctr"/>
          <a:lstStyle/>
          <a:p>
            <a:pPr indent="0" marL="0">
              <a:buNone/>
            </a:pPr>
            <a:r>
              <a:rPr lang="en-US" sz="1050" dirty="0">
                <a:solidFill>
                  <a:srgbClr val="1E293B"/>
                </a:solidFill>
                <a:latin typeface="Trebuchet MS" pitchFamily="34" charset="0"/>
                <a:ea typeface="Trebuchet MS" pitchFamily="34" charset="-122"/>
                <a:cs typeface="Trebuchet MS" pitchFamily="34" charset="-120"/>
              </a:rPr>
              <a:t>Gross margin</a:t>
            </a:r>
            <a:endParaRPr lang="en-US" sz="1050" dirty="0"/>
          </a:p>
        </p:txBody>
      </p:sp>
      <p:sp>
        <p:nvSpPr>
          <p:cNvPr id="21" name="Text 19"/>
          <p:cNvSpPr/>
          <p:nvPr/>
        </p:nvSpPr>
        <p:spPr>
          <a:xfrm>
            <a:off x="2971800" y="2734056"/>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54%</a:t>
            </a:r>
            <a:endParaRPr lang="en-US" sz="1100" dirty="0"/>
          </a:p>
        </p:txBody>
      </p:sp>
      <p:sp>
        <p:nvSpPr>
          <p:cNvPr id="22" name="Text 20"/>
          <p:cNvSpPr/>
          <p:nvPr/>
        </p:nvSpPr>
        <p:spPr>
          <a:xfrm>
            <a:off x="3849624" y="2734056"/>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56%</a:t>
            </a:r>
            <a:endParaRPr lang="en-US" sz="1100" dirty="0"/>
          </a:p>
        </p:txBody>
      </p:sp>
      <p:sp>
        <p:nvSpPr>
          <p:cNvPr id="23" name="Text 21"/>
          <p:cNvSpPr/>
          <p:nvPr/>
        </p:nvSpPr>
        <p:spPr>
          <a:xfrm>
            <a:off x="4727448" y="2734056"/>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58%</a:t>
            </a:r>
            <a:endParaRPr lang="en-US" sz="1100" dirty="0"/>
          </a:p>
        </p:txBody>
      </p:sp>
      <p:sp>
        <p:nvSpPr>
          <p:cNvPr id="24" name="Text 22"/>
          <p:cNvSpPr/>
          <p:nvPr/>
        </p:nvSpPr>
        <p:spPr>
          <a:xfrm>
            <a:off x="5605272" y="2734056"/>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60%</a:t>
            </a:r>
            <a:endParaRPr lang="en-US" sz="1100" dirty="0"/>
          </a:p>
        </p:txBody>
      </p:sp>
      <p:sp>
        <p:nvSpPr>
          <p:cNvPr id="25" name="Text 23"/>
          <p:cNvSpPr/>
          <p:nvPr/>
        </p:nvSpPr>
        <p:spPr>
          <a:xfrm>
            <a:off x="6483096" y="2734056"/>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62%</a:t>
            </a:r>
            <a:endParaRPr lang="en-US" sz="1100" dirty="0"/>
          </a:p>
        </p:txBody>
      </p:sp>
      <p:sp>
        <p:nvSpPr>
          <p:cNvPr id="26" name="Shape 24"/>
          <p:cNvSpPr/>
          <p:nvPr/>
        </p:nvSpPr>
        <p:spPr>
          <a:xfrm>
            <a:off x="640080" y="3209544"/>
            <a:ext cx="6720840" cy="475488"/>
          </a:xfrm>
          <a:prstGeom prst="rect">
            <a:avLst/>
          </a:prstGeom>
          <a:solidFill>
            <a:srgbClr val="FFFFFF"/>
          </a:solidFill>
          <a:ln/>
        </p:spPr>
      </p:sp>
      <p:sp>
        <p:nvSpPr>
          <p:cNvPr id="27" name="Text 25"/>
          <p:cNvSpPr/>
          <p:nvPr/>
        </p:nvSpPr>
        <p:spPr>
          <a:xfrm>
            <a:off x="749808" y="3209544"/>
            <a:ext cx="2167128" cy="475488"/>
          </a:xfrm>
          <a:prstGeom prst="rect">
            <a:avLst/>
          </a:prstGeom>
          <a:noFill/>
          <a:ln/>
        </p:spPr>
        <p:txBody>
          <a:bodyPr wrap="square" lIns="0" tIns="0" rIns="0" bIns="0" rtlCol="0" anchor="ctr"/>
          <a:lstStyle/>
          <a:p>
            <a:pPr indent="0" marL="0">
              <a:buNone/>
            </a:pPr>
            <a:r>
              <a:rPr lang="en-US" sz="1050" dirty="0">
                <a:solidFill>
                  <a:srgbClr val="1E293B"/>
                </a:solidFill>
                <a:latin typeface="Trebuchet MS" pitchFamily="34" charset="0"/>
                <a:ea typeface="Trebuchet MS" pitchFamily="34" charset="-122"/>
                <a:cs typeface="Trebuchet MS" pitchFamily="34" charset="-120"/>
              </a:rPr>
              <a:t>Tổng OpEx</a:t>
            </a:r>
            <a:endParaRPr lang="en-US" sz="1050" dirty="0"/>
          </a:p>
        </p:txBody>
      </p:sp>
      <p:sp>
        <p:nvSpPr>
          <p:cNvPr id="28" name="Text 26"/>
          <p:cNvSpPr/>
          <p:nvPr/>
        </p:nvSpPr>
        <p:spPr>
          <a:xfrm>
            <a:off x="2971800" y="3209544"/>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24,7</a:t>
            </a:r>
            <a:endParaRPr lang="en-US" sz="1100" dirty="0"/>
          </a:p>
        </p:txBody>
      </p:sp>
      <p:sp>
        <p:nvSpPr>
          <p:cNvPr id="29" name="Text 27"/>
          <p:cNvSpPr/>
          <p:nvPr/>
        </p:nvSpPr>
        <p:spPr>
          <a:xfrm>
            <a:off x="3849624" y="3209544"/>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45,5</a:t>
            </a:r>
            <a:endParaRPr lang="en-US" sz="1100" dirty="0"/>
          </a:p>
        </p:txBody>
      </p:sp>
      <p:sp>
        <p:nvSpPr>
          <p:cNvPr id="30" name="Text 28"/>
          <p:cNvSpPr/>
          <p:nvPr/>
        </p:nvSpPr>
        <p:spPr>
          <a:xfrm>
            <a:off x="4727448" y="3209544"/>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70,0</a:t>
            </a:r>
            <a:endParaRPr lang="en-US" sz="1100" dirty="0"/>
          </a:p>
        </p:txBody>
      </p:sp>
      <p:sp>
        <p:nvSpPr>
          <p:cNvPr id="31" name="Text 29"/>
          <p:cNvSpPr/>
          <p:nvPr/>
        </p:nvSpPr>
        <p:spPr>
          <a:xfrm>
            <a:off x="5605272" y="3209544"/>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102,4</a:t>
            </a:r>
            <a:endParaRPr lang="en-US" sz="1100" dirty="0"/>
          </a:p>
        </p:txBody>
      </p:sp>
      <p:sp>
        <p:nvSpPr>
          <p:cNvPr id="32" name="Text 30"/>
          <p:cNvSpPr/>
          <p:nvPr/>
        </p:nvSpPr>
        <p:spPr>
          <a:xfrm>
            <a:off x="6483096" y="3209544"/>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137,7</a:t>
            </a:r>
            <a:endParaRPr lang="en-US" sz="1100" dirty="0"/>
          </a:p>
        </p:txBody>
      </p:sp>
      <p:sp>
        <p:nvSpPr>
          <p:cNvPr id="33" name="Shape 31"/>
          <p:cNvSpPr/>
          <p:nvPr/>
        </p:nvSpPr>
        <p:spPr>
          <a:xfrm>
            <a:off x="640080" y="3685032"/>
            <a:ext cx="6720840" cy="475488"/>
          </a:xfrm>
          <a:prstGeom prst="rect">
            <a:avLst/>
          </a:prstGeom>
          <a:solidFill>
            <a:srgbClr val="F1F5F9"/>
          </a:solidFill>
          <a:ln/>
        </p:spPr>
      </p:sp>
      <p:sp>
        <p:nvSpPr>
          <p:cNvPr id="34" name="Text 32"/>
          <p:cNvSpPr/>
          <p:nvPr/>
        </p:nvSpPr>
        <p:spPr>
          <a:xfrm>
            <a:off x="749808" y="3685032"/>
            <a:ext cx="2167128" cy="475488"/>
          </a:xfrm>
          <a:prstGeom prst="rect">
            <a:avLst/>
          </a:prstGeom>
          <a:noFill/>
          <a:ln/>
        </p:spPr>
        <p:txBody>
          <a:bodyPr wrap="square" lIns="0" tIns="0" rIns="0" bIns="0" rtlCol="0" anchor="ctr"/>
          <a:lstStyle/>
          <a:p>
            <a:pPr indent="0" marL="0">
              <a:buNone/>
            </a:pPr>
            <a:r>
              <a:rPr lang="en-US" sz="1050" dirty="0">
                <a:solidFill>
                  <a:srgbClr val="1E293B"/>
                </a:solidFill>
                <a:latin typeface="Trebuchet MS" pitchFamily="34" charset="0"/>
                <a:ea typeface="Trebuchet MS" pitchFamily="34" charset="-122"/>
                <a:cs typeface="Trebuchet MS" pitchFamily="34" charset="-120"/>
              </a:rPr>
              <a:t>EBITDA</a:t>
            </a:r>
            <a:endParaRPr lang="en-US" sz="1050" dirty="0"/>
          </a:p>
        </p:txBody>
      </p:sp>
      <p:sp>
        <p:nvSpPr>
          <p:cNvPr id="35" name="Text 33"/>
          <p:cNvSpPr/>
          <p:nvPr/>
        </p:nvSpPr>
        <p:spPr>
          <a:xfrm>
            <a:off x="2971800" y="3685032"/>
            <a:ext cx="877824" cy="475488"/>
          </a:xfrm>
          <a:prstGeom prst="rect">
            <a:avLst/>
          </a:prstGeom>
          <a:noFill/>
          <a:ln/>
        </p:spPr>
        <p:txBody>
          <a:bodyPr wrap="square" lIns="0" tIns="0" rIns="0" bIns="0" rtlCol="0" anchor="ctr"/>
          <a:lstStyle/>
          <a:p>
            <a:pPr algn="ctr" indent="0" marL="0">
              <a:buNone/>
            </a:pPr>
            <a:r>
              <a:rPr lang="en-US" sz="1100" b="1" dirty="0">
                <a:solidFill>
                  <a:srgbClr val="0F766E"/>
                </a:solidFill>
                <a:latin typeface="Trebuchet MS" pitchFamily="34" charset="0"/>
                <a:ea typeface="Trebuchet MS" pitchFamily="34" charset="-122"/>
                <a:cs typeface="Trebuchet MS" pitchFamily="34" charset="-120"/>
              </a:rPr>
              <a:t>+13,5</a:t>
            </a:r>
            <a:endParaRPr lang="en-US" sz="1100" dirty="0"/>
          </a:p>
        </p:txBody>
      </p:sp>
      <p:sp>
        <p:nvSpPr>
          <p:cNvPr id="36" name="Text 34"/>
          <p:cNvSpPr/>
          <p:nvPr/>
        </p:nvSpPr>
        <p:spPr>
          <a:xfrm>
            <a:off x="3849624" y="3685032"/>
            <a:ext cx="877824" cy="475488"/>
          </a:xfrm>
          <a:prstGeom prst="rect">
            <a:avLst/>
          </a:prstGeom>
          <a:noFill/>
          <a:ln/>
        </p:spPr>
        <p:txBody>
          <a:bodyPr wrap="square" lIns="0" tIns="0" rIns="0" bIns="0" rtlCol="0" anchor="ctr"/>
          <a:lstStyle/>
          <a:p>
            <a:pPr algn="ctr" indent="0" marL="0">
              <a:buNone/>
            </a:pPr>
            <a:r>
              <a:rPr lang="en-US" sz="1100" b="1" dirty="0">
                <a:solidFill>
                  <a:srgbClr val="0F766E"/>
                </a:solidFill>
                <a:latin typeface="Trebuchet MS" pitchFamily="34" charset="0"/>
                <a:ea typeface="Trebuchet MS" pitchFamily="34" charset="-122"/>
                <a:cs typeface="Trebuchet MS" pitchFamily="34" charset="-120"/>
              </a:rPr>
              <a:t>+23,0</a:t>
            </a:r>
            <a:endParaRPr lang="en-US" sz="1100" dirty="0"/>
          </a:p>
        </p:txBody>
      </p:sp>
      <p:sp>
        <p:nvSpPr>
          <p:cNvPr id="37" name="Text 35"/>
          <p:cNvSpPr/>
          <p:nvPr/>
        </p:nvSpPr>
        <p:spPr>
          <a:xfrm>
            <a:off x="4727448" y="3685032"/>
            <a:ext cx="877824" cy="475488"/>
          </a:xfrm>
          <a:prstGeom prst="rect">
            <a:avLst/>
          </a:prstGeom>
          <a:noFill/>
          <a:ln/>
        </p:spPr>
        <p:txBody>
          <a:bodyPr wrap="square" lIns="0" tIns="0" rIns="0" bIns="0" rtlCol="0" anchor="ctr"/>
          <a:lstStyle/>
          <a:p>
            <a:pPr algn="ctr" indent="0" marL="0">
              <a:buNone/>
            </a:pPr>
            <a:r>
              <a:rPr lang="en-US" sz="1100" b="1" dirty="0">
                <a:solidFill>
                  <a:srgbClr val="0F766E"/>
                </a:solidFill>
                <a:latin typeface="Trebuchet MS" pitchFamily="34" charset="0"/>
                <a:ea typeface="Trebuchet MS" pitchFamily="34" charset="-122"/>
                <a:cs typeface="Trebuchet MS" pitchFamily="34" charset="-120"/>
              </a:rPr>
              <a:t>+37,8</a:t>
            </a:r>
            <a:endParaRPr lang="en-US" sz="1100" dirty="0"/>
          </a:p>
        </p:txBody>
      </p:sp>
      <p:sp>
        <p:nvSpPr>
          <p:cNvPr id="38" name="Text 36"/>
          <p:cNvSpPr/>
          <p:nvPr/>
        </p:nvSpPr>
        <p:spPr>
          <a:xfrm>
            <a:off x="5605272" y="3685032"/>
            <a:ext cx="877824" cy="475488"/>
          </a:xfrm>
          <a:prstGeom prst="rect">
            <a:avLst/>
          </a:prstGeom>
          <a:noFill/>
          <a:ln/>
        </p:spPr>
        <p:txBody>
          <a:bodyPr wrap="square" lIns="0" tIns="0" rIns="0" bIns="0" rtlCol="0" anchor="ctr"/>
          <a:lstStyle/>
          <a:p>
            <a:pPr algn="ctr" indent="0" marL="0">
              <a:buNone/>
            </a:pPr>
            <a:r>
              <a:rPr lang="en-US" sz="1100" b="1" dirty="0">
                <a:solidFill>
                  <a:srgbClr val="0F766E"/>
                </a:solidFill>
                <a:latin typeface="Trebuchet MS" pitchFamily="34" charset="0"/>
                <a:ea typeface="Trebuchet MS" pitchFamily="34" charset="-122"/>
                <a:cs typeface="Trebuchet MS" pitchFamily="34" charset="-120"/>
              </a:rPr>
              <a:t>+59,0</a:t>
            </a:r>
            <a:endParaRPr lang="en-US" sz="1100" dirty="0"/>
          </a:p>
        </p:txBody>
      </p:sp>
      <p:sp>
        <p:nvSpPr>
          <p:cNvPr id="39" name="Text 37"/>
          <p:cNvSpPr/>
          <p:nvPr/>
        </p:nvSpPr>
        <p:spPr>
          <a:xfrm>
            <a:off x="6483096" y="3685032"/>
            <a:ext cx="877824" cy="475488"/>
          </a:xfrm>
          <a:prstGeom prst="rect">
            <a:avLst/>
          </a:prstGeom>
          <a:noFill/>
          <a:ln/>
        </p:spPr>
        <p:txBody>
          <a:bodyPr wrap="square" lIns="0" tIns="0" rIns="0" bIns="0" rtlCol="0" anchor="ctr"/>
          <a:lstStyle/>
          <a:p>
            <a:pPr algn="ctr" indent="0" marL="0">
              <a:buNone/>
            </a:pPr>
            <a:r>
              <a:rPr lang="en-US" sz="1100" b="1" dirty="0">
                <a:solidFill>
                  <a:srgbClr val="0F766E"/>
                </a:solidFill>
                <a:latin typeface="Trebuchet MS" pitchFamily="34" charset="0"/>
                <a:ea typeface="Trebuchet MS" pitchFamily="34" charset="-122"/>
                <a:cs typeface="Trebuchet MS" pitchFamily="34" charset="-120"/>
              </a:rPr>
              <a:t>+85,5</a:t>
            </a:r>
            <a:endParaRPr lang="en-US" sz="1100" dirty="0"/>
          </a:p>
        </p:txBody>
      </p:sp>
      <p:sp>
        <p:nvSpPr>
          <p:cNvPr id="40" name="Shape 38"/>
          <p:cNvSpPr/>
          <p:nvPr/>
        </p:nvSpPr>
        <p:spPr>
          <a:xfrm>
            <a:off x="640080" y="4160520"/>
            <a:ext cx="6720840" cy="475488"/>
          </a:xfrm>
          <a:prstGeom prst="rect">
            <a:avLst/>
          </a:prstGeom>
          <a:solidFill>
            <a:srgbClr val="0D9488"/>
          </a:solidFill>
          <a:ln/>
        </p:spPr>
      </p:sp>
      <p:sp>
        <p:nvSpPr>
          <p:cNvPr id="41" name="Text 39"/>
          <p:cNvSpPr/>
          <p:nvPr/>
        </p:nvSpPr>
        <p:spPr>
          <a:xfrm>
            <a:off x="749808" y="4160520"/>
            <a:ext cx="2167128" cy="475488"/>
          </a:xfrm>
          <a:prstGeom prst="rect">
            <a:avLst/>
          </a:prstGeom>
          <a:noFill/>
          <a:ln/>
        </p:spPr>
        <p:txBody>
          <a:bodyPr wrap="square" lIns="0" tIns="0" rIns="0" bIns="0" rtlCol="0" anchor="ctr"/>
          <a:lstStyle/>
          <a:p>
            <a:pPr indent="0" marL="0">
              <a:buNone/>
            </a:pPr>
            <a:r>
              <a:rPr lang="en-US" sz="1050" b="1" dirty="0">
                <a:solidFill>
                  <a:srgbClr val="FFFFFF"/>
                </a:solidFill>
                <a:latin typeface="Trebuchet MS" pitchFamily="34" charset="0"/>
                <a:ea typeface="Trebuchet MS" pitchFamily="34" charset="-122"/>
                <a:cs typeface="Trebuchet MS" pitchFamily="34" charset="-120"/>
              </a:rPr>
              <a:t>Lãi ròng (sau thuế 20%)</a:t>
            </a:r>
            <a:endParaRPr lang="en-US" sz="1050" dirty="0"/>
          </a:p>
        </p:txBody>
      </p:sp>
      <p:sp>
        <p:nvSpPr>
          <p:cNvPr id="42" name="Text 40"/>
          <p:cNvSpPr/>
          <p:nvPr/>
        </p:nvSpPr>
        <p:spPr>
          <a:xfrm>
            <a:off x="2971800" y="416052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+10,0</a:t>
            </a:r>
            <a:endParaRPr lang="en-US" sz="1100" dirty="0"/>
          </a:p>
        </p:txBody>
      </p:sp>
      <p:sp>
        <p:nvSpPr>
          <p:cNvPr id="43" name="Text 41"/>
          <p:cNvSpPr/>
          <p:nvPr/>
        </p:nvSpPr>
        <p:spPr>
          <a:xfrm>
            <a:off x="3849624" y="416052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+17,0</a:t>
            </a:r>
            <a:endParaRPr lang="en-US" sz="1100" dirty="0"/>
          </a:p>
        </p:txBody>
      </p:sp>
      <p:sp>
        <p:nvSpPr>
          <p:cNvPr id="44" name="Text 42"/>
          <p:cNvSpPr/>
          <p:nvPr/>
        </p:nvSpPr>
        <p:spPr>
          <a:xfrm>
            <a:off x="4727448" y="416052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+28,0</a:t>
            </a:r>
            <a:endParaRPr lang="en-US" sz="1100" dirty="0"/>
          </a:p>
        </p:txBody>
      </p:sp>
      <p:sp>
        <p:nvSpPr>
          <p:cNvPr id="45" name="Text 43"/>
          <p:cNvSpPr/>
          <p:nvPr/>
        </p:nvSpPr>
        <p:spPr>
          <a:xfrm>
            <a:off x="5605272" y="416052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+44,0</a:t>
            </a:r>
            <a:endParaRPr lang="en-US" sz="1100" dirty="0"/>
          </a:p>
        </p:txBody>
      </p:sp>
      <p:sp>
        <p:nvSpPr>
          <p:cNvPr id="46" name="Text 44"/>
          <p:cNvSpPr/>
          <p:nvPr/>
        </p:nvSpPr>
        <p:spPr>
          <a:xfrm>
            <a:off x="6483096" y="4160520"/>
            <a:ext cx="877824"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+64,0</a:t>
            </a:r>
            <a:endParaRPr lang="en-US" sz="1100" dirty="0"/>
          </a:p>
        </p:txBody>
      </p:sp>
      <p:sp>
        <p:nvSpPr>
          <p:cNvPr id="47" name="Shape 45"/>
          <p:cNvSpPr/>
          <p:nvPr/>
        </p:nvSpPr>
        <p:spPr>
          <a:xfrm>
            <a:off x="640080" y="4636008"/>
            <a:ext cx="6720840" cy="475488"/>
          </a:xfrm>
          <a:prstGeom prst="rect">
            <a:avLst/>
          </a:prstGeom>
          <a:solidFill>
            <a:srgbClr val="F1F5F9"/>
          </a:solidFill>
          <a:ln/>
        </p:spPr>
      </p:sp>
      <p:sp>
        <p:nvSpPr>
          <p:cNvPr id="48" name="Text 46"/>
          <p:cNvSpPr/>
          <p:nvPr/>
        </p:nvSpPr>
        <p:spPr>
          <a:xfrm>
            <a:off x="749808" y="4636008"/>
            <a:ext cx="2167128" cy="475488"/>
          </a:xfrm>
          <a:prstGeom prst="rect">
            <a:avLst/>
          </a:prstGeom>
          <a:noFill/>
          <a:ln/>
        </p:spPr>
        <p:txBody>
          <a:bodyPr wrap="square" lIns="0" tIns="0" rIns="0" bIns="0" rtlCol="0" anchor="ctr"/>
          <a:lstStyle/>
          <a:p>
            <a:pPr indent="0" marL="0">
              <a:buNone/>
            </a:pPr>
            <a:r>
              <a:rPr lang="en-US" sz="1050" dirty="0">
                <a:solidFill>
                  <a:srgbClr val="1E293B"/>
                </a:solidFill>
                <a:latin typeface="Trebuchet MS" pitchFamily="34" charset="0"/>
                <a:ea typeface="Trebuchet MS" pitchFamily="34" charset="-122"/>
                <a:cs typeface="Trebuchet MS" pitchFamily="34" charset="-120"/>
              </a:rPr>
              <a:t>Biên lãi ròng</a:t>
            </a:r>
            <a:endParaRPr lang="en-US" sz="1050" dirty="0"/>
          </a:p>
        </p:txBody>
      </p:sp>
      <p:sp>
        <p:nvSpPr>
          <p:cNvPr id="49" name="Text 47"/>
          <p:cNvSpPr/>
          <p:nvPr/>
        </p:nvSpPr>
        <p:spPr>
          <a:xfrm>
            <a:off x="2971800" y="463600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14,1%</a:t>
            </a:r>
            <a:endParaRPr lang="en-US" sz="1100" dirty="0"/>
          </a:p>
        </p:txBody>
      </p:sp>
      <p:sp>
        <p:nvSpPr>
          <p:cNvPr id="50" name="Text 48"/>
          <p:cNvSpPr/>
          <p:nvPr/>
        </p:nvSpPr>
        <p:spPr>
          <a:xfrm>
            <a:off x="3849624" y="463600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13,9%</a:t>
            </a:r>
            <a:endParaRPr lang="en-US" sz="1100" dirty="0"/>
          </a:p>
        </p:txBody>
      </p:sp>
      <p:sp>
        <p:nvSpPr>
          <p:cNvPr id="51" name="Text 49"/>
          <p:cNvSpPr/>
          <p:nvPr/>
        </p:nvSpPr>
        <p:spPr>
          <a:xfrm>
            <a:off x="4727448" y="463600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15,1%</a:t>
            </a:r>
            <a:endParaRPr lang="en-US" sz="1100" dirty="0"/>
          </a:p>
        </p:txBody>
      </p:sp>
      <p:sp>
        <p:nvSpPr>
          <p:cNvPr id="52" name="Text 50"/>
          <p:cNvSpPr/>
          <p:nvPr/>
        </p:nvSpPr>
        <p:spPr>
          <a:xfrm>
            <a:off x="5605272" y="463600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16,4%</a:t>
            </a:r>
            <a:endParaRPr lang="en-US" sz="1100" dirty="0"/>
          </a:p>
        </p:txBody>
      </p:sp>
      <p:sp>
        <p:nvSpPr>
          <p:cNvPr id="53" name="Text 51"/>
          <p:cNvSpPr/>
          <p:nvPr/>
        </p:nvSpPr>
        <p:spPr>
          <a:xfrm>
            <a:off x="6483096" y="4636008"/>
            <a:ext cx="877824" cy="475488"/>
          </a:xfrm>
          <a:prstGeom prst="rect">
            <a:avLst/>
          </a:prstGeom>
          <a:noFill/>
          <a:ln/>
        </p:spPr>
        <p:txBody>
          <a:bodyPr wrap="square" lIns="0" tIns="0" rIns="0" bIns="0" rtlCol="0" anchor="ctr"/>
          <a:lstStyle/>
          <a:p>
            <a:pPr algn="ctr" indent="0" marL="0">
              <a:buNone/>
            </a:pPr>
            <a:r>
              <a:rPr lang="en-US" sz="1100" dirty="0">
                <a:solidFill>
                  <a:srgbClr val="64748B"/>
                </a:solidFill>
                <a:latin typeface="Trebuchet MS" pitchFamily="34" charset="0"/>
                <a:ea typeface="Trebuchet MS" pitchFamily="34" charset="-122"/>
                <a:cs typeface="Trebuchet MS" pitchFamily="34" charset="-120"/>
              </a:rPr>
              <a:t>17,8%</a:t>
            </a:r>
            <a:endParaRPr lang="en-US" sz="1100" dirty="0"/>
          </a:p>
        </p:txBody>
      </p:sp>
      <p:sp>
        <p:nvSpPr>
          <p:cNvPr id="54" name="Shape 52"/>
          <p:cNvSpPr/>
          <p:nvPr/>
        </p:nvSpPr>
        <p:spPr>
          <a:xfrm>
            <a:off x="640080" y="1783080"/>
            <a:ext cx="6720840" cy="3328416"/>
          </a:xfrm>
          <a:prstGeom prst="rect">
            <a:avLst/>
          </a:prstGeom>
          <a:ln w="12700">
            <a:solidFill>
              <a:srgbClr val="E2E8F0"/>
            </a:solidFill>
            <a:prstDash val="solid"/>
          </a:ln>
        </p:spPr>
      </p:sp>
      <p:sp>
        <p:nvSpPr>
          <p:cNvPr id="55" name="Shape 53"/>
          <p:cNvSpPr/>
          <p:nvPr/>
        </p:nvSpPr>
        <p:spPr>
          <a:xfrm>
            <a:off x="7543800" y="1783080"/>
            <a:ext cx="4005072" cy="4206240"/>
          </a:xfrm>
          <a:prstGeom prst="roundRect">
            <a:avLst>
              <a:gd name="adj" fmla="val 1826"/>
            </a:avLst>
          </a:prstGeom>
          <a:solidFill>
            <a:srgbClr val="FFFFFF"/>
          </a:solidFill>
          <a:ln/>
          <a:effectLst>
            <a:outerShdw sx="100000" sy="100000" kx="0" ky="0" algn="bl" rotWithShape="0" blurRad="63500" dist="25400" dir="5400000">
              <a:srgbClr val="0F172A">
                <a:alpha val="10000"/>
              </a:srgbClr>
            </a:outerShdw>
          </a:effectLst>
        </p:spPr>
      </p:sp>
      <p:sp>
        <p:nvSpPr>
          <p:cNvPr id="56" name="Text 54"/>
          <p:cNvSpPr/>
          <p:nvPr/>
        </p:nvSpPr>
        <p:spPr>
          <a:xfrm>
            <a:off x="7726680" y="1920240"/>
            <a:ext cx="3657600" cy="365760"/>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Lãi ròng theo năm (tỷ VNĐ)</a:t>
            </a:r>
            <a:endParaRPr lang="en-US" sz="1250" dirty="0"/>
          </a:p>
        </p:txBody>
      </p:sp>
      <p:graphicFrame>
        <p:nvGraphicFramePr>
          <p:cNvPr id="57" name="Chart 0" descr=""/>
          <p:cNvGraphicFramePr/>
          <p:nvPr/>
        </p:nvGraphicFramePr>
        <p:xfrm>
          <a:off x="7635240" y="2286000"/>
          <a:ext cx="3822192" cy="3566160"/>
        </p:xfrm>
        <a:graphic xmlns:a="http://schemas.openxmlformats.org/drawingml/2006/main">
          <a:graphicData uri="http://schemas.openxmlformats.org/drawingml/2006/chart">
            <c:chart xmlns:c="http://schemas.openxmlformats.org/drawingml/2006/chart" r:id="rId1"/>
          </a:graphicData>
        </a:graphic>
      </p:graphicFrame>
      <p:sp>
        <p:nvSpPr>
          <p:cNvPr id="58" name="Text 55"/>
          <p:cNvSpPr/>
          <p:nvPr/>
        </p:nvSpPr>
        <p:spPr>
          <a:xfrm>
            <a:off x="640080" y="6080760"/>
            <a:ext cx="667512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Dữ liệu minh họa / ước tính nội bộ.</a:t>
            </a:r>
            <a:endParaRPr lang="en-US" sz="900" dirty="0"/>
          </a:p>
        </p:txBody>
      </p:sp>
      <p:sp>
        <p:nvSpPr>
          <p:cNvPr id="59" name="Shape 56"/>
          <p:cNvSpPr/>
          <p:nvPr/>
        </p:nvSpPr>
        <p:spPr>
          <a:xfrm>
            <a:off x="0" y="6565392"/>
            <a:ext cx="12191695" cy="292608"/>
          </a:xfrm>
          <a:prstGeom prst="rect">
            <a:avLst/>
          </a:prstGeom>
          <a:solidFill>
            <a:srgbClr val="FFFFFF"/>
          </a:solidFill>
          <a:ln/>
        </p:spPr>
      </p:sp>
      <p:sp>
        <p:nvSpPr>
          <p:cNvPr id="60" name="Shape 57"/>
          <p:cNvSpPr/>
          <p:nvPr/>
        </p:nvSpPr>
        <p:spPr>
          <a:xfrm>
            <a:off x="0" y="6547104"/>
            <a:ext cx="12191695" cy="20117"/>
          </a:xfrm>
          <a:prstGeom prst="rect">
            <a:avLst/>
          </a:prstGeom>
          <a:solidFill>
            <a:srgbClr val="E2E8F0"/>
          </a:solidFill>
          <a:ln/>
        </p:spPr>
      </p:sp>
      <p:sp>
        <p:nvSpPr>
          <p:cNvPr id="61" name="Shape 58"/>
          <p:cNvSpPr/>
          <p:nvPr/>
        </p:nvSpPr>
        <p:spPr>
          <a:xfrm>
            <a:off x="457200" y="6624828"/>
            <a:ext cx="118872" cy="118872"/>
          </a:xfrm>
          <a:prstGeom prst="ellipse">
            <a:avLst/>
          </a:prstGeom>
          <a:solidFill>
            <a:srgbClr val="0D9488"/>
          </a:solidFill>
          <a:ln/>
        </p:spPr>
      </p:sp>
      <p:sp>
        <p:nvSpPr>
          <p:cNvPr id="62" name="Text 59"/>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63" name="Text 60"/>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64" name="Text 61"/>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BÌNH · NHÀ SÁNG LẬP</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Vốn góp &amp; cấu trúc sở hữu</a:t>
            </a:r>
            <a:endParaRPr lang="en-US" sz="3000" dirty="0"/>
          </a:p>
        </p:txBody>
      </p:sp>
      <p:sp>
        <p:nvSpPr>
          <p:cNvPr id="5" name="Shape 3"/>
          <p:cNvSpPr/>
          <p:nvPr/>
        </p:nvSpPr>
        <p:spPr>
          <a:xfrm>
            <a:off x="640080" y="1783080"/>
            <a:ext cx="2679192"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83080"/>
            <a:ext cx="2679192" cy="64008"/>
          </a:xfrm>
          <a:prstGeom prst="rect">
            <a:avLst/>
          </a:prstGeom>
          <a:solidFill>
            <a:srgbClr val="0D9488"/>
          </a:solidFill>
          <a:ln/>
        </p:spPr>
      </p:sp>
      <p:sp>
        <p:nvSpPr>
          <p:cNvPr id="7" name="Text 5"/>
          <p:cNvSpPr/>
          <p:nvPr/>
        </p:nvSpPr>
        <p:spPr>
          <a:xfrm>
            <a:off x="731520" y="1947672"/>
            <a:ext cx="2496312" cy="777240"/>
          </a:xfrm>
          <a:prstGeom prst="rect">
            <a:avLst/>
          </a:prstGeom>
          <a:noFill/>
          <a:ln/>
        </p:spPr>
        <p:txBody>
          <a:bodyPr wrap="square" lIns="0" tIns="0" rIns="0" bIns="0" rtlCol="0" anchor="ctr"/>
          <a:lstStyle/>
          <a:p>
            <a:pPr algn="ctr" indent="0" marL="0">
              <a:buNone/>
            </a:pPr>
            <a:r>
              <a:rPr lang="en-US" sz="2600" b="1" dirty="0">
                <a:solidFill>
                  <a:srgbClr val="0D9488"/>
                </a:solidFill>
                <a:latin typeface="Trebuchet MS" pitchFamily="34" charset="0"/>
                <a:ea typeface="Trebuchet MS" pitchFamily="34" charset="-122"/>
                <a:cs typeface="Trebuchet MS" pitchFamily="34" charset="-120"/>
              </a:rPr>
              <a:t>6,0 tỷ</a:t>
            </a:r>
            <a:endParaRPr lang="en-US" sz="2600" dirty="0"/>
          </a:p>
        </p:txBody>
      </p:sp>
      <p:sp>
        <p:nvSpPr>
          <p:cNvPr id="8" name="Text 6"/>
          <p:cNvSpPr/>
          <p:nvPr/>
        </p:nvSpPr>
        <p:spPr>
          <a:xfrm>
            <a:off x="749808" y="2653589"/>
            <a:ext cx="2459736"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vốn góp (1 tỷ × 6 founder)</a:t>
            </a:r>
            <a:endParaRPr lang="en-US" sz="1100" dirty="0"/>
          </a:p>
        </p:txBody>
      </p:sp>
      <p:sp>
        <p:nvSpPr>
          <p:cNvPr id="9" name="Shape 7"/>
          <p:cNvSpPr/>
          <p:nvPr/>
        </p:nvSpPr>
        <p:spPr>
          <a:xfrm>
            <a:off x="3456432" y="1783080"/>
            <a:ext cx="2679192"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10" name="Shape 8"/>
          <p:cNvSpPr/>
          <p:nvPr/>
        </p:nvSpPr>
        <p:spPr>
          <a:xfrm>
            <a:off x="3456432" y="1783080"/>
            <a:ext cx="2679192" cy="64008"/>
          </a:xfrm>
          <a:prstGeom prst="rect">
            <a:avLst/>
          </a:prstGeom>
          <a:solidFill>
            <a:srgbClr val="0F766E"/>
          </a:solidFill>
          <a:ln/>
        </p:spPr>
      </p:sp>
      <p:sp>
        <p:nvSpPr>
          <p:cNvPr id="11" name="Text 9"/>
          <p:cNvSpPr/>
          <p:nvPr/>
        </p:nvSpPr>
        <p:spPr>
          <a:xfrm>
            <a:off x="3547872" y="1947672"/>
            <a:ext cx="2496312" cy="777240"/>
          </a:xfrm>
          <a:prstGeom prst="rect">
            <a:avLst/>
          </a:prstGeom>
          <a:noFill/>
          <a:ln/>
        </p:spPr>
        <p:txBody>
          <a:bodyPr wrap="square" lIns="0" tIns="0" rIns="0" bIns="0" rtlCol="0" anchor="ctr"/>
          <a:lstStyle/>
          <a:p>
            <a:pPr algn="ctr" indent="0" marL="0">
              <a:buNone/>
            </a:pPr>
            <a:r>
              <a:rPr lang="en-US" sz="2600" b="1" dirty="0">
                <a:solidFill>
                  <a:srgbClr val="0F766E"/>
                </a:solidFill>
                <a:latin typeface="Trebuchet MS" pitchFamily="34" charset="0"/>
                <a:ea typeface="Trebuchet MS" pitchFamily="34" charset="-122"/>
                <a:cs typeface="Trebuchet MS" pitchFamily="34" charset="-120"/>
              </a:rPr>
              <a:t>3 đợt</a:t>
            </a:r>
            <a:endParaRPr lang="en-US" sz="2600" dirty="0"/>
          </a:p>
        </p:txBody>
      </p:sp>
      <p:sp>
        <p:nvSpPr>
          <p:cNvPr id="12" name="Text 10"/>
          <p:cNvSpPr/>
          <p:nvPr/>
        </p:nvSpPr>
        <p:spPr>
          <a:xfrm>
            <a:off x="3566160" y="2653589"/>
            <a:ext cx="2459736"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góp theo milestone 40/30/30%</a:t>
            </a:r>
            <a:endParaRPr lang="en-US" sz="1100" dirty="0"/>
          </a:p>
        </p:txBody>
      </p:sp>
      <p:sp>
        <p:nvSpPr>
          <p:cNvPr id="13" name="Shape 11"/>
          <p:cNvSpPr/>
          <p:nvPr/>
        </p:nvSpPr>
        <p:spPr>
          <a:xfrm>
            <a:off x="6272784" y="1783080"/>
            <a:ext cx="2679192"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6272784" y="1783080"/>
            <a:ext cx="2679192" cy="64008"/>
          </a:xfrm>
          <a:prstGeom prst="rect">
            <a:avLst/>
          </a:prstGeom>
          <a:solidFill>
            <a:srgbClr val="F5A623"/>
          </a:solidFill>
          <a:ln/>
        </p:spPr>
      </p:sp>
      <p:sp>
        <p:nvSpPr>
          <p:cNvPr id="15" name="Text 13"/>
          <p:cNvSpPr/>
          <p:nvPr/>
        </p:nvSpPr>
        <p:spPr>
          <a:xfrm>
            <a:off x="6364224" y="1947672"/>
            <a:ext cx="2496312" cy="777240"/>
          </a:xfrm>
          <a:prstGeom prst="rect">
            <a:avLst/>
          </a:prstGeom>
          <a:noFill/>
          <a:ln/>
        </p:spPr>
        <p:txBody>
          <a:bodyPr wrap="square" lIns="0" tIns="0" rIns="0" bIns="0" rtlCol="0" anchor="ctr"/>
          <a:lstStyle/>
          <a:p>
            <a:pPr algn="ctr" indent="0" marL="0">
              <a:buNone/>
            </a:pPr>
            <a:r>
              <a:rPr lang="en-US" sz="2600" b="1" dirty="0">
                <a:solidFill>
                  <a:srgbClr val="F5A623"/>
                </a:solidFill>
                <a:latin typeface="Trebuchet MS" pitchFamily="34" charset="0"/>
                <a:ea typeface="Trebuchet MS" pitchFamily="34" charset="-122"/>
                <a:cs typeface="Trebuchet MS" pitchFamily="34" charset="-120"/>
              </a:rPr>
              <a:t>&gt;80%</a:t>
            </a:r>
            <a:endParaRPr lang="en-US" sz="2600" dirty="0"/>
          </a:p>
        </p:txBody>
      </p:sp>
      <p:sp>
        <p:nvSpPr>
          <p:cNvPr id="16" name="Text 14"/>
          <p:cNvSpPr/>
          <p:nvPr/>
        </p:nvSpPr>
        <p:spPr>
          <a:xfrm>
            <a:off x="6382512" y="2653589"/>
            <a:ext cx="2459736"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founders giữ (seed ~10 tỷ tùy chọn)</a:t>
            </a:r>
            <a:endParaRPr lang="en-US" sz="1100" dirty="0"/>
          </a:p>
        </p:txBody>
      </p:sp>
      <p:sp>
        <p:nvSpPr>
          <p:cNvPr id="17" name="Shape 15"/>
          <p:cNvSpPr/>
          <p:nvPr/>
        </p:nvSpPr>
        <p:spPr>
          <a:xfrm>
            <a:off x="9089136" y="1783080"/>
            <a:ext cx="2459736" cy="1554480"/>
          </a:xfrm>
          <a:prstGeom prst="roundRect">
            <a:avLst>
              <a:gd name="adj" fmla="val 4706"/>
            </a:avLst>
          </a:prstGeom>
          <a:solidFill>
            <a:srgbClr val="FFFFFF"/>
          </a:solidFill>
          <a:ln/>
          <a:effectLst>
            <a:outerShdw sx="100000" sy="100000" kx="0" ky="0" algn="bl" rotWithShape="0" blurRad="63500" dist="25400" dir="5400000">
              <a:srgbClr val="0F172A">
                <a:alpha val="10000"/>
              </a:srgbClr>
            </a:outerShdw>
          </a:effectLst>
        </p:spPr>
      </p:sp>
      <p:sp>
        <p:nvSpPr>
          <p:cNvPr id="18" name="Shape 16"/>
          <p:cNvSpPr/>
          <p:nvPr/>
        </p:nvSpPr>
        <p:spPr>
          <a:xfrm>
            <a:off x="9089136" y="1783080"/>
            <a:ext cx="2459736" cy="64008"/>
          </a:xfrm>
          <a:prstGeom prst="rect">
            <a:avLst/>
          </a:prstGeom>
          <a:solidFill>
            <a:srgbClr val="FB7185"/>
          </a:solidFill>
          <a:ln/>
        </p:spPr>
      </p:sp>
      <p:sp>
        <p:nvSpPr>
          <p:cNvPr id="19" name="Text 17"/>
          <p:cNvSpPr/>
          <p:nvPr/>
        </p:nvSpPr>
        <p:spPr>
          <a:xfrm>
            <a:off x="9180576" y="1947672"/>
            <a:ext cx="2276856" cy="777240"/>
          </a:xfrm>
          <a:prstGeom prst="rect">
            <a:avLst/>
          </a:prstGeom>
          <a:noFill/>
          <a:ln/>
        </p:spPr>
        <p:txBody>
          <a:bodyPr wrap="square" lIns="0" tIns="0" rIns="0" bIns="0" rtlCol="0" anchor="ctr"/>
          <a:lstStyle/>
          <a:p>
            <a:pPr algn="ctr" indent="0" marL="0">
              <a:buNone/>
            </a:pPr>
            <a:r>
              <a:rPr lang="en-US" sz="2600" b="1" dirty="0">
                <a:solidFill>
                  <a:srgbClr val="FB7185"/>
                </a:solidFill>
                <a:latin typeface="Trebuchet MS" pitchFamily="34" charset="0"/>
                <a:ea typeface="Trebuchet MS" pitchFamily="34" charset="-122"/>
                <a:cs typeface="Trebuchet MS" pitchFamily="34" charset="-120"/>
              </a:rPr>
              <a:t>100%</a:t>
            </a:r>
            <a:endParaRPr lang="en-US" sz="2600" dirty="0"/>
          </a:p>
        </p:txBody>
      </p:sp>
      <p:sp>
        <p:nvSpPr>
          <p:cNvPr id="20" name="Text 18"/>
          <p:cNvSpPr/>
          <p:nvPr/>
        </p:nvSpPr>
        <p:spPr>
          <a:xfrm>
            <a:off x="9198864" y="2653589"/>
            <a:ext cx="2240280" cy="621792"/>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CEO 20% + 5×16%</a:t>
            </a:r>
            <a:endParaRPr lang="en-US" sz="1100" dirty="0"/>
          </a:p>
        </p:txBody>
      </p:sp>
      <p:sp>
        <p:nvSpPr>
          <p:cNvPr id="21" name="Shape 19"/>
          <p:cNvSpPr/>
          <p:nvPr/>
        </p:nvSpPr>
        <p:spPr>
          <a:xfrm>
            <a:off x="640080" y="3611880"/>
            <a:ext cx="5440680" cy="2514600"/>
          </a:xfrm>
          <a:prstGeom prst="roundRect">
            <a:avLst>
              <a:gd name="adj" fmla="val 2909"/>
            </a:avLst>
          </a:prstGeom>
          <a:solidFill>
            <a:srgbClr val="FFFFFF"/>
          </a:solidFill>
          <a:ln/>
          <a:effectLst>
            <a:outerShdw sx="100000" sy="100000" kx="0" ky="0" algn="bl" rotWithShape="0" blurRad="63500" dist="25400" dir="5400000">
              <a:srgbClr val="0F172A">
                <a:alpha val="10000"/>
              </a:srgbClr>
            </a:outerShdw>
          </a:effectLst>
        </p:spPr>
      </p:sp>
      <p:sp>
        <p:nvSpPr>
          <p:cNvPr id="22" name="Text 20"/>
          <p:cNvSpPr/>
          <p:nvPr/>
        </p:nvSpPr>
        <p:spPr>
          <a:xfrm>
            <a:off x="914400" y="3767328"/>
            <a:ext cx="4937760" cy="365760"/>
          </a:xfrm>
          <a:prstGeom prst="rect">
            <a:avLst/>
          </a:prstGeom>
          <a:noFill/>
          <a:ln/>
        </p:spPr>
        <p:txBody>
          <a:bodyPr wrap="square" lIns="0" tIns="0" rIns="0" bIns="0" rtlCol="0" anchor="ctr"/>
          <a:lstStyle/>
          <a:p>
            <a:pPr indent="0" marL="0">
              <a:buNone/>
            </a:pPr>
            <a:r>
              <a:rPr lang="en-US" sz="1400" b="1" dirty="0">
                <a:solidFill>
                  <a:srgbClr val="0F766E"/>
                </a:solidFill>
                <a:latin typeface="Trebuchet MS" pitchFamily="34" charset="0"/>
                <a:ea typeface="Trebuchet MS" pitchFamily="34" charset="-122"/>
                <a:cs typeface="Trebuchet MS" pitchFamily="34" charset="-120"/>
              </a:rPr>
              <a:t>Thời gian cam kết</a:t>
            </a:r>
            <a:endParaRPr lang="en-US" sz="1400" dirty="0"/>
          </a:p>
        </p:txBody>
      </p:sp>
      <p:sp>
        <p:nvSpPr>
          <p:cNvPr id="23" name="Text 21"/>
          <p:cNvSpPr/>
          <p:nvPr/>
        </p:nvSpPr>
        <p:spPr>
          <a:xfrm>
            <a:off x="914400" y="4187952"/>
            <a:ext cx="4937760" cy="1828800"/>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Phase 0: cả 6 part-time 15–20h/tuần.</a:t>
            </a:r>
            <a:endParaRPr lang="en-US" sz="1150" dirty="0"/>
          </a:p>
          <a:p>
            <a:pPr marL="342900" indent="-342900">
              <a:lnSpc>
                <a:spcPct val="102000"/>
              </a:lnSpc>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Năm 1: CEO + COO full-time, 4 người part-time.</a:t>
            </a:r>
            <a:endParaRPr lang="en-US" sz="1150" dirty="0"/>
          </a:p>
          <a:p>
            <a:pPr marL="342900" indent="-342900">
              <a:lnSpc>
                <a:spcPct val="102000"/>
              </a:lnSpc>
              <a:buSzPct val="100000"/>
              <a:buChar char="•"/>
            </a:pPr>
            <a:r>
              <a:rPr lang="en-US" sz="1150" dirty="0">
                <a:solidFill>
                  <a:srgbClr val="1E293B"/>
                </a:solidFill>
                <a:latin typeface="Calibri" pitchFamily="34" charset="0"/>
                <a:ea typeface="Calibri" pitchFamily="34" charset="-122"/>
                <a:cs typeface="Calibri" pitchFamily="34" charset="-120"/>
              </a:rPr>
              <a:t>Full-time hóa theo trigger doanh thu — giảm rủi ro.</a:t>
            </a:r>
            <a:endParaRPr lang="en-US" sz="1150" dirty="0"/>
          </a:p>
        </p:txBody>
      </p:sp>
      <p:sp>
        <p:nvSpPr>
          <p:cNvPr id="24" name="Shape 22"/>
          <p:cNvSpPr/>
          <p:nvPr/>
        </p:nvSpPr>
        <p:spPr>
          <a:xfrm>
            <a:off x="6263640" y="3611880"/>
            <a:ext cx="5285232" cy="2514600"/>
          </a:xfrm>
          <a:prstGeom prst="roundRect">
            <a:avLst>
              <a:gd name="adj" fmla="val 2909"/>
            </a:avLst>
          </a:prstGeom>
          <a:solidFill>
            <a:srgbClr val="FFFFFF"/>
          </a:solidFill>
          <a:ln/>
          <a:effectLst>
            <a:outerShdw sx="100000" sy="100000" kx="0" ky="0" algn="bl" rotWithShape="0" blurRad="63500" dist="25400" dir="5400000">
              <a:srgbClr val="0F172A">
                <a:alpha val="10000"/>
              </a:srgbClr>
            </a:outerShdw>
          </a:effectLst>
        </p:spPr>
      </p:sp>
      <p:sp>
        <p:nvSpPr>
          <p:cNvPr id="25" name="Text 23"/>
          <p:cNvSpPr/>
          <p:nvPr/>
        </p:nvSpPr>
        <p:spPr>
          <a:xfrm>
            <a:off x="6537960" y="3767328"/>
            <a:ext cx="4800600" cy="365760"/>
          </a:xfrm>
          <a:prstGeom prst="rect">
            <a:avLst/>
          </a:prstGeom>
          <a:noFill/>
          <a:ln/>
        </p:spPr>
        <p:txBody>
          <a:bodyPr wrap="square" lIns="0" tIns="0" rIns="0" bIns="0" rtlCol="0" anchor="ctr"/>
          <a:lstStyle/>
          <a:p>
            <a:pPr indent="0" marL="0">
              <a:buNone/>
            </a:pPr>
            <a:r>
              <a:rPr lang="en-US" sz="1400" b="1" dirty="0">
                <a:solidFill>
                  <a:srgbClr val="0F766E"/>
                </a:solidFill>
                <a:latin typeface="Trebuchet MS" pitchFamily="34" charset="0"/>
                <a:ea typeface="Trebuchet MS" pitchFamily="34" charset="-122"/>
                <a:cs typeface="Trebuchet MS" pitchFamily="34" charset="-120"/>
              </a:rPr>
              <a:t>Thoái vốn &amp; vesting</a:t>
            </a:r>
            <a:endParaRPr lang="en-US" sz="1400" dirty="0"/>
          </a:p>
        </p:txBody>
      </p:sp>
      <p:sp>
        <p:nvSpPr>
          <p:cNvPr id="26" name="Text 24"/>
          <p:cNvSpPr/>
          <p:nvPr/>
        </p:nvSpPr>
        <p:spPr>
          <a:xfrm>
            <a:off x="6537960" y="4187952"/>
            <a:ext cx="4800600" cy="1828800"/>
          </a:xfrm>
          <a:prstGeom prst="rect">
            <a:avLst/>
          </a:prstGeom>
          <a:noFill/>
          <a:ln/>
        </p:spPr>
        <p:txBody>
          <a:bodyPr wrap="square" lIns="0" tIns="0" rIns="0" bIns="0" rtlCol="0" anchor="t"/>
          <a:lstStyle/>
          <a:p>
            <a:pPr marL="342900" indent="-342900">
              <a:lnSpc>
                <a:spcPct val="102000"/>
              </a:lnSpc>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Cổ tức từ Năm 2 — hoàn vốn góp trong ~2–3 năm.</a:t>
            </a:r>
            <a:endParaRPr lang="en-US" sz="1150" dirty="0"/>
          </a:p>
          <a:p>
            <a:pPr marL="342900" indent="-342900">
              <a:lnSpc>
                <a:spcPct val="102000"/>
              </a:lnSpc>
              <a:spcAft>
                <a:spcPts val="800"/>
              </a:spcAft>
              <a:buSzPct val="100000"/>
              <a:buChar char="•"/>
            </a:pPr>
            <a:r>
              <a:rPr lang="en-US" sz="1150" dirty="0">
                <a:solidFill>
                  <a:srgbClr val="1E293B"/>
                </a:solidFill>
                <a:latin typeface="Calibri" pitchFamily="34" charset="0"/>
                <a:ea typeface="Calibri" pitchFamily="34" charset="-122"/>
                <a:cs typeface="Calibri" pitchFamily="34" charset="-120"/>
              </a:rPr>
              <a:t>Secondary Năm 2–3 · strategic exit Năm 4–5.</a:t>
            </a:r>
            <a:endParaRPr lang="en-US" sz="1150" dirty="0"/>
          </a:p>
          <a:p>
            <a:pPr marL="342900" indent="-342900">
              <a:lnSpc>
                <a:spcPct val="102000"/>
              </a:lnSpc>
              <a:buSzPct val="100000"/>
              <a:buChar char="•"/>
            </a:pPr>
            <a:r>
              <a:rPr lang="en-US" sz="1150" dirty="0">
                <a:solidFill>
                  <a:srgbClr val="1E293B"/>
                </a:solidFill>
                <a:latin typeface="Calibri" pitchFamily="34" charset="0"/>
                <a:ea typeface="Calibri" pitchFamily="34" charset="-122"/>
                <a:cs typeface="Calibri" pitchFamily="34" charset="-120"/>
              </a:rPr>
              <a:t>Vesting 4 năm, cliff 1 năm + điều khoản buy-back.</a:t>
            </a:r>
            <a:endParaRPr lang="en-US" sz="1150" dirty="0"/>
          </a:p>
        </p:txBody>
      </p:sp>
      <p:sp>
        <p:nvSpPr>
          <p:cNvPr id="27" name="Shape 25"/>
          <p:cNvSpPr/>
          <p:nvPr/>
        </p:nvSpPr>
        <p:spPr>
          <a:xfrm>
            <a:off x="0" y="6565392"/>
            <a:ext cx="12191695" cy="292608"/>
          </a:xfrm>
          <a:prstGeom prst="rect">
            <a:avLst/>
          </a:prstGeom>
          <a:solidFill>
            <a:srgbClr val="FFFFFF"/>
          </a:solidFill>
          <a:ln/>
        </p:spPr>
      </p:sp>
      <p:sp>
        <p:nvSpPr>
          <p:cNvPr id="28" name="Shape 26"/>
          <p:cNvSpPr/>
          <p:nvPr/>
        </p:nvSpPr>
        <p:spPr>
          <a:xfrm>
            <a:off x="0" y="6547104"/>
            <a:ext cx="12191695" cy="20117"/>
          </a:xfrm>
          <a:prstGeom prst="rect">
            <a:avLst/>
          </a:prstGeom>
          <a:solidFill>
            <a:srgbClr val="E2E8F0"/>
          </a:solidFill>
          <a:ln/>
        </p:spPr>
      </p:sp>
      <p:sp>
        <p:nvSpPr>
          <p:cNvPr id="29" name="Shape 27"/>
          <p:cNvSpPr/>
          <p:nvPr/>
        </p:nvSpPr>
        <p:spPr>
          <a:xfrm>
            <a:off x="457200" y="6624828"/>
            <a:ext cx="118872" cy="118872"/>
          </a:xfrm>
          <a:prstGeom prst="ellipse">
            <a:avLst/>
          </a:prstGeom>
          <a:solidFill>
            <a:srgbClr val="0D9488"/>
          </a:solidFill>
          <a:ln/>
        </p:spPr>
      </p:sp>
      <p:sp>
        <p:nvSpPr>
          <p:cNvPr id="30" name="Text 28"/>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1" name="Text 29"/>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2" name="Text 30"/>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F766E">
              <a:alpha val="65000"/>
            </a:srgbClr>
          </a:solidFill>
          <a:ln/>
        </p:spPr>
      </p:sp>
      <p:sp>
        <p:nvSpPr>
          <p:cNvPr id="3" name="Shape 1"/>
          <p:cNvSpPr/>
          <p:nvPr/>
        </p:nvSpPr>
        <p:spPr>
          <a:xfrm>
            <a:off x="-1280160" y="4206240"/>
            <a:ext cx="3657600" cy="3657600"/>
          </a:xfrm>
          <a:prstGeom prst="ellipse">
            <a:avLst/>
          </a:prstGeom>
          <a:solidFill>
            <a:srgbClr val="0F766E">
              <a:alpha val="50000"/>
            </a:srgbClr>
          </a:solidFill>
          <a:ln/>
        </p:spPr>
      </p:sp>
      <p:sp>
        <p:nvSpPr>
          <p:cNvPr id="4" name="Shape 2"/>
          <p:cNvSpPr/>
          <p:nvPr/>
        </p:nvSpPr>
        <p:spPr>
          <a:xfrm>
            <a:off x="822960" y="1371600"/>
            <a:ext cx="1188720" cy="1188720"/>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06424" y="1655064"/>
            <a:ext cx="621792" cy="621792"/>
          </a:xfrm>
          <a:prstGeom prst="rect">
            <a:avLst/>
          </a:prstGeom>
        </p:spPr>
      </p:pic>
      <p:sp>
        <p:nvSpPr>
          <p:cNvPr id="6" name="Text 3"/>
          <p:cNvSpPr/>
          <p:nvPr/>
        </p:nvSpPr>
        <p:spPr>
          <a:xfrm>
            <a:off x="822960" y="2743200"/>
            <a:ext cx="100584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Trebuchet MS" pitchFamily="34" charset="0"/>
                <a:ea typeface="Trebuchet MS" pitchFamily="34" charset="-122"/>
                <a:cs typeface="Trebuchet MS" pitchFamily="34" charset="-120"/>
              </a:rPr>
              <a:t>PHẦN MARKETING &amp; THỊ TRƯỜNG</a:t>
            </a:r>
            <a:endParaRPr lang="en-US" sz="1400" dirty="0"/>
          </a:p>
        </p:txBody>
      </p:sp>
      <p:sp>
        <p:nvSpPr>
          <p:cNvPr id="7" name="Text 4"/>
          <p:cNvSpPr/>
          <p:nvPr/>
        </p:nvSpPr>
        <p:spPr>
          <a:xfrm>
            <a:off x="804672" y="3127248"/>
            <a:ext cx="10515600" cy="109728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Trebuchet MS" pitchFamily="34" charset="0"/>
                <a:ea typeface="Trebuchet MS" pitchFamily="34" charset="-122"/>
                <a:cs typeface="Trebuchet MS" pitchFamily="34" charset="-120"/>
              </a:rPr>
              <a:t>Tiếp cận khách &amp; cạnh tranh</a:t>
            </a:r>
            <a:endParaRPr lang="en-US" sz="3800" dirty="0"/>
          </a:p>
        </p:txBody>
      </p:sp>
      <p:sp>
        <p:nvSpPr>
          <p:cNvPr id="8" name="Shape 5"/>
          <p:cNvSpPr/>
          <p:nvPr/>
        </p:nvSpPr>
        <p:spPr>
          <a:xfrm>
            <a:off x="822960" y="4343400"/>
            <a:ext cx="4206240" cy="566928"/>
          </a:xfrm>
          <a:prstGeom prst="roundRect">
            <a:avLst>
              <a:gd name="adj" fmla="val 50000"/>
            </a:avLst>
          </a:prstGeom>
          <a:solidFill>
            <a:srgbClr val="FB7185"/>
          </a:solidFill>
          <a:ln/>
        </p:spPr>
      </p:sp>
      <p:pic>
        <p:nvPicPr>
          <p:cNvPr id="9" name="Image 1" descr="preencoded.png">    </p:cNvPr>
          <p:cNvPicPr>
            <a:picLocks noChangeAspect="1"/>
          </p:cNvPicPr>
          <p:nvPr/>
        </p:nvPicPr>
        <p:blipFill>
          <a:blip r:embed="rId2"/>
          <a:stretch>
            <a:fillRect/>
          </a:stretch>
        </p:blipFill>
        <p:spPr>
          <a:xfrm>
            <a:off x="1024128" y="4480560"/>
            <a:ext cx="292608" cy="292608"/>
          </a:xfrm>
          <a:prstGeom prst="rect">
            <a:avLst/>
          </a:prstGeom>
        </p:spPr>
      </p:pic>
      <p:sp>
        <p:nvSpPr>
          <p:cNvPr id="10" name="Text 6"/>
          <p:cNvSpPr/>
          <p:nvPr/>
        </p:nvSpPr>
        <p:spPr>
          <a:xfrm>
            <a:off x="1371600" y="4343400"/>
            <a:ext cx="3566160" cy="56692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Trình bày: Chị Liên</a:t>
            </a:r>
            <a:endParaRPr lang="en-US" sz="1400" dirty="0"/>
          </a:p>
        </p:txBody>
      </p:sp>
      <p:sp>
        <p:nvSpPr>
          <p:cNvPr id="11" name="Text 7"/>
          <p:cNvSpPr/>
          <p:nvPr/>
        </p:nvSpPr>
        <p:spPr>
          <a:xfrm>
            <a:off x="868680" y="5120640"/>
            <a:ext cx="10058400" cy="137160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Marketing &amp; Go-to-Market — khách hàng kép</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Phân khúc khách hàng &amp; ma trận chuyên gia</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Đối thủ cạnh tranh &amp; định vị</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LIÊN · MARKETING &amp; GTM</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Bán an tâm cho con · chăm sức khỏe cho bố mẹ</a:t>
            </a:r>
            <a:endParaRPr lang="en-US" sz="3000" dirty="0"/>
          </a:p>
        </p:txBody>
      </p:sp>
      <p:sp>
        <p:nvSpPr>
          <p:cNvPr id="5" name="Shape 3"/>
          <p:cNvSpPr/>
          <p:nvPr/>
        </p:nvSpPr>
        <p:spPr>
          <a:xfrm>
            <a:off x="640080" y="1783080"/>
            <a:ext cx="6035040" cy="4343400"/>
          </a:xfrm>
          <a:prstGeom prst="roundRect">
            <a:avLst>
              <a:gd name="adj" fmla="val 1684"/>
            </a:avLst>
          </a:prstGeom>
          <a:solidFill>
            <a:srgbClr val="FFFFFF"/>
          </a:solidFill>
          <a:ln/>
          <a:effectLst>
            <a:outerShdw sx="100000" sy="100000" kx="0" ky="0" algn="bl" rotWithShape="0" blurRad="63500" dist="25400" dir="5400000">
              <a:srgbClr val="0F172A">
                <a:alpha val="10000"/>
              </a:srgbClr>
            </a:outerShdw>
          </a:effectLst>
        </p:spPr>
      </p:sp>
      <p:sp>
        <p:nvSpPr>
          <p:cNvPr id="6" name="Text 4"/>
          <p:cNvSpPr/>
          <p:nvPr/>
        </p:nvSpPr>
        <p:spPr>
          <a:xfrm>
            <a:off x="914400" y="1938528"/>
            <a:ext cx="5486400" cy="36576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Kênh acquisition LEAN (CAC blended ~480k)</a:t>
            </a:r>
            <a:endParaRPr lang="en-US" sz="1300" dirty="0"/>
          </a:p>
        </p:txBody>
      </p:sp>
      <p:sp>
        <p:nvSpPr>
          <p:cNvPr id="7" name="Shape 5"/>
          <p:cNvSpPr/>
          <p:nvPr/>
        </p:nvSpPr>
        <p:spPr>
          <a:xfrm>
            <a:off x="914400" y="2514600"/>
            <a:ext cx="164592" cy="164592"/>
          </a:xfrm>
          <a:prstGeom prst="ellipse">
            <a:avLst/>
          </a:prstGeom>
          <a:solidFill>
            <a:srgbClr val="0F766E"/>
          </a:solidFill>
          <a:ln/>
        </p:spPr>
      </p:sp>
      <p:sp>
        <p:nvSpPr>
          <p:cNvPr id="8" name="Text 6"/>
          <p:cNvSpPr/>
          <p:nvPr/>
        </p:nvSpPr>
        <p:spPr>
          <a:xfrm>
            <a:off x="1188720" y="2450592"/>
            <a:ext cx="361188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Referral gia đình (rẻ &amp; tốt nhất)</a:t>
            </a:r>
            <a:endParaRPr lang="en-US" sz="1100" dirty="0"/>
          </a:p>
        </p:txBody>
      </p:sp>
      <p:sp>
        <p:nvSpPr>
          <p:cNvPr id="9" name="Text 7"/>
          <p:cNvSpPr/>
          <p:nvPr/>
        </p:nvSpPr>
        <p:spPr>
          <a:xfrm>
            <a:off x="4846320" y="2450592"/>
            <a:ext cx="640080" cy="320040"/>
          </a:xfrm>
          <a:prstGeom prst="rect">
            <a:avLst/>
          </a:prstGeom>
          <a:noFill/>
          <a:ln/>
        </p:spPr>
        <p:txBody>
          <a:bodyPr wrap="square" lIns="0" tIns="0" rIns="0" bIns="0" rtlCol="0" anchor="ctr"/>
          <a:lstStyle/>
          <a:p>
            <a:pPr algn="r" indent="0" marL="0">
              <a:buNone/>
            </a:pPr>
            <a:r>
              <a:rPr lang="en-US" sz="1250" b="1" dirty="0">
                <a:solidFill>
                  <a:srgbClr val="0F766E"/>
                </a:solidFill>
                <a:latin typeface="Trebuchet MS" pitchFamily="34" charset="0"/>
                <a:ea typeface="Trebuchet MS" pitchFamily="34" charset="-122"/>
                <a:cs typeface="Trebuchet MS" pitchFamily="34" charset="-120"/>
              </a:rPr>
              <a:t>15%</a:t>
            </a:r>
            <a:endParaRPr lang="en-US" sz="1250" dirty="0"/>
          </a:p>
        </p:txBody>
      </p:sp>
      <p:sp>
        <p:nvSpPr>
          <p:cNvPr id="10" name="Text 8"/>
          <p:cNvSpPr/>
          <p:nvPr/>
        </p:nvSpPr>
        <p:spPr>
          <a:xfrm>
            <a:off x="5532120" y="2450592"/>
            <a:ext cx="100584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~180k</a:t>
            </a:r>
            <a:endParaRPr lang="en-US" sz="1050" dirty="0"/>
          </a:p>
        </p:txBody>
      </p:sp>
      <p:sp>
        <p:nvSpPr>
          <p:cNvPr id="11" name="Shape 9"/>
          <p:cNvSpPr/>
          <p:nvPr/>
        </p:nvSpPr>
        <p:spPr>
          <a:xfrm>
            <a:off x="914400" y="3081528"/>
            <a:ext cx="164592" cy="164592"/>
          </a:xfrm>
          <a:prstGeom prst="ellipse">
            <a:avLst/>
          </a:prstGeom>
          <a:solidFill>
            <a:srgbClr val="0D9488"/>
          </a:solidFill>
          <a:ln/>
        </p:spPr>
      </p:sp>
      <p:sp>
        <p:nvSpPr>
          <p:cNvPr id="12" name="Text 10"/>
          <p:cNvSpPr/>
          <p:nvPr/>
        </p:nvSpPr>
        <p:spPr>
          <a:xfrm>
            <a:off x="1188720" y="3017520"/>
            <a:ext cx="361188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BV / phòng khám hậu phẫu đối tác</a:t>
            </a:r>
            <a:endParaRPr lang="en-US" sz="1100" dirty="0"/>
          </a:p>
        </p:txBody>
      </p:sp>
      <p:sp>
        <p:nvSpPr>
          <p:cNvPr id="13" name="Text 11"/>
          <p:cNvSpPr/>
          <p:nvPr/>
        </p:nvSpPr>
        <p:spPr>
          <a:xfrm>
            <a:off x="4846320" y="3017520"/>
            <a:ext cx="640080" cy="320040"/>
          </a:xfrm>
          <a:prstGeom prst="rect">
            <a:avLst/>
          </a:prstGeom>
          <a:noFill/>
          <a:ln/>
        </p:spPr>
        <p:txBody>
          <a:bodyPr wrap="square" lIns="0" tIns="0" rIns="0" bIns="0" rtlCol="0" anchor="ctr"/>
          <a:lstStyle/>
          <a:p>
            <a:pPr algn="r" indent="0" marL="0">
              <a:buNone/>
            </a:pPr>
            <a:r>
              <a:rPr lang="en-US" sz="1250" b="1" dirty="0">
                <a:solidFill>
                  <a:srgbClr val="0D9488"/>
                </a:solidFill>
                <a:latin typeface="Trebuchet MS" pitchFamily="34" charset="0"/>
                <a:ea typeface="Trebuchet MS" pitchFamily="34" charset="-122"/>
                <a:cs typeface="Trebuchet MS" pitchFamily="34" charset="-120"/>
              </a:rPr>
              <a:t>22%</a:t>
            </a:r>
            <a:endParaRPr lang="en-US" sz="1250" dirty="0"/>
          </a:p>
        </p:txBody>
      </p:sp>
      <p:sp>
        <p:nvSpPr>
          <p:cNvPr id="14" name="Text 12"/>
          <p:cNvSpPr/>
          <p:nvPr/>
        </p:nvSpPr>
        <p:spPr>
          <a:xfrm>
            <a:off x="5532120" y="3017520"/>
            <a:ext cx="100584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~420k</a:t>
            </a:r>
            <a:endParaRPr lang="en-US" sz="1050" dirty="0"/>
          </a:p>
        </p:txBody>
      </p:sp>
      <p:sp>
        <p:nvSpPr>
          <p:cNvPr id="15" name="Shape 13"/>
          <p:cNvSpPr/>
          <p:nvPr/>
        </p:nvSpPr>
        <p:spPr>
          <a:xfrm>
            <a:off x="914400" y="3648456"/>
            <a:ext cx="164592" cy="164592"/>
          </a:xfrm>
          <a:prstGeom prst="ellipse">
            <a:avLst/>
          </a:prstGeom>
          <a:solidFill>
            <a:srgbClr val="F5A623"/>
          </a:solidFill>
          <a:ln/>
        </p:spPr>
      </p:sp>
      <p:sp>
        <p:nvSpPr>
          <p:cNvPr id="16" name="Text 14"/>
          <p:cNvSpPr/>
          <p:nvPr/>
        </p:nvSpPr>
        <p:spPr>
          <a:xfrm>
            <a:off x="1188720" y="3584448"/>
            <a:ext cx="361188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KOL bác sĩ / lão khoa</a:t>
            </a:r>
            <a:endParaRPr lang="en-US" sz="1100" dirty="0"/>
          </a:p>
        </p:txBody>
      </p:sp>
      <p:sp>
        <p:nvSpPr>
          <p:cNvPr id="17" name="Text 15"/>
          <p:cNvSpPr/>
          <p:nvPr/>
        </p:nvSpPr>
        <p:spPr>
          <a:xfrm>
            <a:off x="4846320" y="3584448"/>
            <a:ext cx="640080" cy="320040"/>
          </a:xfrm>
          <a:prstGeom prst="rect">
            <a:avLst/>
          </a:prstGeom>
          <a:noFill/>
          <a:ln/>
        </p:spPr>
        <p:txBody>
          <a:bodyPr wrap="square" lIns="0" tIns="0" rIns="0" bIns="0" rtlCol="0" anchor="ctr"/>
          <a:lstStyle/>
          <a:p>
            <a:pPr algn="r" indent="0" marL="0">
              <a:buNone/>
            </a:pPr>
            <a:r>
              <a:rPr lang="en-US" sz="1250" b="1" dirty="0">
                <a:solidFill>
                  <a:srgbClr val="F5A623"/>
                </a:solidFill>
                <a:latin typeface="Trebuchet MS" pitchFamily="34" charset="0"/>
                <a:ea typeface="Trebuchet MS" pitchFamily="34" charset="-122"/>
                <a:cs typeface="Trebuchet MS" pitchFamily="34" charset="-120"/>
              </a:rPr>
              <a:t>13%</a:t>
            </a:r>
            <a:endParaRPr lang="en-US" sz="1250" dirty="0"/>
          </a:p>
        </p:txBody>
      </p:sp>
      <p:sp>
        <p:nvSpPr>
          <p:cNvPr id="18" name="Text 16"/>
          <p:cNvSpPr/>
          <p:nvPr/>
        </p:nvSpPr>
        <p:spPr>
          <a:xfrm>
            <a:off x="5532120" y="3584448"/>
            <a:ext cx="100584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~600k</a:t>
            </a:r>
            <a:endParaRPr lang="en-US" sz="1050" dirty="0"/>
          </a:p>
        </p:txBody>
      </p:sp>
      <p:sp>
        <p:nvSpPr>
          <p:cNvPr id="19" name="Shape 17"/>
          <p:cNvSpPr/>
          <p:nvPr/>
        </p:nvSpPr>
        <p:spPr>
          <a:xfrm>
            <a:off x="914400" y="4215384"/>
            <a:ext cx="164592" cy="164592"/>
          </a:xfrm>
          <a:prstGeom prst="ellipse">
            <a:avLst/>
          </a:prstGeom>
          <a:solidFill>
            <a:srgbClr val="2DD4BF"/>
          </a:solidFill>
          <a:ln/>
        </p:spPr>
      </p:sp>
      <p:sp>
        <p:nvSpPr>
          <p:cNvPr id="20" name="Text 18"/>
          <p:cNvSpPr/>
          <p:nvPr/>
        </p:nvSpPr>
        <p:spPr>
          <a:xfrm>
            <a:off x="1188720" y="4151376"/>
            <a:ext cx="361188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BHXH / hội người già / phường</a:t>
            </a:r>
            <a:endParaRPr lang="en-US" sz="1100" dirty="0"/>
          </a:p>
        </p:txBody>
      </p:sp>
      <p:sp>
        <p:nvSpPr>
          <p:cNvPr id="21" name="Text 19"/>
          <p:cNvSpPr/>
          <p:nvPr/>
        </p:nvSpPr>
        <p:spPr>
          <a:xfrm>
            <a:off x="4846320" y="4151376"/>
            <a:ext cx="640080" cy="320040"/>
          </a:xfrm>
          <a:prstGeom prst="rect">
            <a:avLst/>
          </a:prstGeom>
          <a:noFill/>
          <a:ln/>
        </p:spPr>
        <p:txBody>
          <a:bodyPr wrap="square" lIns="0" tIns="0" rIns="0" bIns="0" rtlCol="0" anchor="ctr"/>
          <a:lstStyle/>
          <a:p>
            <a:pPr algn="r" indent="0" marL="0">
              <a:buNone/>
            </a:pPr>
            <a:r>
              <a:rPr lang="en-US" sz="1250" b="1" dirty="0">
                <a:solidFill>
                  <a:srgbClr val="2DD4BF"/>
                </a:solidFill>
                <a:latin typeface="Trebuchet MS" pitchFamily="34" charset="0"/>
                <a:ea typeface="Trebuchet MS" pitchFamily="34" charset="-122"/>
                <a:cs typeface="Trebuchet MS" pitchFamily="34" charset="-120"/>
              </a:rPr>
              <a:t>10%</a:t>
            </a:r>
            <a:endParaRPr lang="en-US" sz="1250" dirty="0"/>
          </a:p>
        </p:txBody>
      </p:sp>
      <p:sp>
        <p:nvSpPr>
          <p:cNvPr id="22" name="Text 20"/>
          <p:cNvSpPr/>
          <p:nvPr/>
        </p:nvSpPr>
        <p:spPr>
          <a:xfrm>
            <a:off x="5532120" y="4151376"/>
            <a:ext cx="100584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~300k</a:t>
            </a:r>
            <a:endParaRPr lang="en-US" sz="1050" dirty="0"/>
          </a:p>
        </p:txBody>
      </p:sp>
      <p:sp>
        <p:nvSpPr>
          <p:cNvPr id="23" name="Shape 21"/>
          <p:cNvSpPr/>
          <p:nvPr/>
        </p:nvSpPr>
        <p:spPr>
          <a:xfrm>
            <a:off x="914400" y="4782312"/>
            <a:ext cx="164592" cy="164592"/>
          </a:xfrm>
          <a:prstGeom prst="ellipse">
            <a:avLst/>
          </a:prstGeom>
          <a:solidFill>
            <a:srgbClr val="FB7185"/>
          </a:solidFill>
          <a:ln/>
        </p:spPr>
      </p:sp>
      <p:sp>
        <p:nvSpPr>
          <p:cNvPr id="24" name="Text 22"/>
          <p:cNvSpPr/>
          <p:nvPr/>
        </p:nvSpPr>
        <p:spPr>
          <a:xfrm>
            <a:off x="1188720" y="4718304"/>
            <a:ext cx="3611880" cy="3200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Digital (FB/TikTok/Google)</a:t>
            </a:r>
            <a:endParaRPr lang="en-US" sz="1100" dirty="0"/>
          </a:p>
        </p:txBody>
      </p:sp>
      <p:sp>
        <p:nvSpPr>
          <p:cNvPr id="25" name="Text 23"/>
          <p:cNvSpPr/>
          <p:nvPr/>
        </p:nvSpPr>
        <p:spPr>
          <a:xfrm>
            <a:off x="4846320" y="4718304"/>
            <a:ext cx="640080" cy="320040"/>
          </a:xfrm>
          <a:prstGeom prst="rect">
            <a:avLst/>
          </a:prstGeom>
          <a:noFill/>
          <a:ln/>
        </p:spPr>
        <p:txBody>
          <a:bodyPr wrap="square" lIns="0" tIns="0" rIns="0" bIns="0" rtlCol="0" anchor="ctr"/>
          <a:lstStyle/>
          <a:p>
            <a:pPr algn="r" indent="0" marL="0">
              <a:buNone/>
            </a:pPr>
            <a:r>
              <a:rPr lang="en-US" sz="1250" b="1" dirty="0">
                <a:solidFill>
                  <a:srgbClr val="FB7185"/>
                </a:solidFill>
                <a:latin typeface="Trebuchet MS" pitchFamily="34" charset="0"/>
                <a:ea typeface="Trebuchet MS" pitchFamily="34" charset="-122"/>
                <a:cs typeface="Trebuchet MS" pitchFamily="34" charset="-120"/>
              </a:rPr>
              <a:t>40%</a:t>
            </a:r>
            <a:endParaRPr lang="en-US" sz="1250" dirty="0"/>
          </a:p>
        </p:txBody>
      </p:sp>
      <p:sp>
        <p:nvSpPr>
          <p:cNvPr id="26" name="Text 24"/>
          <p:cNvSpPr/>
          <p:nvPr/>
        </p:nvSpPr>
        <p:spPr>
          <a:xfrm>
            <a:off x="5532120" y="4718304"/>
            <a:ext cx="1005840" cy="320040"/>
          </a:xfrm>
          <a:prstGeom prst="rect">
            <a:avLst/>
          </a:prstGeom>
          <a:noFill/>
          <a:ln/>
        </p:spPr>
        <p:txBody>
          <a:bodyPr wrap="square" lIns="0" tIns="0" rIns="0" bIns="0" rtlCol="0" anchor="ctr"/>
          <a:lstStyle/>
          <a:p>
            <a:pPr algn="r" indent="0" marL="0">
              <a:buNone/>
            </a:pPr>
            <a:r>
              <a:rPr lang="en-US" sz="1050" dirty="0">
                <a:solidFill>
                  <a:srgbClr val="64748B"/>
                </a:solidFill>
                <a:latin typeface="Calibri" pitchFamily="34" charset="0"/>
                <a:ea typeface="Calibri" pitchFamily="34" charset="-122"/>
                <a:cs typeface="Calibri" pitchFamily="34" charset="-120"/>
              </a:rPr>
              <a:t>CAC ~650k</a:t>
            </a:r>
            <a:endParaRPr lang="en-US" sz="1050" dirty="0"/>
          </a:p>
        </p:txBody>
      </p:sp>
      <p:sp>
        <p:nvSpPr>
          <p:cNvPr id="27" name="Shape 25"/>
          <p:cNvSpPr/>
          <p:nvPr/>
        </p:nvSpPr>
        <p:spPr>
          <a:xfrm>
            <a:off x="914400" y="5349240"/>
            <a:ext cx="5486400" cy="566928"/>
          </a:xfrm>
          <a:prstGeom prst="roundRect">
            <a:avLst>
              <a:gd name="adj" fmla="val 12903"/>
            </a:avLst>
          </a:prstGeom>
          <a:solidFill>
            <a:srgbClr val="F1F5F9"/>
          </a:solidFill>
          <a:ln/>
        </p:spPr>
      </p:sp>
      <p:sp>
        <p:nvSpPr>
          <p:cNvPr id="28" name="Text 26"/>
          <p:cNvSpPr/>
          <p:nvPr/>
        </p:nvSpPr>
        <p:spPr>
          <a:xfrm>
            <a:off x="1051560" y="5349240"/>
            <a:ext cx="5212080" cy="566928"/>
          </a:xfrm>
          <a:prstGeom prst="rect">
            <a:avLst/>
          </a:prstGeom>
          <a:noFill/>
          <a:ln/>
        </p:spPr>
        <p:txBody>
          <a:bodyPr wrap="square" lIns="0" tIns="0" rIns="0" bIns="0" rtlCol="0" anchor="ctr"/>
          <a:lstStyle/>
          <a:p>
            <a:pPr indent="0" marL="0">
              <a:buNone/>
            </a:pPr>
            <a:r>
              <a:rPr lang="en-US" sz="1050" b="1" i="1" dirty="0">
                <a:solidFill>
                  <a:srgbClr val="0F766E"/>
                </a:solidFill>
                <a:latin typeface="Calibri" pitchFamily="34" charset="0"/>
                <a:ea typeface="Calibri" pitchFamily="34" charset="-122"/>
                <a:cs typeface="Calibri" pitchFamily="34" charset="-120"/>
              </a:rPr>
              <a:t>Marketing ≤ 15–20% doanh thu · ưu tiên referral để nuôi “Lãi ngay”.</a:t>
            </a:r>
            <a:endParaRPr lang="en-US" sz="1050" dirty="0"/>
          </a:p>
        </p:txBody>
      </p:sp>
      <p:sp>
        <p:nvSpPr>
          <p:cNvPr id="29" name="Shape 27"/>
          <p:cNvSpPr/>
          <p:nvPr/>
        </p:nvSpPr>
        <p:spPr>
          <a:xfrm>
            <a:off x="6858000" y="1783080"/>
            <a:ext cx="4690872" cy="4343400"/>
          </a:xfrm>
          <a:prstGeom prst="roundRect">
            <a:avLst>
              <a:gd name="adj" fmla="val 1684"/>
            </a:avLst>
          </a:prstGeom>
          <a:solidFill>
            <a:srgbClr val="134E4A"/>
          </a:solidFill>
          <a:ln/>
          <a:effectLst>
            <a:outerShdw sx="100000" sy="100000" kx="0" ky="0" algn="bl" rotWithShape="0" blurRad="63500" dist="25400" dir="5400000">
              <a:srgbClr val="0F172A">
                <a:alpha val="10000"/>
              </a:srgbClr>
            </a:outerShdw>
          </a:effectLst>
        </p:spPr>
      </p:sp>
      <p:sp>
        <p:nvSpPr>
          <p:cNvPr id="30" name="Text 28"/>
          <p:cNvSpPr/>
          <p:nvPr/>
        </p:nvSpPr>
        <p:spPr>
          <a:xfrm>
            <a:off x="7114032" y="1938528"/>
            <a:ext cx="4206240" cy="36576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Phễu AARRR — khách hàng kép</a:t>
            </a:r>
            <a:endParaRPr lang="en-US" sz="1300" dirty="0"/>
          </a:p>
        </p:txBody>
      </p:sp>
      <p:sp>
        <p:nvSpPr>
          <p:cNvPr id="31" name="Shape 29"/>
          <p:cNvSpPr/>
          <p:nvPr/>
        </p:nvSpPr>
        <p:spPr>
          <a:xfrm>
            <a:off x="7114032" y="2414016"/>
            <a:ext cx="310896" cy="310896"/>
          </a:xfrm>
          <a:prstGeom prst="ellipse">
            <a:avLst/>
          </a:prstGeom>
          <a:solidFill>
            <a:srgbClr val="2DD4BF"/>
          </a:solidFill>
          <a:ln/>
        </p:spPr>
      </p:sp>
      <p:sp>
        <p:nvSpPr>
          <p:cNvPr id="32" name="Text 30"/>
          <p:cNvSpPr/>
          <p:nvPr/>
        </p:nvSpPr>
        <p:spPr>
          <a:xfrm>
            <a:off x="7114032" y="2414016"/>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1</a:t>
            </a:r>
            <a:endParaRPr lang="en-US" sz="1200" dirty="0"/>
          </a:p>
        </p:txBody>
      </p:sp>
      <p:sp>
        <p:nvSpPr>
          <p:cNvPr id="33" name="Text 31"/>
          <p:cNvSpPr/>
          <p:nvPr/>
        </p:nvSpPr>
        <p:spPr>
          <a:xfrm>
            <a:off x="7543800" y="2359152"/>
            <a:ext cx="3840480" cy="274320"/>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Nhận biết</a:t>
            </a:r>
            <a:endParaRPr lang="en-US" sz="1200" dirty="0"/>
          </a:p>
        </p:txBody>
      </p:sp>
      <p:sp>
        <p:nvSpPr>
          <p:cNvPr id="34" name="Text 32"/>
          <p:cNvSpPr/>
          <p:nvPr/>
        </p:nvSpPr>
        <p:spPr>
          <a:xfrm>
            <a:off x="7543800" y="2633472"/>
            <a:ext cx="388620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QC cảm xúc “sợ té ngã” + KOL bác sĩ</a:t>
            </a:r>
            <a:endParaRPr lang="en-US" sz="950" dirty="0"/>
          </a:p>
        </p:txBody>
      </p:sp>
      <p:sp>
        <p:nvSpPr>
          <p:cNvPr id="35" name="Shape 33"/>
          <p:cNvSpPr/>
          <p:nvPr/>
        </p:nvSpPr>
        <p:spPr>
          <a:xfrm>
            <a:off x="7114032" y="3127248"/>
            <a:ext cx="310896" cy="310896"/>
          </a:xfrm>
          <a:prstGeom prst="ellipse">
            <a:avLst/>
          </a:prstGeom>
          <a:solidFill>
            <a:srgbClr val="2DD4BF"/>
          </a:solidFill>
          <a:ln/>
        </p:spPr>
      </p:sp>
      <p:sp>
        <p:nvSpPr>
          <p:cNvPr id="36" name="Text 34"/>
          <p:cNvSpPr/>
          <p:nvPr/>
        </p:nvSpPr>
        <p:spPr>
          <a:xfrm>
            <a:off x="7114032" y="3127248"/>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2</a:t>
            </a:r>
            <a:endParaRPr lang="en-US" sz="1200" dirty="0"/>
          </a:p>
        </p:txBody>
      </p:sp>
      <p:sp>
        <p:nvSpPr>
          <p:cNvPr id="37" name="Text 35"/>
          <p:cNvSpPr/>
          <p:nvPr/>
        </p:nvSpPr>
        <p:spPr>
          <a:xfrm>
            <a:off x="7543800" y="3072384"/>
            <a:ext cx="3840480" cy="274320"/>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Quan tâm</a:t>
            </a:r>
            <a:endParaRPr lang="en-US" sz="1200" dirty="0"/>
          </a:p>
        </p:txBody>
      </p:sp>
      <p:sp>
        <p:nvSpPr>
          <p:cNvPr id="38" name="Text 36"/>
          <p:cNvSpPr/>
          <p:nvPr/>
        </p:nvSpPr>
        <p:spPr>
          <a:xfrm>
            <a:off x="7543800" y="3346704"/>
            <a:ext cx="388620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Landing kể chuyện Bà Hoa · chatbot tư vấn</a:t>
            </a:r>
            <a:endParaRPr lang="en-US" sz="950" dirty="0"/>
          </a:p>
        </p:txBody>
      </p:sp>
      <p:sp>
        <p:nvSpPr>
          <p:cNvPr id="39" name="Shape 37"/>
          <p:cNvSpPr/>
          <p:nvPr/>
        </p:nvSpPr>
        <p:spPr>
          <a:xfrm>
            <a:off x="7114032" y="3840480"/>
            <a:ext cx="310896" cy="310896"/>
          </a:xfrm>
          <a:prstGeom prst="ellipse">
            <a:avLst/>
          </a:prstGeom>
          <a:solidFill>
            <a:srgbClr val="2DD4BF"/>
          </a:solidFill>
          <a:ln/>
        </p:spPr>
      </p:sp>
      <p:sp>
        <p:nvSpPr>
          <p:cNvPr id="40" name="Text 38"/>
          <p:cNvSpPr/>
          <p:nvPr/>
        </p:nvSpPr>
        <p:spPr>
          <a:xfrm>
            <a:off x="7114032" y="3840480"/>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3</a:t>
            </a:r>
            <a:endParaRPr lang="en-US" sz="1200" dirty="0"/>
          </a:p>
        </p:txBody>
      </p:sp>
      <p:sp>
        <p:nvSpPr>
          <p:cNvPr id="41" name="Text 39"/>
          <p:cNvSpPr/>
          <p:nvPr/>
        </p:nvSpPr>
        <p:spPr>
          <a:xfrm>
            <a:off x="7543800" y="3785616"/>
            <a:ext cx="3840480" cy="274320"/>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Dùng thử</a:t>
            </a:r>
            <a:endParaRPr lang="en-US" sz="1200" dirty="0"/>
          </a:p>
        </p:txBody>
      </p:sp>
      <p:sp>
        <p:nvSpPr>
          <p:cNvPr id="42" name="Text 40"/>
          <p:cNvSpPr/>
          <p:nvPr/>
        </p:nvSpPr>
        <p:spPr>
          <a:xfrm>
            <a:off x="7543800" y="4059936"/>
            <a:ext cx="388620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Gói nhắc thuốc / theo dõi miễn phí mở phễu</a:t>
            </a:r>
            <a:endParaRPr lang="en-US" sz="950" dirty="0"/>
          </a:p>
        </p:txBody>
      </p:sp>
      <p:sp>
        <p:nvSpPr>
          <p:cNvPr id="43" name="Shape 41"/>
          <p:cNvSpPr/>
          <p:nvPr/>
        </p:nvSpPr>
        <p:spPr>
          <a:xfrm>
            <a:off x="7114032" y="4553712"/>
            <a:ext cx="310896" cy="310896"/>
          </a:xfrm>
          <a:prstGeom prst="ellipse">
            <a:avLst/>
          </a:prstGeom>
          <a:solidFill>
            <a:srgbClr val="2DD4BF"/>
          </a:solidFill>
          <a:ln/>
        </p:spPr>
      </p:sp>
      <p:sp>
        <p:nvSpPr>
          <p:cNvPr id="44" name="Text 42"/>
          <p:cNvSpPr/>
          <p:nvPr/>
        </p:nvSpPr>
        <p:spPr>
          <a:xfrm>
            <a:off x="7114032" y="4553712"/>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4</a:t>
            </a:r>
            <a:endParaRPr lang="en-US" sz="1200" dirty="0"/>
          </a:p>
        </p:txBody>
      </p:sp>
      <p:sp>
        <p:nvSpPr>
          <p:cNvPr id="45" name="Text 43"/>
          <p:cNvSpPr/>
          <p:nvPr/>
        </p:nvSpPr>
        <p:spPr>
          <a:xfrm>
            <a:off x="7543800" y="4498848"/>
            <a:ext cx="3840480" cy="274320"/>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Giữ chân</a:t>
            </a:r>
            <a:endParaRPr lang="en-US" sz="1200" dirty="0"/>
          </a:p>
        </p:txBody>
      </p:sp>
      <p:sp>
        <p:nvSpPr>
          <p:cNvPr id="46" name="Text 44"/>
          <p:cNvSpPr/>
          <p:nvPr/>
        </p:nvSpPr>
        <p:spPr>
          <a:xfrm>
            <a:off x="7543800" y="4773168"/>
            <a:ext cx="388620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Quen người chăm + thiết bị đã lắp → rào cản cao</a:t>
            </a:r>
            <a:endParaRPr lang="en-US" sz="950" dirty="0"/>
          </a:p>
        </p:txBody>
      </p:sp>
      <p:sp>
        <p:nvSpPr>
          <p:cNvPr id="47" name="Shape 45"/>
          <p:cNvSpPr/>
          <p:nvPr/>
        </p:nvSpPr>
        <p:spPr>
          <a:xfrm>
            <a:off x="7114032" y="5266944"/>
            <a:ext cx="310896" cy="310896"/>
          </a:xfrm>
          <a:prstGeom prst="ellipse">
            <a:avLst/>
          </a:prstGeom>
          <a:solidFill>
            <a:srgbClr val="2DD4BF"/>
          </a:solidFill>
          <a:ln/>
        </p:spPr>
      </p:sp>
      <p:sp>
        <p:nvSpPr>
          <p:cNvPr id="48" name="Text 46"/>
          <p:cNvSpPr/>
          <p:nvPr/>
        </p:nvSpPr>
        <p:spPr>
          <a:xfrm>
            <a:off x="7114032" y="5266944"/>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5</a:t>
            </a:r>
            <a:endParaRPr lang="en-US" sz="1200" dirty="0"/>
          </a:p>
        </p:txBody>
      </p:sp>
      <p:sp>
        <p:nvSpPr>
          <p:cNvPr id="49" name="Text 47"/>
          <p:cNvSpPr/>
          <p:nvPr/>
        </p:nvSpPr>
        <p:spPr>
          <a:xfrm>
            <a:off x="7543800" y="5212080"/>
            <a:ext cx="3840480" cy="274320"/>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Giới thiệu</a:t>
            </a:r>
            <a:endParaRPr lang="en-US" sz="1200" dirty="0"/>
          </a:p>
        </p:txBody>
      </p:sp>
      <p:sp>
        <p:nvSpPr>
          <p:cNvPr id="50" name="Text 48"/>
          <p:cNvSpPr/>
          <p:nvPr/>
        </p:nvSpPr>
        <p:spPr>
          <a:xfrm>
            <a:off x="7543800" y="5486400"/>
            <a:ext cx="388620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Khách hài lòng → bạn bè cùng cảnh sandwich</a:t>
            </a:r>
            <a:endParaRPr lang="en-US" sz="950" dirty="0"/>
          </a:p>
        </p:txBody>
      </p:sp>
      <p:sp>
        <p:nvSpPr>
          <p:cNvPr id="51" name="Shape 49"/>
          <p:cNvSpPr/>
          <p:nvPr/>
        </p:nvSpPr>
        <p:spPr>
          <a:xfrm>
            <a:off x="0" y="6565392"/>
            <a:ext cx="12191695" cy="292608"/>
          </a:xfrm>
          <a:prstGeom prst="rect">
            <a:avLst/>
          </a:prstGeom>
          <a:solidFill>
            <a:srgbClr val="FFFFFF"/>
          </a:solidFill>
          <a:ln/>
        </p:spPr>
      </p:sp>
      <p:sp>
        <p:nvSpPr>
          <p:cNvPr id="52" name="Shape 50"/>
          <p:cNvSpPr/>
          <p:nvPr/>
        </p:nvSpPr>
        <p:spPr>
          <a:xfrm>
            <a:off x="0" y="6547104"/>
            <a:ext cx="12191695" cy="20117"/>
          </a:xfrm>
          <a:prstGeom prst="rect">
            <a:avLst/>
          </a:prstGeom>
          <a:solidFill>
            <a:srgbClr val="E2E8F0"/>
          </a:solidFill>
          <a:ln/>
        </p:spPr>
      </p:sp>
      <p:sp>
        <p:nvSpPr>
          <p:cNvPr id="53" name="Shape 51"/>
          <p:cNvSpPr/>
          <p:nvPr/>
        </p:nvSpPr>
        <p:spPr>
          <a:xfrm>
            <a:off x="457200" y="6624828"/>
            <a:ext cx="118872" cy="118872"/>
          </a:xfrm>
          <a:prstGeom prst="ellipse">
            <a:avLst/>
          </a:prstGeom>
          <a:solidFill>
            <a:srgbClr val="0D9488"/>
          </a:solidFill>
          <a:ln/>
        </p:spPr>
      </p:sp>
      <p:sp>
        <p:nvSpPr>
          <p:cNvPr id="54" name="Text 52"/>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55" name="Text 53"/>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56" name="Text 54"/>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LIÊN · PHÂN KHÚC KHÁCH HÀNG</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3 trục phân khúc → đúng gói, đúng đội ngũ</a:t>
            </a:r>
            <a:endParaRPr lang="en-US" sz="3000" dirty="0"/>
          </a:p>
        </p:txBody>
      </p:sp>
      <p:sp>
        <p:nvSpPr>
          <p:cNvPr id="5" name="Shape 3"/>
          <p:cNvSpPr/>
          <p:nvPr/>
        </p:nvSpPr>
        <p:spPr>
          <a:xfrm>
            <a:off x="640080" y="1783080"/>
            <a:ext cx="3611880" cy="2743200"/>
          </a:xfrm>
          <a:prstGeom prst="roundRect">
            <a:avLst>
              <a:gd name="adj" fmla="val 2667"/>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83080"/>
            <a:ext cx="3611880" cy="640080"/>
          </a:xfrm>
          <a:prstGeom prst="rect">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96112" y="1947672"/>
            <a:ext cx="310896" cy="310896"/>
          </a:xfrm>
          <a:prstGeom prst="rect">
            <a:avLst/>
          </a:prstGeom>
        </p:spPr>
      </p:pic>
      <p:sp>
        <p:nvSpPr>
          <p:cNvPr id="8" name="Text 5"/>
          <p:cNvSpPr/>
          <p:nvPr/>
        </p:nvSpPr>
        <p:spPr>
          <a:xfrm>
            <a:off x="1316736" y="1783080"/>
            <a:ext cx="2825496" cy="64008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Trục A · Người trả tiền</a:t>
            </a:r>
            <a:endParaRPr lang="en-US" sz="1250" dirty="0"/>
          </a:p>
        </p:txBody>
      </p:sp>
      <p:sp>
        <p:nvSpPr>
          <p:cNvPr id="9" name="Text 6"/>
          <p:cNvSpPr/>
          <p:nvPr/>
        </p:nvSpPr>
        <p:spPr>
          <a:xfrm>
            <a:off x="877824" y="2560320"/>
            <a:ext cx="3200400" cy="1828800"/>
          </a:xfrm>
          <a:prstGeom prst="rect">
            <a:avLst/>
          </a:prstGeom>
          <a:noFill/>
          <a:ln/>
        </p:spPr>
        <p:txBody>
          <a:bodyPr wrap="square" lIns="0" tIns="0" rIns="0" bIns="0" rtlCol="0" anchor="t"/>
          <a:lstStyle/>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Con cái 30–50t</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Sống xa ↔ sống gần</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Thu nhập &amp; độ rành công nghệ</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 chọn gói 299k–599k</a:t>
            </a:r>
            <a:endParaRPr lang="en-US" sz="1100" dirty="0"/>
          </a:p>
        </p:txBody>
      </p:sp>
      <p:sp>
        <p:nvSpPr>
          <p:cNvPr id="10" name="Shape 7"/>
          <p:cNvSpPr/>
          <p:nvPr/>
        </p:nvSpPr>
        <p:spPr>
          <a:xfrm>
            <a:off x="4416552" y="1783080"/>
            <a:ext cx="3611880" cy="2743200"/>
          </a:xfrm>
          <a:prstGeom prst="roundRect">
            <a:avLst>
              <a:gd name="adj" fmla="val 2667"/>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4416552" y="1783080"/>
            <a:ext cx="3611880" cy="640080"/>
          </a:xfrm>
          <a:prstGeom prst="rect">
            <a:avLst/>
          </a:prstGeom>
          <a:solidFill>
            <a:srgbClr val="0F766E"/>
          </a:solidFill>
          <a:ln/>
        </p:spPr>
      </p:sp>
      <p:pic>
        <p:nvPicPr>
          <p:cNvPr id="12" name="Image 1" descr="preencoded.png">    </p:cNvPr>
          <p:cNvPicPr>
            <a:picLocks noChangeAspect="1"/>
          </p:cNvPicPr>
          <p:nvPr/>
        </p:nvPicPr>
        <p:blipFill>
          <a:blip r:embed="rId2"/>
          <a:stretch>
            <a:fillRect/>
          </a:stretch>
        </p:blipFill>
        <p:spPr>
          <a:xfrm>
            <a:off x="4672584" y="1947672"/>
            <a:ext cx="310896" cy="310896"/>
          </a:xfrm>
          <a:prstGeom prst="rect">
            <a:avLst/>
          </a:prstGeom>
        </p:spPr>
      </p:pic>
      <p:sp>
        <p:nvSpPr>
          <p:cNvPr id="13" name="Text 9"/>
          <p:cNvSpPr/>
          <p:nvPr/>
        </p:nvSpPr>
        <p:spPr>
          <a:xfrm>
            <a:off x="5093208" y="1783080"/>
            <a:ext cx="2825496" cy="64008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Trục B · Người dùng</a:t>
            </a:r>
            <a:endParaRPr lang="en-US" sz="1250" dirty="0"/>
          </a:p>
        </p:txBody>
      </p:sp>
      <p:sp>
        <p:nvSpPr>
          <p:cNvPr id="14" name="Text 10"/>
          <p:cNvSpPr/>
          <p:nvPr/>
        </p:nvSpPr>
        <p:spPr>
          <a:xfrm>
            <a:off x="4654296" y="2560320"/>
            <a:ext cx="3200400" cy="1828800"/>
          </a:xfrm>
          <a:prstGeom prst="rect">
            <a:avLst/>
          </a:prstGeom>
          <a:noFill/>
          <a:ln/>
        </p:spPr>
        <p:txBody>
          <a:bodyPr wrap="square" lIns="0" tIns="0" rIns="0" bIns="0" rtlCol="0" anchor="t"/>
          <a:lstStyle/>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Tự chủ → hỗ trợ một phần</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Phụ thuộc nặng</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Hậu phẫu (có thời hạn)</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Sa sút trí tuệ (giám hộ)</a:t>
            </a:r>
            <a:endParaRPr lang="en-US" sz="1100" dirty="0"/>
          </a:p>
        </p:txBody>
      </p:sp>
      <p:sp>
        <p:nvSpPr>
          <p:cNvPr id="15" name="Shape 11"/>
          <p:cNvSpPr/>
          <p:nvPr/>
        </p:nvSpPr>
        <p:spPr>
          <a:xfrm>
            <a:off x="8193024" y="1783080"/>
            <a:ext cx="3611880" cy="2743200"/>
          </a:xfrm>
          <a:prstGeom prst="roundRect">
            <a:avLst>
              <a:gd name="adj" fmla="val 2667"/>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8193024" y="1783080"/>
            <a:ext cx="3611880" cy="640080"/>
          </a:xfrm>
          <a:prstGeom prst="rect">
            <a:avLst/>
          </a:prstGeom>
          <a:solidFill>
            <a:srgbClr val="F5A623"/>
          </a:solidFill>
          <a:ln/>
        </p:spPr>
      </p:sp>
      <p:pic>
        <p:nvPicPr>
          <p:cNvPr id="17" name="Image 2" descr="preencoded.png">    </p:cNvPr>
          <p:cNvPicPr>
            <a:picLocks noChangeAspect="1"/>
          </p:cNvPicPr>
          <p:nvPr/>
        </p:nvPicPr>
        <p:blipFill>
          <a:blip r:embed="rId3"/>
          <a:stretch>
            <a:fillRect/>
          </a:stretch>
        </p:blipFill>
        <p:spPr>
          <a:xfrm>
            <a:off x="8449056" y="1947672"/>
            <a:ext cx="310896" cy="310896"/>
          </a:xfrm>
          <a:prstGeom prst="rect">
            <a:avLst/>
          </a:prstGeom>
        </p:spPr>
      </p:pic>
      <p:sp>
        <p:nvSpPr>
          <p:cNvPr id="18" name="Text 13"/>
          <p:cNvSpPr/>
          <p:nvPr/>
        </p:nvSpPr>
        <p:spPr>
          <a:xfrm>
            <a:off x="8869680" y="1783080"/>
            <a:ext cx="2825496" cy="64008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Trục C · Địa lý</a:t>
            </a:r>
            <a:endParaRPr lang="en-US" sz="1250" dirty="0"/>
          </a:p>
        </p:txBody>
      </p:sp>
      <p:sp>
        <p:nvSpPr>
          <p:cNvPr id="19" name="Text 14"/>
          <p:cNvSpPr/>
          <p:nvPr/>
        </p:nvSpPr>
        <p:spPr>
          <a:xfrm>
            <a:off x="8430768" y="2560320"/>
            <a:ext cx="3200400" cy="1828800"/>
          </a:xfrm>
          <a:prstGeom prst="rect">
            <a:avLst/>
          </a:prstGeom>
          <a:noFill/>
          <a:ln/>
        </p:spPr>
        <p:txBody>
          <a:bodyPr wrap="square" lIns="0" tIns="0" rIns="0" bIns="0" rtlCol="0" anchor="t"/>
          <a:lstStyle/>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Đô thị lớn HN/HCM ra trước</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Tỉnh mạnh về tele + thiết bị</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Quyết định thứ tự mở rộng</a:t>
            </a:r>
            <a:endParaRPr lang="en-US" sz="1100" dirty="0"/>
          </a:p>
          <a:p>
            <a:pPr marL="152400" indent="-152400">
              <a:lnSpc>
                <a:spcPct val="102000"/>
              </a:lnSpc>
              <a:spcAft>
                <a:spcPts val="700"/>
              </a:spcAft>
              <a:buSzPct val="100000"/>
              <a:buChar char="•"/>
            </a:pPr>
            <a:r>
              <a:rPr lang="en-US" sz="1100" dirty="0">
                <a:solidFill>
                  <a:srgbClr val="1E293B"/>
                </a:solidFill>
                <a:latin typeface="Calibri" pitchFamily="34" charset="0"/>
                <a:ea typeface="Calibri" pitchFamily="34" charset="-122"/>
                <a:cs typeface="Calibri" pitchFamily="34" charset="-120"/>
              </a:rPr>
              <a:t>Mix online/offline</a:t>
            </a:r>
            <a:endParaRPr lang="en-US" sz="1100" dirty="0"/>
          </a:p>
        </p:txBody>
      </p:sp>
      <p:sp>
        <p:nvSpPr>
          <p:cNvPr id="20" name="Shape 15"/>
          <p:cNvSpPr/>
          <p:nvPr/>
        </p:nvSpPr>
        <p:spPr>
          <a:xfrm>
            <a:off x="640080" y="4754880"/>
            <a:ext cx="10908792" cy="1371600"/>
          </a:xfrm>
          <a:prstGeom prst="roundRect">
            <a:avLst>
              <a:gd name="adj" fmla="val 5333"/>
            </a:avLst>
          </a:prstGeom>
          <a:solidFill>
            <a:srgbClr val="134E4A"/>
          </a:solidFill>
          <a:ln/>
        </p:spPr>
      </p:sp>
      <p:sp>
        <p:nvSpPr>
          <p:cNvPr id="21" name="Text 16"/>
          <p:cNvSpPr/>
          <p:nvPr/>
        </p:nvSpPr>
        <p:spPr>
          <a:xfrm>
            <a:off x="914400" y="4892040"/>
            <a:ext cx="10332720" cy="36576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Ma trận chuyên gia — mỗi nỗi đau nối tới đúng chuyên gia</a:t>
            </a:r>
            <a:endParaRPr lang="en-US" sz="1300" dirty="0"/>
          </a:p>
        </p:txBody>
      </p:sp>
      <p:sp>
        <p:nvSpPr>
          <p:cNvPr id="22" name="Text 17"/>
          <p:cNvSpPr/>
          <p:nvPr/>
        </p:nvSpPr>
        <p:spPr>
          <a:xfrm>
            <a:off x="914400" y="5285232"/>
            <a:ext cx="10332720" cy="731520"/>
          </a:xfrm>
          <a:prstGeom prst="rect">
            <a:avLst/>
          </a:prstGeom>
          <a:noFill/>
          <a:ln/>
        </p:spPr>
        <p:txBody>
          <a:bodyPr wrap="square" lIns="0" tIns="0" rIns="0" bIns="0" rtlCol="0" anchor="t"/>
          <a:lstStyle/>
          <a:p>
            <a:pPr indent="0" marL="0">
              <a:lnSpc>
                <a:spcPct val="105000"/>
              </a:lnSpc>
              <a:buNone/>
            </a:pPr>
            <a:r>
              <a:rPr lang="en-US" sz="1150" dirty="0">
                <a:solidFill>
                  <a:srgbClr val="ECFEFF"/>
                </a:solidFill>
                <a:latin typeface="Calibri" pitchFamily="34" charset="0"/>
                <a:ea typeface="Calibri" pitchFamily="34" charset="-122"/>
                <a:cs typeface="Calibri" pitchFamily="34" charset="-120"/>
              </a:rPr>
              <a:t>Điều dưỡng lão khoa · BS chuyên khoa (tim mạch / nội tiết / thần kinh / hô hấp) · kỹ thuật viên PHCN · dược lâm sàng · dinh dưỡng · tâm lý · công tác xã hội — ghép theo ô khách hàng (giao của 3 trục).</a:t>
            </a:r>
            <a:endParaRPr lang="en-US" sz="1150" dirty="0"/>
          </a:p>
        </p:txBody>
      </p:sp>
      <p:sp>
        <p:nvSpPr>
          <p:cNvPr id="23" name="Shape 18"/>
          <p:cNvSpPr/>
          <p:nvPr/>
        </p:nvSpPr>
        <p:spPr>
          <a:xfrm>
            <a:off x="0" y="6565392"/>
            <a:ext cx="12191695" cy="292608"/>
          </a:xfrm>
          <a:prstGeom prst="rect">
            <a:avLst/>
          </a:prstGeom>
          <a:solidFill>
            <a:srgbClr val="FFFFFF"/>
          </a:solidFill>
          <a:ln/>
        </p:spPr>
      </p:sp>
      <p:sp>
        <p:nvSpPr>
          <p:cNvPr id="24" name="Shape 19"/>
          <p:cNvSpPr/>
          <p:nvPr/>
        </p:nvSpPr>
        <p:spPr>
          <a:xfrm>
            <a:off x="0" y="6547104"/>
            <a:ext cx="12191695" cy="20117"/>
          </a:xfrm>
          <a:prstGeom prst="rect">
            <a:avLst/>
          </a:prstGeom>
          <a:solidFill>
            <a:srgbClr val="E2E8F0"/>
          </a:solidFill>
          <a:ln/>
        </p:spPr>
      </p:sp>
      <p:sp>
        <p:nvSpPr>
          <p:cNvPr id="25" name="Shape 20"/>
          <p:cNvSpPr/>
          <p:nvPr/>
        </p:nvSpPr>
        <p:spPr>
          <a:xfrm>
            <a:off x="457200" y="6624828"/>
            <a:ext cx="118872" cy="118872"/>
          </a:xfrm>
          <a:prstGeom prst="ellipse">
            <a:avLst/>
          </a:prstGeom>
          <a:solidFill>
            <a:srgbClr val="0D9488"/>
          </a:solidFill>
          <a:ln/>
        </p:spPr>
      </p:sp>
      <p:sp>
        <p:nvSpPr>
          <p:cNvPr id="26" name="Text 21"/>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27" name="Text 22"/>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28" name="Text 23"/>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LIÊN · CẠNH TRANH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Đối thủ &amp; ô trống định vị</a:t>
            </a:r>
            <a:endParaRPr lang="en-US" sz="3000" dirty="0"/>
          </a:p>
        </p:txBody>
      </p:sp>
      <p:sp>
        <p:nvSpPr>
          <p:cNvPr id="5" name="Shape 3"/>
          <p:cNvSpPr/>
          <p:nvPr/>
        </p:nvSpPr>
        <p:spPr>
          <a:xfrm>
            <a:off x="640080" y="1783080"/>
            <a:ext cx="5852160" cy="749808"/>
          </a:xfrm>
          <a:prstGeom prst="roundRect">
            <a:avLst>
              <a:gd name="adj" fmla="val 8537"/>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83080"/>
            <a:ext cx="82296" cy="749808"/>
          </a:xfrm>
          <a:prstGeom prst="rect">
            <a:avLst/>
          </a:prstGeom>
          <a:solidFill>
            <a:srgbClr val="64748B"/>
          </a:solidFill>
          <a:ln/>
        </p:spPr>
      </p:sp>
      <p:sp>
        <p:nvSpPr>
          <p:cNvPr id="7" name="Text 5"/>
          <p:cNvSpPr/>
          <p:nvPr/>
        </p:nvSpPr>
        <p:spPr>
          <a:xfrm>
            <a:off x="868680" y="1874520"/>
            <a:ext cx="5486400" cy="292608"/>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Jio Health</a:t>
            </a:r>
            <a:endParaRPr lang="en-US" sz="1300" dirty="0"/>
          </a:p>
        </p:txBody>
      </p:sp>
      <p:sp>
        <p:nvSpPr>
          <p:cNvPr id="8" name="Text 6"/>
          <p:cNvSpPr/>
          <p:nvPr/>
        </p:nvSpPr>
        <p:spPr>
          <a:xfrm>
            <a:off x="868680" y="2167128"/>
            <a:ext cx="5486400" cy="310896"/>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~$20M Series B · khám &amp; app sức khỏe tổng quát</a:t>
            </a:r>
            <a:endParaRPr lang="en-US" sz="1000" dirty="0"/>
          </a:p>
        </p:txBody>
      </p:sp>
      <p:sp>
        <p:nvSpPr>
          <p:cNvPr id="9" name="Shape 7"/>
          <p:cNvSpPr/>
          <p:nvPr/>
        </p:nvSpPr>
        <p:spPr>
          <a:xfrm>
            <a:off x="640080" y="2624328"/>
            <a:ext cx="5852160" cy="749808"/>
          </a:xfrm>
          <a:prstGeom prst="roundRect">
            <a:avLst>
              <a:gd name="adj" fmla="val 8537"/>
            </a:avLst>
          </a:prstGeom>
          <a:solidFill>
            <a:srgbClr val="FFFFFF"/>
          </a:solidFill>
          <a:ln/>
          <a:effectLst>
            <a:outerShdw sx="100000" sy="100000" kx="0" ky="0" algn="bl" rotWithShape="0" blurRad="63500" dist="25400" dir="5400000">
              <a:srgbClr val="0F172A">
                <a:alpha val="10000"/>
              </a:srgbClr>
            </a:outerShdw>
          </a:effectLst>
        </p:spPr>
      </p:sp>
      <p:sp>
        <p:nvSpPr>
          <p:cNvPr id="10" name="Shape 8"/>
          <p:cNvSpPr/>
          <p:nvPr/>
        </p:nvSpPr>
        <p:spPr>
          <a:xfrm>
            <a:off x="640080" y="2624328"/>
            <a:ext cx="82296" cy="749808"/>
          </a:xfrm>
          <a:prstGeom prst="rect">
            <a:avLst/>
          </a:prstGeom>
          <a:solidFill>
            <a:srgbClr val="64748B"/>
          </a:solidFill>
          <a:ln/>
        </p:spPr>
      </p:sp>
      <p:sp>
        <p:nvSpPr>
          <p:cNvPr id="11" name="Text 9"/>
          <p:cNvSpPr/>
          <p:nvPr/>
        </p:nvSpPr>
        <p:spPr>
          <a:xfrm>
            <a:off x="868680" y="2715768"/>
            <a:ext cx="5486400" cy="292608"/>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bTaskee / bCare</a:t>
            </a:r>
            <a:endParaRPr lang="en-US" sz="1300" dirty="0"/>
          </a:p>
        </p:txBody>
      </p:sp>
      <p:sp>
        <p:nvSpPr>
          <p:cNvPr id="12" name="Text 10"/>
          <p:cNvSpPr/>
          <p:nvPr/>
        </p:nvSpPr>
        <p:spPr>
          <a:xfrm>
            <a:off x="868680" y="3008376"/>
            <a:ext cx="5486400" cy="310896"/>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ĐH Y Dược HCM · dịch vụ chăm sóc tại nhà</a:t>
            </a:r>
            <a:endParaRPr lang="en-US" sz="1000" dirty="0"/>
          </a:p>
        </p:txBody>
      </p:sp>
      <p:sp>
        <p:nvSpPr>
          <p:cNvPr id="13" name="Shape 11"/>
          <p:cNvSpPr/>
          <p:nvPr/>
        </p:nvSpPr>
        <p:spPr>
          <a:xfrm>
            <a:off x="640080" y="3465576"/>
            <a:ext cx="5852160" cy="749808"/>
          </a:xfrm>
          <a:prstGeom prst="roundRect">
            <a:avLst>
              <a:gd name="adj" fmla="val 8537"/>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640080" y="3465576"/>
            <a:ext cx="82296" cy="749808"/>
          </a:xfrm>
          <a:prstGeom prst="rect">
            <a:avLst/>
          </a:prstGeom>
          <a:solidFill>
            <a:srgbClr val="64748B"/>
          </a:solidFill>
          <a:ln/>
        </p:spPr>
      </p:sp>
      <p:sp>
        <p:nvSpPr>
          <p:cNvPr id="15" name="Text 13"/>
          <p:cNvSpPr/>
          <p:nvPr/>
        </p:nvSpPr>
        <p:spPr>
          <a:xfrm>
            <a:off x="868680" y="3557016"/>
            <a:ext cx="5486400" cy="292608"/>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Bluecare</a:t>
            </a:r>
            <a:endParaRPr lang="en-US" sz="1300" dirty="0"/>
          </a:p>
        </p:txBody>
      </p:sp>
      <p:sp>
        <p:nvSpPr>
          <p:cNvPr id="16" name="Text 14"/>
          <p:cNvSpPr/>
          <p:nvPr/>
        </p:nvSpPr>
        <p:spPr>
          <a:xfrm>
            <a:off x="868680" y="3849624"/>
            <a:ext cx="5486400" cy="310896"/>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Nền tảng điều dưỡng / chăm sóc tại nhà</a:t>
            </a:r>
            <a:endParaRPr lang="en-US" sz="1000" dirty="0"/>
          </a:p>
        </p:txBody>
      </p:sp>
      <p:sp>
        <p:nvSpPr>
          <p:cNvPr id="17" name="Shape 15"/>
          <p:cNvSpPr/>
          <p:nvPr/>
        </p:nvSpPr>
        <p:spPr>
          <a:xfrm>
            <a:off x="640080" y="4306824"/>
            <a:ext cx="5852160" cy="749808"/>
          </a:xfrm>
          <a:prstGeom prst="roundRect">
            <a:avLst>
              <a:gd name="adj" fmla="val 8537"/>
            </a:avLst>
          </a:prstGeom>
          <a:solidFill>
            <a:srgbClr val="FFFFFF"/>
          </a:solidFill>
          <a:ln/>
          <a:effectLst>
            <a:outerShdw sx="100000" sy="100000" kx="0" ky="0" algn="bl" rotWithShape="0" blurRad="63500" dist="25400" dir="5400000">
              <a:srgbClr val="0F172A">
                <a:alpha val="10000"/>
              </a:srgbClr>
            </a:outerShdw>
          </a:effectLst>
        </p:spPr>
      </p:sp>
      <p:sp>
        <p:nvSpPr>
          <p:cNvPr id="18" name="Shape 16"/>
          <p:cNvSpPr/>
          <p:nvPr/>
        </p:nvSpPr>
        <p:spPr>
          <a:xfrm>
            <a:off x="640080" y="4306824"/>
            <a:ext cx="82296" cy="749808"/>
          </a:xfrm>
          <a:prstGeom prst="rect">
            <a:avLst/>
          </a:prstGeom>
          <a:solidFill>
            <a:srgbClr val="64748B"/>
          </a:solidFill>
          <a:ln/>
        </p:spPr>
      </p:sp>
      <p:sp>
        <p:nvSpPr>
          <p:cNvPr id="19" name="Text 17"/>
          <p:cNvSpPr/>
          <p:nvPr/>
        </p:nvSpPr>
        <p:spPr>
          <a:xfrm>
            <a:off x="868680" y="4398264"/>
            <a:ext cx="5486400" cy="292608"/>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Med247</a:t>
            </a:r>
            <a:endParaRPr lang="en-US" sz="1300" dirty="0"/>
          </a:p>
        </p:txBody>
      </p:sp>
      <p:sp>
        <p:nvSpPr>
          <p:cNvPr id="20" name="Text 18"/>
          <p:cNvSpPr/>
          <p:nvPr/>
        </p:nvSpPr>
        <p:spPr>
          <a:xfrm>
            <a:off x="868680" y="4690872"/>
            <a:ext cx="5486400" cy="310896"/>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~$4,5M Series A · phòng khám + telehealth</a:t>
            </a:r>
            <a:endParaRPr lang="en-US" sz="1000" dirty="0"/>
          </a:p>
        </p:txBody>
      </p:sp>
      <p:sp>
        <p:nvSpPr>
          <p:cNvPr id="21" name="Shape 19"/>
          <p:cNvSpPr/>
          <p:nvPr/>
        </p:nvSpPr>
        <p:spPr>
          <a:xfrm>
            <a:off x="640080" y="5148072"/>
            <a:ext cx="5852160" cy="749808"/>
          </a:xfrm>
          <a:prstGeom prst="roundRect">
            <a:avLst>
              <a:gd name="adj" fmla="val 8537"/>
            </a:avLst>
          </a:prstGeom>
          <a:solidFill>
            <a:srgbClr val="FFFFFF"/>
          </a:solidFill>
          <a:ln/>
          <a:effectLst>
            <a:outerShdw sx="100000" sy="100000" kx="0" ky="0" algn="bl" rotWithShape="0" blurRad="63500" dist="25400" dir="5400000">
              <a:srgbClr val="0F172A">
                <a:alpha val="10000"/>
              </a:srgbClr>
            </a:outerShdw>
          </a:effectLst>
        </p:spPr>
      </p:sp>
      <p:sp>
        <p:nvSpPr>
          <p:cNvPr id="22" name="Shape 20"/>
          <p:cNvSpPr/>
          <p:nvPr/>
        </p:nvSpPr>
        <p:spPr>
          <a:xfrm>
            <a:off x="640080" y="5148072"/>
            <a:ext cx="82296" cy="749808"/>
          </a:xfrm>
          <a:prstGeom prst="rect">
            <a:avLst/>
          </a:prstGeom>
          <a:solidFill>
            <a:srgbClr val="64748B"/>
          </a:solidFill>
          <a:ln/>
        </p:spPr>
      </p:sp>
      <p:sp>
        <p:nvSpPr>
          <p:cNvPr id="23" name="Text 21"/>
          <p:cNvSpPr/>
          <p:nvPr/>
        </p:nvSpPr>
        <p:spPr>
          <a:xfrm>
            <a:off x="868680" y="5239512"/>
            <a:ext cx="5486400" cy="292608"/>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Wellcare</a:t>
            </a:r>
            <a:endParaRPr lang="en-US" sz="1300" dirty="0"/>
          </a:p>
        </p:txBody>
      </p:sp>
      <p:sp>
        <p:nvSpPr>
          <p:cNvPr id="24" name="Text 22"/>
          <p:cNvSpPr/>
          <p:nvPr/>
        </p:nvSpPr>
        <p:spPr>
          <a:xfrm>
            <a:off x="868680" y="5532120"/>
            <a:ext cx="5486400" cy="310896"/>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Tư vấn bác sĩ từ xa</a:t>
            </a:r>
            <a:endParaRPr lang="en-US" sz="1000" dirty="0"/>
          </a:p>
        </p:txBody>
      </p:sp>
      <p:sp>
        <p:nvSpPr>
          <p:cNvPr id="25" name="Shape 23"/>
          <p:cNvSpPr/>
          <p:nvPr/>
        </p:nvSpPr>
        <p:spPr>
          <a:xfrm>
            <a:off x="6858000" y="1828800"/>
            <a:ext cx="4663440" cy="3657600"/>
          </a:xfrm>
          <a:prstGeom prst="roundRect">
            <a:avLst>
              <a:gd name="adj" fmla="val 2000"/>
            </a:avLst>
          </a:prstGeom>
          <a:solidFill>
            <a:srgbClr val="FFFFFF"/>
          </a:solidFill>
          <a:ln/>
          <a:effectLst>
            <a:outerShdw sx="100000" sy="100000" kx="0" ky="0" algn="bl" rotWithShape="0" blurRad="63500" dist="25400" dir="5400000">
              <a:srgbClr val="0F172A">
                <a:alpha val="10000"/>
              </a:srgbClr>
            </a:outerShdw>
          </a:effectLst>
        </p:spPr>
      </p:sp>
      <p:sp>
        <p:nvSpPr>
          <p:cNvPr id="26" name="Shape 24"/>
          <p:cNvSpPr/>
          <p:nvPr/>
        </p:nvSpPr>
        <p:spPr>
          <a:xfrm>
            <a:off x="9189720" y="2103120"/>
            <a:ext cx="0" cy="3108960"/>
          </a:xfrm>
          <a:prstGeom prst="line">
            <a:avLst/>
          </a:prstGeom>
          <a:noFill/>
          <a:ln w="19050">
            <a:solidFill>
              <a:srgbClr val="E2E8F0"/>
            </a:solidFill>
            <a:prstDash val="solid"/>
          </a:ln>
        </p:spPr>
      </p:sp>
      <p:sp>
        <p:nvSpPr>
          <p:cNvPr id="27" name="Shape 25"/>
          <p:cNvSpPr/>
          <p:nvPr/>
        </p:nvSpPr>
        <p:spPr>
          <a:xfrm>
            <a:off x="7132320" y="3657600"/>
            <a:ext cx="4114800" cy="0"/>
          </a:xfrm>
          <a:prstGeom prst="line">
            <a:avLst/>
          </a:prstGeom>
          <a:noFill/>
          <a:ln w="19050">
            <a:solidFill>
              <a:srgbClr val="E2E8F0"/>
            </a:solidFill>
            <a:prstDash val="solid"/>
          </a:ln>
        </p:spPr>
      </p:sp>
      <p:sp>
        <p:nvSpPr>
          <p:cNvPr id="28" name="Text 26"/>
          <p:cNvSpPr/>
          <p:nvPr/>
        </p:nvSpPr>
        <p:spPr>
          <a:xfrm>
            <a:off x="6858000" y="1874520"/>
            <a:ext cx="466344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Super-app trọn hành trình →</a:t>
            </a:r>
            <a:endParaRPr lang="en-US" sz="900" dirty="0"/>
          </a:p>
        </p:txBody>
      </p:sp>
      <p:sp>
        <p:nvSpPr>
          <p:cNvPr id="29" name="Text 27"/>
          <p:cNvSpPr/>
          <p:nvPr/>
        </p:nvSpPr>
        <p:spPr>
          <a:xfrm>
            <a:off x="6858000" y="5212080"/>
            <a:ext cx="466344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Dịch vụ lẻ</a:t>
            </a:r>
            <a:endParaRPr lang="en-US" sz="900" dirty="0"/>
          </a:p>
        </p:txBody>
      </p:sp>
      <p:sp>
        <p:nvSpPr>
          <p:cNvPr id="30" name="Text 28"/>
          <p:cNvSpPr/>
          <p:nvPr/>
        </p:nvSpPr>
        <p:spPr>
          <a:xfrm>
            <a:off x="6903720" y="2194560"/>
            <a:ext cx="914400" cy="54864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Chuyên</a:t>
            </a:r>
            <a:endParaRPr lang="en-US" sz="900" dirty="0"/>
          </a:p>
          <a:p>
            <a:pPr indent="0" marL="0">
              <a:buNone/>
            </a:pPr>
            <a:r>
              <a:rPr lang="en-US" sz="900" i="1" dirty="0">
                <a:solidFill>
                  <a:srgbClr val="64748B"/>
                </a:solidFill>
                <a:latin typeface="Calibri" pitchFamily="34" charset="0"/>
                <a:ea typeface="Calibri" pitchFamily="34" charset="-122"/>
                <a:cs typeface="Calibri" pitchFamily="34" charset="-120"/>
              </a:rPr>
              <a:t>người già</a:t>
            </a:r>
            <a:endParaRPr lang="en-US" sz="900" dirty="0"/>
          </a:p>
        </p:txBody>
      </p:sp>
      <p:sp>
        <p:nvSpPr>
          <p:cNvPr id="31" name="Text 29"/>
          <p:cNvSpPr/>
          <p:nvPr/>
        </p:nvSpPr>
        <p:spPr>
          <a:xfrm>
            <a:off x="6903720" y="4617720"/>
            <a:ext cx="822960" cy="54864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Đại</a:t>
            </a:r>
            <a:endParaRPr lang="en-US" sz="900" dirty="0"/>
          </a:p>
          <a:p>
            <a:pPr indent="0" marL="0">
              <a:buNone/>
            </a:pPr>
            <a:r>
              <a:rPr lang="en-US" sz="900" i="1" dirty="0">
                <a:solidFill>
                  <a:srgbClr val="64748B"/>
                </a:solidFill>
                <a:latin typeface="Calibri" pitchFamily="34" charset="0"/>
                <a:ea typeface="Calibri" pitchFamily="34" charset="-122"/>
                <a:cs typeface="Calibri" pitchFamily="34" charset="-120"/>
              </a:rPr>
              <a:t>trà</a:t>
            </a:r>
            <a:endParaRPr lang="en-US" sz="900" dirty="0"/>
          </a:p>
        </p:txBody>
      </p:sp>
      <p:sp>
        <p:nvSpPr>
          <p:cNvPr id="32" name="Shape 30"/>
          <p:cNvSpPr/>
          <p:nvPr/>
        </p:nvSpPr>
        <p:spPr>
          <a:xfrm>
            <a:off x="8229600" y="4480560"/>
            <a:ext cx="146304" cy="146304"/>
          </a:xfrm>
          <a:prstGeom prst="ellipse">
            <a:avLst/>
          </a:prstGeom>
          <a:solidFill>
            <a:srgbClr val="64748B"/>
          </a:solidFill>
          <a:ln/>
        </p:spPr>
      </p:sp>
      <p:sp>
        <p:nvSpPr>
          <p:cNvPr id="33" name="Text 31"/>
          <p:cNvSpPr/>
          <p:nvPr/>
        </p:nvSpPr>
        <p:spPr>
          <a:xfrm>
            <a:off x="7772400" y="4599432"/>
            <a:ext cx="1097280" cy="201168"/>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Jio</a:t>
            </a:r>
            <a:endParaRPr lang="en-US" sz="800" dirty="0"/>
          </a:p>
        </p:txBody>
      </p:sp>
      <p:sp>
        <p:nvSpPr>
          <p:cNvPr id="34" name="Shape 32"/>
          <p:cNvSpPr/>
          <p:nvPr/>
        </p:nvSpPr>
        <p:spPr>
          <a:xfrm>
            <a:off x="8778240" y="4846320"/>
            <a:ext cx="146304" cy="146304"/>
          </a:xfrm>
          <a:prstGeom prst="ellipse">
            <a:avLst/>
          </a:prstGeom>
          <a:solidFill>
            <a:srgbClr val="64748B"/>
          </a:solidFill>
          <a:ln/>
        </p:spPr>
      </p:sp>
      <p:sp>
        <p:nvSpPr>
          <p:cNvPr id="35" name="Text 33"/>
          <p:cNvSpPr/>
          <p:nvPr/>
        </p:nvSpPr>
        <p:spPr>
          <a:xfrm>
            <a:off x="8321040" y="4965192"/>
            <a:ext cx="1097280" cy="201168"/>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Med247</a:t>
            </a:r>
            <a:endParaRPr lang="en-US" sz="800" dirty="0"/>
          </a:p>
        </p:txBody>
      </p:sp>
      <p:sp>
        <p:nvSpPr>
          <p:cNvPr id="36" name="Shape 34"/>
          <p:cNvSpPr/>
          <p:nvPr/>
        </p:nvSpPr>
        <p:spPr>
          <a:xfrm>
            <a:off x="7955280" y="4023360"/>
            <a:ext cx="146304" cy="146304"/>
          </a:xfrm>
          <a:prstGeom prst="ellipse">
            <a:avLst/>
          </a:prstGeom>
          <a:solidFill>
            <a:srgbClr val="64748B"/>
          </a:solidFill>
          <a:ln/>
        </p:spPr>
      </p:sp>
      <p:sp>
        <p:nvSpPr>
          <p:cNvPr id="37" name="Text 35"/>
          <p:cNvSpPr/>
          <p:nvPr/>
        </p:nvSpPr>
        <p:spPr>
          <a:xfrm>
            <a:off x="7498080" y="4142232"/>
            <a:ext cx="1097280" cy="201168"/>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bCare</a:t>
            </a:r>
            <a:endParaRPr lang="en-US" sz="800" dirty="0"/>
          </a:p>
        </p:txBody>
      </p:sp>
      <p:sp>
        <p:nvSpPr>
          <p:cNvPr id="38" name="Shape 36"/>
          <p:cNvSpPr/>
          <p:nvPr/>
        </p:nvSpPr>
        <p:spPr>
          <a:xfrm>
            <a:off x="7772400" y="4937760"/>
            <a:ext cx="146304" cy="146304"/>
          </a:xfrm>
          <a:prstGeom prst="ellipse">
            <a:avLst/>
          </a:prstGeom>
          <a:solidFill>
            <a:srgbClr val="64748B"/>
          </a:solidFill>
          <a:ln/>
        </p:spPr>
      </p:sp>
      <p:sp>
        <p:nvSpPr>
          <p:cNvPr id="39" name="Text 37"/>
          <p:cNvSpPr/>
          <p:nvPr/>
        </p:nvSpPr>
        <p:spPr>
          <a:xfrm>
            <a:off x="7315200" y="5056632"/>
            <a:ext cx="1097280" cy="201168"/>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Bluecare</a:t>
            </a:r>
            <a:endParaRPr lang="en-US" sz="800" dirty="0"/>
          </a:p>
        </p:txBody>
      </p:sp>
      <p:sp>
        <p:nvSpPr>
          <p:cNvPr id="40" name="Shape 38"/>
          <p:cNvSpPr/>
          <p:nvPr/>
        </p:nvSpPr>
        <p:spPr>
          <a:xfrm>
            <a:off x="9326880" y="4297680"/>
            <a:ext cx="146304" cy="146304"/>
          </a:xfrm>
          <a:prstGeom prst="ellipse">
            <a:avLst/>
          </a:prstGeom>
          <a:solidFill>
            <a:srgbClr val="64748B"/>
          </a:solidFill>
          <a:ln/>
        </p:spPr>
      </p:sp>
      <p:sp>
        <p:nvSpPr>
          <p:cNvPr id="41" name="Text 39"/>
          <p:cNvSpPr/>
          <p:nvPr/>
        </p:nvSpPr>
        <p:spPr>
          <a:xfrm>
            <a:off x="8869680" y="4416552"/>
            <a:ext cx="1097280" cy="201168"/>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Wellcare</a:t>
            </a:r>
            <a:endParaRPr lang="en-US" sz="800" dirty="0"/>
          </a:p>
        </p:txBody>
      </p:sp>
      <p:sp>
        <p:nvSpPr>
          <p:cNvPr id="42" name="Shape 40"/>
          <p:cNvSpPr/>
          <p:nvPr/>
        </p:nvSpPr>
        <p:spPr>
          <a:xfrm>
            <a:off x="10241280" y="2514600"/>
            <a:ext cx="310896" cy="310896"/>
          </a:xfrm>
          <a:prstGeom prst="ellipse">
            <a:avLst/>
          </a:prstGeom>
          <a:solidFill>
            <a:srgbClr val="FB7185"/>
          </a:solidFill>
          <a:ln/>
        </p:spPr>
      </p:sp>
      <p:sp>
        <p:nvSpPr>
          <p:cNvPr id="43" name="Text 41"/>
          <p:cNvSpPr/>
          <p:nvPr/>
        </p:nvSpPr>
        <p:spPr>
          <a:xfrm>
            <a:off x="9601200" y="2852928"/>
            <a:ext cx="1645920" cy="228600"/>
          </a:xfrm>
          <a:prstGeom prst="rect">
            <a:avLst/>
          </a:prstGeom>
          <a:noFill/>
          <a:ln/>
        </p:spPr>
        <p:txBody>
          <a:bodyPr wrap="square" lIns="0" tIns="0" rIns="0" bIns="0" rtlCol="0" anchor="ctr"/>
          <a:lstStyle/>
          <a:p>
            <a:pPr algn="ctr" indent="0" marL="0">
              <a:buNone/>
            </a:pPr>
            <a:r>
              <a:rPr lang="en-US" sz="950" b="1" dirty="0">
                <a:solidFill>
                  <a:srgbClr val="FB7185"/>
                </a:solidFill>
                <a:latin typeface="Trebuchet MS" pitchFamily="34" charset="0"/>
                <a:ea typeface="Trebuchet MS" pitchFamily="34" charset="-122"/>
                <a:cs typeface="Trebuchet MS" pitchFamily="34" charset="-120"/>
              </a:rPr>
              <a:t>ElderCare</a:t>
            </a:r>
            <a:endParaRPr lang="en-US" sz="950" dirty="0"/>
          </a:p>
        </p:txBody>
      </p:sp>
      <p:sp>
        <p:nvSpPr>
          <p:cNvPr id="44" name="Text 42"/>
          <p:cNvSpPr/>
          <p:nvPr/>
        </p:nvSpPr>
        <p:spPr>
          <a:xfrm>
            <a:off x="6858000" y="5715000"/>
            <a:ext cx="4663440" cy="320040"/>
          </a:xfrm>
          <a:prstGeom prst="rect">
            <a:avLst/>
          </a:prstGeom>
          <a:noFill/>
          <a:ln/>
        </p:spPr>
        <p:txBody>
          <a:bodyPr wrap="square" lIns="0" tIns="0" rIns="0" bIns="0" rtlCol="0" anchor="ctr"/>
          <a:lstStyle/>
          <a:p>
            <a:pPr algn="ctr" indent="0" marL="0">
              <a:buNone/>
            </a:pPr>
            <a:r>
              <a:rPr lang="en-US" sz="1000" b="1" i="1" dirty="0">
                <a:solidFill>
                  <a:srgbClr val="0F766E"/>
                </a:solidFill>
                <a:latin typeface="Calibri" pitchFamily="34" charset="0"/>
                <a:ea typeface="Calibri" pitchFamily="34" charset="-122"/>
                <a:cs typeface="Calibri" pitchFamily="34" charset="-120"/>
              </a:rPr>
              <a:t>Ô trống: super-app × chuyên biệt người cao tuổi.</a:t>
            </a:r>
            <a:endParaRPr lang="en-US" sz="1000" dirty="0"/>
          </a:p>
        </p:txBody>
      </p:sp>
      <p:sp>
        <p:nvSpPr>
          <p:cNvPr id="45" name="Shape 43"/>
          <p:cNvSpPr/>
          <p:nvPr/>
        </p:nvSpPr>
        <p:spPr>
          <a:xfrm>
            <a:off x="0" y="6565392"/>
            <a:ext cx="12191695" cy="292608"/>
          </a:xfrm>
          <a:prstGeom prst="rect">
            <a:avLst/>
          </a:prstGeom>
          <a:solidFill>
            <a:srgbClr val="FFFFFF"/>
          </a:solidFill>
          <a:ln/>
        </p:spPr>
      </p:sp>
      <p:sp>
        <p:nvSpPr>
          <p:cNvPr id="46" name="Shape 44"/>
          <p:cNvSpPr/>
          <p:nvPr/>
        </p:nvSpPr>
        <p:spPr>
          <a:xfrm>
            <a:off x="0" y="6547104"/>
            <a:ext cx="12191695" cy="20117"/>
          </a:xfrm>
          <a:prstGeom prst="rect">
            <a:avLst/>
          </a:prstGeom>
          <a:solidFill>
            <a:srgbClr val="E2E8F0"/>
          </a:solidFill>
          <a:ln/>
        </p:spPr>
      </p:sp>
      <p:sp>
        <p:nvSpPr>
          <p:cNvPr id="47" name="Shape 45"/>
          <p:cNvSpPr/>
          <p:nvPr/>
        </p:nvSpPr>
        <p:spPr>
          <a:xfrm>
            <a:off x="457200" y="6624828"/>
            <a:ext cx="118872" cy="118872"/>
          </a:xfrm>
          <a:prstGeom prst="ellipse">
            <a:avLst/>
          </a:prstGeom>
          <a:solidFill>
            <a:srgbClr val="0D9488"/>
          </a:solidFill>
          <a:ln/>
        </p:spPr>
      </p:sp>
      <p:sp>
        <p:nvSpPr>
          <p:cNvPr id="48" name="Text 46"/>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9" name="Text 47"/>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50" name="Text 48"/>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F766E">
              <a:alpha val="65000"/>
            </a:srgbClr>
          </a:solidFill>
          <a:ln/>
        </p:spPr>
      </p:sp>
      <p:sp>
        <p:nvSpPr>
          <p:cNvPr id="3" name="Shape 1"/>
          <p:cNvSpPr/>
          <p:nvPr/>
        </p:nvSpPr>
        <p:spPr>
          <a:xfrm>
            <a:off x="-1280160" y="4206240"/>
            <a:ext cx="3657600" cy="3657600"/>
          </a:xfrm>
          <a:prstGeom prst="ellipse">
            <a:avLst/>
          </a:prstGeom>
          <a:solidFill>
            <a:srgbClr val="0F766E">
              <a:alpha val="50000"/>
            </a:srgbClr>
          </a:solidFill>
          <a:ln/>
        </p:spPr>
      </p:sp>
      <p:sp>
        <p:nvSpPr>
          <p:cNvPr id="4" name="Shape 2"/>
          <p:cNvSpPr/>
          <p:nvPr/>
        </p:nvSpPr>
        <p:spPr>
          <a:xfrm>
            <a:off x="822960" y="1371600"/>
            <a:ext cx="1188720" cy="1188720"/>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06424" y="1655064"/>
            <a:ext cx="621792" cy="621792"/>
          </a:xfrm>
          <a:prstGeom prst="rect">
            <a:avLst/>
          </a:prstGeom>
        </p:spPr>
      </p:pic>
      <p:sp>
        <p:nvSpPr>
          <p:cNvPr id="6" name="Text 3"/>
          <p:cNvSpPr/>
          <p:nvPr/>
        </p:nvSpPr>
        <p:spPr>
          <a:xfrm>
            <a:off x="822960" y="2743200"/>
            <a:ext cx="100584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Trebuchet MS" pitchFamily="34" charset="0"/>
                <a:ea typeface="Trebuchet MS" pitchFamily="34" charset="-122"/>
                <a:cs typeface="Trebuchet MS" pitchFamily="34" charset="-120"/>
              </a:rPr>
              <a:t>PHẦN BỆNH LÝ &amp; CHUYÊN MÔN</a:t>
            </a:r>
            <a:endParaRPr lang="en-US" sz="1400" dirty="0"/>
          </a:p>
        </p:txBody>
      </p:sp>
      <p:sp>
        <p:nvSpPr>
          <p:cNvPr id="7" name="Text 4"/>
          <p:cNvSpPr/>
          <p:nvPr/>
        </p:nvSpPr>
        <p:spPr>
          <a:xfrm>
            <a:off x="804672" y="3127248"/>
            <a:ext cx="10515600" cy="109728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Trebuchet MS" pitchFamily="34" charset="0"/>
                <a:ea typeface="Trebuchet MS" pitchFamily="34" charset="-122"/>
                <a:cs typeface="Trebuchet MS" pitchFamily="34" charset="-120"/>
              </a:rPr>
              <a:t>Lão khoa &amp; năng lực đội ngũ</a:t>
            </a:r>
            <a:endParaRPr lang="en-US" sz="3800" dirty="0"/>
          </a:p>
        </p:txBody>
      </p:sp>
      <p:sp>
        <p:nvSpPr>
          <p:cNvPr id="8" name="Shape 5"/>
          <p:cNvSpPr/>
          <p:nvPr/>
        </p:nvSpPr>
        <p:spPr>
          <a:xfrm>
            <a:off x="822960" y="4343400"/>
            <a:ext cx="4206240" cy="566928"/>
          </a:xfrm>
          <a:prstGeom prst="roundRect">
            <a:avLst>
              <a:gd name="adj" fmla="val 50000"/>
            </a:avLst>
          </a:prstGeom>
          <a:solidFill>
            <a:srgbClr val="FB7185"/>
          </a:solidFill>
          <a:ln/>
        </p:spPr>
      </p:sp>
      <p:pic>
        <p:nvPicPr>
          <p:cNvPr id="9" name="Image 1" descr="preencoded.png">    </p:cNvPr>
          <p:cNvPicPr>
            <a:picLocks noChangeAspect="1"/>
          </p:cNvPicPr>
          <p:nvPr/>
        </p:nvPicPr>
        <p:blipFill>
          <a:blip r:embed="rId2"/>
          <a:stretch>
            <a:fillRect/>
          </a:stretch>
        </p:blipFill>
        <p:spPr>
          <a:xfrm>
            <a:off x="1024128" y="4480560"/>
            <a:ext cx="292608" cy="292608"/>
          </a:xfrm>
          <a:prstGeom prst="rect">
            <a:avLst/>
          </a:prstGeom>
        </p:spPr>
      </p:pic>
      <p:sp>
        <p:nvSpPr>
          <p:cNvPr id="10" name="Text 6"/>
          <p:cNvSpPr/>
          <p:nvPr/>
        </p:nvSpPr>
        <p:spPr>
          <a:xfrm>
            <a:off x="1371600" y="4343400"/>
            <a:ext cx="3566160" cy="56692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Trình bày: Anh Hiếu</a:t>
            </a:r>
            <a:endParaRPr lang="en-US" sz="1400" dirty="0"/>
          </a:p>
        </p:txBody>
      </p:sp>
      <p:sp>
        <p:nvSpPr>
          <p:cNvPr id="11" name="Text 7"/>
          <p:cNvSpPr/>
          <p:nvPr/>
        </p:nvSpPr>
        <p:spPr>
          <a:xfrm>
            <a:off x="868680" y="5120640"/>
            <a:ext cx="10058400" cy="137160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Bệnh lý lão khoa — 8 nhóm bệnh &amp; hội chứng</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Đào tạo điều dưỡng 4 cấp (e-learning + OSCE)</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Kế hoạch chuyên môn 4 tầng (~1,86 tỷ/năm)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HIẾU · BỆNH LÝ LÃO KHOA</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8 nhóm bệnh &amp; hội chứng — theo dõi gì, ai chăm</a:t>
            </a:r>
            <a:endParaRPr lang="en-US" sz="3000" dirty="0"/>
          </a:p>
        </p:txBody>
      </p:sp>
      <p:sp>
        <p:nvSpPr>
          <p:cNvPr id="5" name="Shape 3"/>
          <p:cNvSpPr/>
          <p:nvPr/>
        </p:nvSpPr>
        <p:spPr>
          <a:xfrm>
            <a:off x="640080" y="1783080"/>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59536" y="2020824"/>
            <a:ext cx="566928" cy="566928"/>
          </a:xfrm>
          <a:prstGeom prst="ellipse">
            <a:avLst/>
          </a:prstGeom>
          <a:solidFill>
            <a:srgbClr val="FB7185"/>
          </a:solidFill>
          <a:ln/>
        </p:spPr>
      </p:sp>
      <p:pic>
        <p:nvPicPr>
          <p:cNvPr id="7" name="Image 0" descr="preencoded.png">    </p:cNvPr>
          <p:cNvPicPr>
            <a:picLocks noChangeAspect="1"/>
          </p:cNvPicPr>
          <p:nvPr/>
        </p:nvPicPr>
        <p:blipFill>
          <a:blip r:embed="rId1"/>
          <a:stretch>
            <a:fillRect/>
          </a:stretch>
        </p:blipFill>
        <p:spPr>
          <a:xfrm>
            <a:off x="996696" y="2157984"/>
            <a:ext cx="292608" cy="292608"/>
          </a:xfrm>
          <a:prstGeom prst="rect">
            <a:avLst/>
          </a:prstGeom>
        </p:spPr>
      </p:pic>
      <p:sp>
        <p:nvSpPr>
          <p:cNvPr id="8" name="Text 5"/>
          <p:cNvSpPr/>
          <p:nvPr/>
        </p:nvSpPr>
        <p:spPr>
          <a:xfrm>
            <a:off x="1554480" y="2020824"/>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Tim mạch</a:t>
            </a:r>
            <a:endParaRPr lang="en-US" sz="1250" dirty="0"/>
          </a:p>
        </p:txBody>
      </p:sp>
      <p:sp>
        <p:nvSpPr>
          <p:cNvPr id="9" name="Text 6"/>
          <p:cNvSpPr/>
          <p:nvPr/>
        </p:nvSpPr>
        <p:spPr>
          <a:xfrm>
            <a:off x="877824" y="2679192"/>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THA · suy tim · loạn nhịp → đo HA, cân nặng, BS tim mạch</a:t>
            </a:r>
            <a:endParaRPr lang="en-US" sz="950" dirty="0"/>
          </a:p>
        </p:txBody>
      </p:sp>
      <p:sp>
        <p:nvSpPr>
          <p:cNvPr id="10" name="Shape 7"/>
          <p:cNvSpPr/>
          <p:nvPr/>
        </p:nvSpPr>
        <p:spPr>
          <a:xfrm>
            <a:off x="3483864" y="1783080"/>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3703320" y="2020824"/>
            <a:ext cx="566928" cy="566928"/>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3840480" y="2157984"/>
            <a:ext cx="292608" cy="292608"/>
          </a:xfrm>
          <a:prstGeom prst="rect">
            <a:avLst/>
          </a:prstGeom>
        </p:spPr>
      </p:pic>
      <p:sp>
        <p:nvSpPr>
          <p:cNvPr id="13" name="Text 9"/>
          <p:cNvSpPr/>
          <p:nvPr/>
        </p:nvSpPr>
        <p:spPr>
          <a:xfrm>
            <a:off x="4398264" y="2020824"/>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Nội tiết – chuyển hóa</a:t>
            </a:r>
            <a:endParaRPr lang="en-US" sz="1250" dirty="0"/>
          </a:p>
        </p:txBody>
      </p:sp>
      <p:sp>
        <p:nvSpPr>
          <p:cNvPr id="14" name="Text 10"/>
          <p:cNvSpPr/>
          <p:nvPr/>
        </p:nvSpPr>
        <p:spPr>
          <a:xfrm>
            <a:off x="3721608" y="2679192"/>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ĐTĐ type 2 → đường huyết, HbA1c, chăm bàn chân, dinh dưỡng</a:t>
            </a:r>
            <a:endParaRPr lang="en-US" sz="950" dirty="0"/>
          </a:p>
        </p:txBody>
      </p:sp>
      <p:sp>
        <p:nvSpPr>
          <p:cNvPr id="15" name="Shape 11"/>
          <p:cNvSpPr/>
          <p:nvPr/>
        </p:nvSpPr>
        <p:spPr>
          <a:xfrm>
            <a:off x="6327648" y="1783080"/>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6547104" y="2020824"/>
            <a:ext cx="566928" cy="566928"/>
          </a:xfrm>
          <a:prstGeom prst="ellipse">
            <a:avLst/>
          </a:prstGeom>
          <a:solidFill>
            <a:srgbClr val="F5A623"/>
          </a:solidFill>
          <a:ln/>
        </p:spPr>
      </p:sp>
      <p:pic>
        <p:nvPicPr>
          <p:cNvPr id="17" name="Image 2" descr="preencoded.png">    </p:cNvPr>
          <p:cNvPicPr>
            <a:picLocks noChangeAspect="1"/>
          </p:cNvPicPr>
          <p:nvPr/>
        </p:nvPicPr>
        <p:blipFill>
          <a:blip r:embed="rId3"/>
          <a:stretch>
            <a:fillRect/>
          </a:stretch>
        </p:blipFill>
        <p:spPr>
          <a:xfrm>
            <a:off x="6684264" y="2157984"/>
            <a:ext cx="292608" cy="292608"/>
          </a:xfrm>
          <a:prstGeom prst="rect">
            <a:avLst/>
          </a:prstGeom>
        </p:spPr>
      </p:pic>
      <p:sp>
        <p:nvSpPr>
          <p:cNvPr id="18" name="Text 13"/>
          <p:cNvSpPr/>
          <p:nvPr/>
        </p:nvSpPr>
        <p:spPr>
          <a:xfrm>
            <a:off x="7242048" y="2020824"/>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Cơ xương khớp</a:t>
            </a:r>
            <a:endParaRPr lang="en-US" sz="1250" dirty="0"/>
          </a:p>
        </p:txBody>
      </p:sp>
      <p:sp>
        <p:nvSpPr>
          <p:cNvPr id="19" name="Text 14"/>
          <p:cNvSpPr/>
          <p:nvPr/>
        </p:nvSpPr>
        <p:spPr>
          <a:xfrm>
            <a:off x="6565392" y="2679192"/>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Thoái hóa · loãng xương · gãy do té → PHCN, hậu phẫu khớp</a:t>
            </a:r>
            <a:endParaRPr lang="en-US" sz="950" dirty="0"/>
          </a:p>
        </p:txBody>
      </p:sp>
      <p:sp>
        <p:nvSpPr>
          <p:cNvPr id="20" name="Shape 15"/>
          <p:cNvSpPr/>
          <p:nvPr/>
        </p:nvSpPr>
        <p:spPr>
          <a:xfrm>
            <a:off x="9171432" y="1783080"/>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21" name="Shape 16"/>
          <p:cNvSpPr/>
          <p:nvPr/>
        </p:nvSpPr>
        <p:spPr>
          <a:xfrm>
            <a:off x="9390888" y="2020824"/>
            <a:ext cx="566928" cy="566928"/>
          </a:xfrm>
          <a:prstGeom prst="ellipse">
            <a:avLst/>
          </a:prstGeom>
          <a:solidFill>
            <a:srgbClr val="0F766E"/>
          </a:solidFill>
          <a:ln/>
        </p:spPr>
      </p:sp>
      <p:pic>
        <p:nvPicPr>
          <p:cNvPr id="22" name="Image 3" descr="preencoded.png">    </p:cNvPr>
          <p:cNvPicPr>
            <a:picLocks noChangeAspect="1"/>
          </p:cNvPicPr>
          <p:nvPr/>
        </p:nvPicPr>
        <p:blipFill>
          <a:blip r:embed="rId4"/>
          <a:stretch>
            <a:fillRect/>
          </a:stretch>
        </p:blipFill>
        <p:spPr>
          <a:xfrm>
            <a:off x="9528048" y="2157984"/>
            <a:ext cx="292608" cy="292608"/>
          </a:xfrm>
          <a:prstGeom prst="rect">
            <a:avLst/>
          </a:prstGeom>
        </p:spPr>
      </p:pic>
      <p:sp>
        <p:nvSpPr>
          <p:cNvPr id="23" name="Text 17"/>
          <p:cNvSpPr/>
          <p:nvPr/>
        </p:nvSpPr>
        <p:spPr>
          <a:xfrm>
            <a:off x="10085832" y="2020824"/>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Thần kinh</a:t>
            </a:r>
            <a:endParaRPr lang="en-US" sz="1250" dirty="0"/>
          </a:p>
        </p:txBody>
      </p:sp>
      <p:sp>
        <p:nvSpPr>
          <p:cNvPr id="24" name="Text 18"/>
          <p:cNvSpPr/>
          <p:nvPr/>
        </p:nvSpPr>
        <p:spPr>
          <a:xfrm>
            <a:off x="9409176" y="2679192"/>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Đột quỵ · Parkinson · sa sút trí tuệ → F.A.S.T, nguy cơ đi lạc</a:t>
            </a:r>
            <a:endParaRPr lang="en-US" sz="950" dirty="0"/>
          </a:p>
        </p:txBody>
      </p:sp>
      <p:sp>
        <p:nvSpPr>
          <p:cNvPr id="25" name="Shape 19"/>
          <p:cNvSpPr/>
          <p:nvPr/>
        </p:nvSpPr>
        <p:spPr>
          <a:xfrm>
            <a:off x="640080" y="3959352"/>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26" name="Shape 20"/>
          <p:cNvSpPr/>
          <p:nvPr/>
        </p:nvSpPr>
        <p:spPr>
          <a:xfrm>
            <a:off x="859536" y="4197096"/>
            <a:ext cx="566928" cy="566928"/>
          </a:xfrm>
          <a:prstGeom prst="ellipse">
            <a:avLst/>
          </a:prstGeom>
          <a:solidFill>
            <a:srgbClr val="2DD4BF"/>
          </a:solidFill>
          <a:ln/>
        </p:spPr>
      </p:sp>
      <p:pic>
        <p:nvPicPr>
          <p:cNvPr id="27" name="Image 4" descr="preencoded.png">    </p:cNvPr>
          <p:cNvPicPr>
            <a:picLocks noChangeAspect="1"/>
          </p:cNvPicPr>
          <p:nvPr/>
        </p:nvPicPr>
        <p:blipFill>
          <a:blip r:embed="rId5"/>
          <a:stretch>
            <a:fillRect/>
          </a:stretch>
        </p:blipFill>
        <p:spPr>
          <a:xfrm>
            <a:off x="996696" y="4334256"/>
            <a:ext cx="292608" cy="292608"/>
          </a:xfrm>
          <a:prstGeom prst="rect">
            <a:avLst/>
          </a:prstGeom>
        </p:spPr>
      </p:pic>
      <p:sp>
        <p:nvSpPr>
          <p:cNvPr id="28" name="Text 21"/>
          <p:cNvSpPr/>
          <p:nvPr/>
        </p:nvSpPr>
        <p:spPr>
          <a:xfrm>
            <a:off x="1554480" y="4197096"/>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Hô hấp</a:t>
            </a:r>
            <a:endParaRPr lang="en-US" sz="1250" dirty="0"/>
          </a:p>
        </p:txBody>
      </p:sp>
      <p:sp>
        <p:nvSpPr>
          <p:cNvPr id="29" name="Text 22"/>
          <p:cNvSpPr/>
          <p:nvPr/>
        </p:nvSpPr>
        <p:spPr>
          <a:xfrm>
            <a:off x="877824" y="4855464"/>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COPD · viêm phổi → SpO₂, kỹ thuật xịt, tiêm phòng</a:t>
            </a:r>
            <a:endParaRPr lang="en-US" sz="950" dirty="0"/>
          </a:p>
        </p:txBody>
      </p:sp>
      <p:sp>
        <p:nvSpPr>
          <p:cNvPr id="30" name="Shape 23"/>
          <p:cNvSpPr/>
          <p:nvPr/>
        </p:nvSpPr>
        <p:spPr>
          <a:xfrm>
            <a:off x="3483864" y="3959352"/>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31" name="Shape 24"/>
          <p:cNvSpPr/>
          <p:nvPr/>
        </p:nvSpPr>
        <p:spPr>
          <a:xfrm>
            <a:off x="3703320" y="4197096"/>
            <a:ext cx="566928" cy="566928"/>
          </a:xfrm>
          <a:prstGeom prst="ellipse">
            <a:avLst/>
          </a:prstGeom>
          <a:solidFill>
            <a:srgbClr val="FB7185"/>
          </a:solidFill>
          <a:ln/>
        </p:spPr>
      </p:sp>
      <p:pic>
        <p:nvPicPr>
          <p:cNvPr id="32" name="Image 5" descr="preencoded.png">    </p:cNvPr>
          <p:cNvPicPr>
            <a:picLocks noChangeAspect="1"/>
          </p:cNvPicPr>
          <p:nvPr/>
        </p:nvPicPr>
        <p:blipFill>
          <a:blip r:embed="rId6"/>
          <a:stretch>
            <a:fillRect/>
          </a:stretch>
        </p:blipFill>
        <p:spPr>
          <a:xfrm>
            <a:off x="3840480" y="4334256"/>
            <a:ext cx="292608" cy="292608"/>
          </a:xfrm>
          <a:prstGeom prst="rect">
            <a:avLst/>
          </a:prstGeom>
        </p:spPr>
      </p:pic>
      <p:sp>
        <p:nvSpPr>
          <p:cNvPr id="33" name="Text 25"/>
          <p:cNvSpPr/>
          <p:nvPr/>
        </p:nvSpPr>
        <p:spPr>
          <a:xfrm>
            <a:off x="4398264" y="4197096"/>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Ung thư</a:t>
            </a:r>
            <a:endParaRPr lang="en-US" sz="1250" dirty="0"/>
          </a:p>
        </p:txBody>
      </p:sp>
      <p:sp>
        <p:nvSpPr>
          <p:cNvPr id="34" name="Text 26"/>
          <p:cNvSpPr/>
          <p:nvPr/>
        </p:nvSpPr>
        <p:spPr>
          <a:xfrm>
            <a:off x="3721608" y="4855464"/>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Điều trị &amp; giảm nhẹ → kiểm soát đau, dinh dưỡng, tâm lý</a:t>
            </a:r>
            <a:endParaRPr lang="en-US" sz="950" dirty="0"/>
          </a:p>
        </p:txBody>
      </p:sp>
      <p:sp>
        <p:nvSpPr>
          <p:cNvPr id="35" name="Shape 27"/>
          <p:cNvSpPr/>
          <p:nvPr/>
        </p:nvSpPr>
        <p:spPr>
          <a:xfrm>
            <a:off x="6327648" y="3959352"/>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36" name="Shape 28"/>
          <p:cNvSpPr/>
          <p:nvPr/>
        </p:nvSpPr>
        <p:spPr>
          <a:xfrm>
            <a:off x="6547104" y="4197096"/>
            <a:ext cx="566928" cy="566928"/>
          </a:xfrm>
          <a:prstGeom prst="ellipse">
            <a:avLst/>
          </a:prstGeom>
          <a:solidFill>
            <a:srgbClr val="0D9488"/>
          </a:solidFill>
          <a:ln/>
        </p:spPr>
      </p:sp>
      <p:pic>
        <p:nvPicPr>
          <p:cNvPr id="37" name="Image 6" descr="preencoded.png">    </p:cNvPr>
          <p:cNvPicPr>
            <a:picLocks noChangeAspect="1"/>
          </p:cNvPicPr>
          <p:nvPr/>
        </p:nvPicPr>
        <p:blipFill>
          <a:blip r:embed="rId7"/>
          <a:stretch>
            <a:fillRect/>
          </a:stretch>
        </p:blipFill>
        <p:spPr>
          <a:xfrm>
            <a:off x="6684264" y="4334256"/>
            <a:ext cx="292608" cy="292608"/>
          </a:xfrm>
          <a:prstGeom prst="rect">
            <a:avLst/>
          </a:prstGeom>
        </p:spPr>
      </p:pic>
      <p:sp>
        <p:nvSpPr>
          <p:cNvPr id="38" name="Text 29"/>
          <p:cNvSpPr/>
          <p:nvPr/>
        </p:nvSpPr>
        <p:spPr>
          <a:xfrm>
            <a:off x="7242048" y="4197096"/>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Sức khỏe tâm thần</a:t>
            </a:r>
            <a:endParaRPr lang="en-US" sz="1250" dirty="0"/>
          </a:p>
        </p:txBody>
      </p:sp>
      <p:sp>
        <p:nvSpPr>
          <p:cNvPr id="39" name="Text 30"/>
          <p:cNvSpPr/>
          <p:nvPr/>
        </p:nvSpPr>
        <p:spPr>
          <a:xfrm>
            <a:off x="6565392" y="4855464"/>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Trầm cảm · cô đơn · lo âu → tầm soát, kết nối xã hội</a:t>
            </a:r>
            <a:endParaRPr lang="en-US" sz="950" dirty="0"/>
          </a:p>
        </p:txBody>
      </p:sp>
      <p:sp>
        <p:nvSpPr>
          <p:cNvPr id="40" name="Shape 31"/>
          <p:cNvSpPr/>
          <p:nvPr/>
        </p:nvSpPr>
        <p:spPr>
          <a:xfrm>
            <a:off x="9171432" y="3959352"/>
            <a:ext cx="2679192" cy="1993392"/>
          </a:xfrm>
          <a:prstGeom prst="roundRect">
            <a:avLst>
              <a:gd name="adj" fmla="val 3670"/>
            </a:avLst>
          </a:prstGeom>
          <a:solidFill>
            <a:srgbClr val="FFFFFF"/>
          </a:solidFill>
          <a:ln/>
          <a:effectLst>
            <a:outerShdw sx="100000" sy="100000" kx="0" ky="0" algn="bl" rotWithShape="0" blurRad="63500" dist="25400" dir="5400000">
              <a:srgbClr val="0F172A">
                <a:alpha val="10000"/>
              </a:srgbClr>
            </a:outerShdw>
          </a:effectLst>
        </p:spPr>
      </p:sp>
      <p:sp>
        <p:nvSpPr>
          <p:cNvPr id="41" name="Shape 32"/>
          <p:cNvSpPr/>
          <p:nvPr/>
        </p:nvSpPr>
        <p:spPr>
          <a:xfrm>
            <a:off x="9390888" y="4197096"/>
            <a:ext cx="566928" cy="566928"/>
          </a:xfrm>
          <a:prstGeom prst="ellipse">
            <a:avLst/>
          </a:prstGeom>
          <a:solidFill>
            <a:srgbClr val="134E4A"/>
          </a:solidFill>
          <a:ln/>
        </p:spPr>
      </p:sp>
      <p:pic>
        <p:nvPicPr>
          <p:cNvPr id="42" name="Image 7" descr="preencoded.png">    </p:cNvPr>
          <p:cNvPicPr>
            <a:picLocks noChangeAspect="1"/>
          </p:cNvPicPr>
          <p:nvPr/>
        </p:nvPicPr>
        <p:blipFill>
          <a:blip r:embed="rId8"/>
          <a:stretch>
            <a:fillRect/>
          </a:stretch>
        </p:blipFill>
        <p:spPr>
          <a:xfrm>
            <a:off x="9528048" y="4334256"/>
            <a:ext cx="292608" cy="292608"/>
          </a:xfrm>
          <a:prstGeom prst="rect">
            <a:avLst/>
          </a:prstGeom>
        </p:spPr>
      </p:pic>
      <p:sp>
        <p:nvSpPr>
          <p:cNvPr id="43" name="Text 33"/>
          <p:cNvSpPr/>
          <p:nvPr/>
        </p:nvSpPr>
        <p:spPr>
          <a:xfrm>
            <a:off x="10085832" y="4197096"/>
            <a:ext cx="1627632" cy="566928"/>
          </a:xfrm>
          <a:prstGeom prst="rect">
            <a:avLst/>
          </a:prstGeom>
          <a:noFill/>
          <a:ln/>
        </p:spPr>
        <p:txBody>
          <a:bodyPr wrap="square" lIns="0" tIns="0" rIns="0" bIns="0" rtlCol="0" anchor="ctr"/>
          <a:lstStyle/>
          <a:p>
            <a:pPr indent="0" marL="0">
              <a:buNone/>
            </a:pPr>
            <a:r>
              <a:rPr lang="en-US" sz="1250" b="1" dirty="0">
                <a:solidFill>
                  <a:srgbClr val="1E293B"/>
                </a:solidFill>
                <a:latin typeface="Trebuchet MS" pitchFamily="34" charset="0"/>
                <a:ea typeface="Trebuchet MS" pitchFamily="34" charset="-122"/>
                <a:cs typeface="Trebuchet MS" pitchFamily="34" charset="-120"/>
              </a:rPr>
              <a:t>Hội chứng lão khoa</a:t>
            </a:r>
            <a:endParaRPr lang="en-US" sz="1250" dirty="0"/>
          </a:p>
        </p:txBody>
      </p:sp>
      <p:sp>
        <p:nvSpPr>
          <p:cNvPr id="44" name="Text 34"/>
          <p:cNvSpPr/>
          <p:nvPr/>
        </p:nvSpPr>
        <p:spPr>
          <a:xfrm>
            <a:off x="9409176" y="4855464"/>
            <a:ext cx="2240280" cy="1005840"/>
          </a:xfrm>
          <a:prstGeom prst="rect">
            <a:avLst/>
          </a:prstGeom>
          <a:noFill/>
          <a:ln/>
        </p:spPr>
        <p:txBody>
          <a:bodyPr wrap="square" lIns="0" tIns="0" rIns="0" bIns="0" rtlCol="0" anchor="t"/>
          <a:lstStyle/>
          <a:p>
            <a:pPr indent="0" marL="0">
              <a:lnSpc>
                <a:spcPct val="102000"/>
              </a:lnSpc>
              <a:buNone/>
            </a:pPr>
            <a:r>
              <a:rPr lang="en-US" sz="950" dirty="0">
                <a:solidFill>
                  <a:srgbClr val="64748B"/>
                </a:solidFill>
                <a:latin typeface="Calibri" pitchFamily="34" charset="0"/>
                <a:ea typeface="Calibri" pitchFamily="34" charset="-122"/>
                <a:cs typeface="Calibri" pitchFamily="34" charset="-120"/>
              </a:rPr>
              <a:t>Té ngã · suy dinh dưỡng · lú lẫn · đa thuốc → rà soát thuốc</a:t>
            </a:r>
            <a:endParaRPr lang="en-US" sz="950" dirty="0"/>
          </a:p>
        </p:txBody>
      </p:sp>
      <p:sp>
        <p:nvSpPr>
          <p:cNvPr id="45" name="Text 35"/>
          <p:cNvSpPr/>
          <p:nvPr/>
        </p:nvSpPr>
        <p:spPr>
          <a:xfrm>
            <a:off x="640080" y="6035040"/>
            <a:ext cx="1088136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Phân loại theo mô hình lão khoa &amp; hội chứng dễ tổn thương (frailty) — tổng hợp kiến thức phổ thông, ước tính nội bộ, không thay phác đồ y khoa.</a:t>
            </a:r>
            <a:endParaRPr lang="en-US" sz="900" dirty="0"/>
          </a:p>
        </p:txBody>
      </p:sp>
      <p:sp>
        <p:nvSpPr>
          <p:cNvPr id="46" name="Shape 36"/>
          <p:cNvSpPr/>
          <p:nvPr/>
        </p:nvSpPr>
        <p:spPr>
          <a:xfrm>
            <a:off x="0" y="6565392"/>
            <a:ext cx="12191695" cy="292608"/>
          </a:xfrm>
          <a:prstGeom prst="rect">
            <a:avLst/>
          </a:prstGeom>
          <a:solidFill>
            <a:srgbClr val="FFFFFF"/>
          </a:solidFill>
          <a:ln/>
        </p:spPr>
      </p:sp>
      <p:sp>
        <p:nvSpPr>
          <p:cNvPr id="47" name="Shape 37"/>
          <p:cNvSpPr/>
          <p:nvPr/>
        </p:nvSpPr>
        <p:spPr>
          <a:xfrm>
            <a:off x="0" y="6547104"/>
            <a:ext cx="12191695" cy="20117"/>
          </a:xfrm>
          <a:prstGeom prst="rect">
            <a:avLst/>
          </a:prstGeom>
          <a:solidFill>
            <a:srgbClr val="E2E8F0"/>
          </a:solidFill>
          <a:ln/>
        </p:spPr>
      </p:sp>
      <p:sp>
        <p:nvSpPr>
          <p:cNvPr id="48" name="Shape 38"/>
          <p:cNvSpPr/>
          <p:nvPr/>
        </p:nvSpPr>
        <p:spPr>
          <a:xfrm>
            <a:off x="457200" y="6624828"/>
            <a:ext cx="118872" cy="118872"/>
          </a:xfrm>
          <a:prstGeom prst="ellipse">
            <a:avLst/>
          </a:prstGeom>
          <a:solidFill>
            <a:srgbClr val="0D9488"/>
          </a:solidFill>
          <a:ln/>
        </p:spPr>
      </p:sp>
      <p:sp>
        <p:nvSpPr>
          <p:cNvPr id="49" name="Text 39"/>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50" name="Text 40"/>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51" name="Text 41"/>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HIẾU · ĐÀO TẠO &amp; CHUYÊN MÔN</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Năng lực đội ngũ &amp; tuân thủ chất lượng</a:t>
            </a:r>
            <a:endParaRPr lang="en-US" sz="3000" dirty="0"/>
          </a:p>
        </p:txBody>
      </p:sp>
      <p:sp>
        <p:nvSpPr>
          <p:cNvPr id="5" name="Shape 3"/>
          <p:cNvSpPr/>
          <p:nvPr/>
        </p:nvSpPr>
        <p:spPr>
          <a:xfrm>
            <a:off x="640080" y="1783080"/>
            <a:ext cx="5440680" cy="4343400"/>
          </a:xfrm>
          <a:prstGeom prst="roundRect">
            <a:avLst>
              <a:gd name="adj" fmla="val 1684"/>
            </a:avLst>
          </a:prstGeom>
          <a:solidFill>
            <a:srgbClr val="FFFFFF"/>
          </a:solidFill>
          <a:ln/>
          <a:effectLst>
            <a:outerShdw sx="100000" sy="100000" kx="0" ky="0" algn="bl" rotWithShape="0" blurRad="63500" dist="25400" dir="5400000">
              <a:srgbClr val="0F172A">
                <a:alpha val="10000"/>
              </a:srgbClr>
            </a:outerShdw>
          </a:effectLst>
        </p:spPr>
      </p:sp>
      <p:sp>
        <p:nvSpPr>
          <p:cNvPr id="6" name="Text 4"/>
          <p:cNvSpPr/>
          <p:nvPr/>
        </p:nvSpPr>
        <p:spPr>
          <a:xfrm>
            <a:off x="914400" y="1938528"/>
            <a:ext cx="4937760" cy="365760"/>
          </a:xfrm>
          <a:prstGeom prst="rect">
            <a:avLst/>
          </a:prstGeom>
          <a:noFill/>
          <a:ln/>
        </p:spPr>
        <p:txBody>
          <a:bodyPr wrap="square" lIns="0" tIns="0" rIns="0" bIns="0" rtlCol="0" anchor="ctr"/>
          <a:lstStyle/>
          <a:p>
            <a:pPr indent="0" marL="0">
              <a:buNone/>
            </a:pPr>
            <a:r>
              <a:rPr lang="en-US" sz="1350" b="1" dirty="0">
                <a:solidFill>
                  <a:srgbClr val="1E293B"/>
                </a:solidFill>
                <a:latin typeface="Trebuchet MS" pitchFamily="34" charset="0"/>
                <a:ea typeface="Trebuchet MS" pitchFamily="34" charset="-122"/>
                <a:cs typeface="Trebuchet MS" pitchFamily="34" charset="-120"/>
              </a:rPr>
              <a:t>Đào tạo điều dưỡng/caregiver — 4 cấp</a:t>
            </a:r>
            <a:endParaRPr lang="en-US" sz="1350" dirty="0"/>
          </a:p>
        </p:txBody>
      </p:sp>
      <p:sp>
        <p:nvSpPr>
          <p:cNvPr id="7" name="Shape 5"/>
          <p:cNvSpPr/>
          <p:nvPr/>
        </p:nvSpPr>
        <p:spPr>
          <a:xfrm>
            <a:off x="841248" y="2651760"/>
            <a:ext cx="27432" cy="3108960"/>
          </a:xfrm>
          <a:prstGeom prst="rect">
            <a:avLst/>
          </a:prstGeom>
          <a:solidFill>
            <a:srgbClr val="E2E8F0"/>
          </a:solidFill>
          <a:ln/>
        </p:spPr>
      </p:sp>
      <p:sp>
        <p:nvSpPr>
          <p:cNvPr id="8" name="Shape 6"/>
          <p:cNvSpPr/>
          <p:nvPr/>
        </p:nvSpPr>
        <p:spPr>
          <a:xfrm>
            <a:off x="731520" y="2423160"/>
            <a:ext cx="256032" cy="256032"/>
          </a:xfrm>
          <a:prstGeom prst="ellipse">
            <a:avLst/>
          </a:prstGeom>
          <a:solidFill>
            <a:srgbClr val="2DD4BF"/>
          </a:solidFill>
          <a:ln/>
        </p:spPr>
      </p:sp>
      <p:sp>
        <p:nvSpPr>
          <p:cNvPr id="9" name="Text 7"/>
          <p:cNvSpPr/>
          <p:nvPr/>
        </p:nvSpPr>
        <p:spPr>
          <a:xfrm>
            <a:off x="1143000" y="2377440"/>
            <a:ext cx="4846320" cy="292608"/>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Cấp 1 · Cơ bản</a:t>
            </a:r>
            <a:endParaRPr lang="en-US" sz="1200" dirty="0"/>
          </a:p>
        </p:txBody>
      </p:sp>
      <p:sp>
        <p:nvSpPr>
          <p:cNvPr id="10" name="Text 8"/>
          <p:cNvSpPr/>
          <p:nvPr/>
        </p:nvSpPr>
        <p:spPr>
          <a:xfrm>
            <a:off x="1143000" y="2670048"/>
            <a:ext cx="4846320" cy="50292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Chăm sóc sinh hoạt, an toàn nhà ở, dùng app &amp; thiết bị.</a:t>
            </a:r>
            <a:endParaRPr lang="en-US" sz="1000" dirty="0"/>
          </a:p>
        </p:txBody>
      </p:sp>
      <p:sp>
        <p:nvSpPr>
          <p:cNvPr id="11" name="Shape 9"/>
          <p:cNvSpPr/>
          <p:nvPr/>
        </p:nvSpPr>
        <p:spPr>
          <a:xfrm>
            <a:off x="731520" y="3264408"/>
            <a:ext cx="256032" cy="256032"/>
          </a:xfrm>
          <a:prstGeom prst="ellipse">
            <a:avLst/>
          </a:prstGeom>
          <a:solidFill>
            <a:srgbClr val="0D9488"/>
          </a:solidFill>
          <a:ln/>
        </p:spPr>
      </p:sp>
      <p:sp>
        <p:nvSpPr>
          <p:cNvPr id="12" name="Text 10"/>
          <p:cNvSpPr/>
          <p:nvPr/>
        </p:nvSpPr>
        <p:spPr>
          <a:xfrm>
            <a:off x="1143000" y="3218688"/>
            <a:ext cx="4846320" cy="292608"/>
          </a:xfrm>
          <a:prstGeom prst="rect">
            <a:avLst/>
          </a:prstGeom>
          <a:noFill/>
          <a:ln/>
        </p:spPr>
        <p:txBody>
          <a:bodyPr wrap="square" lIns="0" tIns="0" rIns="0" bIns="0" rtlCol="0" anchor="ctr"/>
          <a:lstStyle/>
          <a:p>
            <a:pPr indent="0" marL="0">
              <a:buNone/>
            </a:pPr>
            <a:r>
              <a:rPr lang="en-US" sz="1200" b="1" dirty="0">
                <a:solidFill>
                  <a:srgbClr val="0D9488"/>
                </a:solidFill>
                <a:latin typeface="Trebuchet MS" pitchFamily="34" charset="0"/>
                <a:ea typeface="Trebuchet MS" pitchFamily="34" charset="-122"/>
                <a:cs typeface="Trebuchet MS" pitchFamily="34" charset="-120"/>
              </a:rPr>
              <a:t>Cấp 2 · Bệnh mạn</a:t>
            </a:r>
            <a:endParaRPr lang="en-US" sz="1200" dirty="0"/>
          </a:p>
        </p:txBody>
      </p:sp>
      <p:sp>
        <p:nvSpPr>
          <p:cNvPr id="13" name="Text 11"/>
          <p:cNvSpPr/>
          <p:nvPr/>
        </p:nvSpPr>
        <p:spPr>
          <a:xfrm>
            <a:off x="1143000" y="3511296"/>
            <a:ext cx="4846320" cy="50292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Theo dõi HA / đường huyết / SpO₂, nhắc &amp; quản lý thuốc.</a:t>
            </a:r>
            <a:endParaRPr lang="en-US" sz="1000" dirty="0"/>
          </a:p>
        </p:txBody>
      </p:sp>
      <p:sp>
        <p:nvSpPr>
          <p:cNvPr id="14" name="Shape 12"/>
          <p:cNvSpPr/>
          <p:nvPr/>
        </p:nvSpPr>
        <p:spPr>
          <a:xfrm>
            <a:off x="731520" y="4105656"/>
            <a:ext cx="256032" cy="256032"/>
          </a:xfrm>
          <a:prstGeom prst="ellipse">
            <a:avLst/>
          </a:prstGeom>
          <a:solidFill>
            <a:srgbClr val="0F766E"/>
          </a:solidFill>
          <a:ln/>
        </p:spPr>
      </p:sp>
      <p:sp>
        <p:nvSpPr>
          <p:cNvPr id="15" name="Text 13"/>
          <p:cNvSpPr/>
          <p:nvPr/>
        </p:nvSpPr>
        <p:spPr>
          <a:xfrm>
            <a:off x="1143000" y="4059936"/>
            <a:ext cx="4846320" cy="292608"/>
          </a:xfrm>
          <a:prstGeom prst="rect">
            <a:avLst/>
          </a:prstGeom>
          <a:noFill/>
          <a:ln/>
        </p:spPr>
        <p:txBody>
          <a:bodyPr wrap="square" lIns="0" tIns="0" rIns="0" bIns="0" rtlCol="0" anchor="ctr"/>
          <a:lstStyle/>
          <a:p>
            <a:pPr indent="0" marL="0">
              <a:buNone/>
            </a:pPr>
            <a:r>
              <a:rPr lang="en-US" sz="1200" b="1" dirty="0">
                <a:solidFill>
                  <a:srgbClr val="0F766E"/>
                </a:solidFill>
                <a:latin typeface="Trebuchet MS" pitchFamily="34" charset="0"/>
                <a:ea typeface="Trebuchet MS" pitchFamily="34" charset="-122"/>
                <a:cs typeface="Trebuchet MS" pitchFamily="34" charset="-120"/>
              </a:rPr>
              <a:t>Cấp 3 · Chuyên sâu</a:t>
            </a:r>
            <a:endParaRPr lang="en-US" sz="1200" dirty="0"/>
          </a:p>
        </p:txBody>
      </p:sp>
      <p:sp>
        <p:nvSpPr>
          <p:cNvPr id="16" name="Text 14"/>
          <p:cNvSpPr/>
          <p:nvPr/>
        </p:nvSpPr>
        <p:spPr>
          <a:xfrm>
            <a:off x="1143000" y="4352544"/>
            <a:ext cx="4846320" cy="50292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Hậu phẫu, PHCN, chăm sa sút trí tuệ, xử trí cấp cứu ban đầu.</a:t>
            </a:r>
            <a:endParaRPr lang="en-US" sz="1000" dirty="0"/>
          </a:p>
        </p:txBody>
      </p:sp>
      <p:sp>
        <p:nvSpPr>
          <p:cNvPr id="17" name="Shape 15"/>
          <p:cNvSpPr/>
          <p:nvPr/>
        </p:nvSpPr>
        <p:spPr>
          <a:xfrm>
            <a:off x="731520" y="4946904"/>
            <a:ext cx="256032" cy="256032"/>
          </a:xfrm>
          <a:prstGeom prst="ellipse">
            <a:avLst/>
          </a:prstGeom>
          <a:solidFill>
            <a:srgbClr val="134E4A"/>
          </a:solidFill>
          <a:ln/>
        </p:spPr>
      </p:sp>
      <p:sp>
        <p:nvSpPr>
          <p:cNvPr id="18" name="Text 16"/>
          <p:cNvSpPr/>
          <p:nvPr/>
        </p:nvSpPr>
        <p:spPr>
          <a:xfrm>
            <a:off x="1143000" y="4901184"/>
            <a:ext cx="4846320" cy="292608"/>
          </a:xfrm>
          <a:prstGeom prst="rect">
            <a:avLst/>
          </a:prstGeom>
          <a:noFill/>
          <a:ln/>
        </p:spPr>
        <p:txBody>
          <a:bodyPr wrap="square" lIns="0" tIns="0" rIns="0" bIns="0" rtlCol="0" anchor="ctr"/>
          <a:lstStyle/>
          <a:p>
            <a:pPr indent="0" marL="0">
              <a:buNone/>
            </a:pPr>
            <a:r>
              <a:rPr lang="en-US" sz="1200" b="1" dirty="0">
                <a:solidFill>
                  <a:srgbClr val="134E4A"/>
                </a:solidFill>
                <a:latin typeface="Trebuchet MS" pitchFamily="34" charset="0"/>
                <a:ea typeface="Trebuchet MS" pitchFamily="34" charset="-122"/>
                <a:cs typeface="Trebuchet MS" pitchFamily="34" charset="-120"/>
              </a:rPr>
              <a:t>Cấp 4 · Lão khoa nâng cao</a:t>
            </a:r>
            <a:endParaRPr lang="en-US" sz="1200" dirty="0"/>
          </a:p>
        </p:txBody>
      </p:sp>
      <p:sp>
        <p:nvSpPr>
          <p:cNvPr id="19" name="Text 17"/>
          <p:cNvSpPr/>
          <p:nvPr/>
        </p:nvSpPr>
        <p:spPr>
          <a:xfrm>
            <a:off x="1143000" y="5193792"/>
            <a:ext cx="4846320" cy="502920"/>
          </a:xfrm>
          <a:prstGeom prst="rect">
            <a:avLst/>
          </a:prstGeom>
          <a:noFill/>
          <a:ln/>
        </p:spPr>
        <p:txBody>
          <a:bodyPr wrap="square" lIns="0" tIns="0" rIns="0" bIns="0" rtlCol="0" anchor="t"/>
          <a:lstStyle/>
          <a:p>
            <a:pPr indent="0" marL="0">
              <a:lnSpc>
                <a:spcPct val="100000"/>
              </a:lnSpc>
              <a:buNone/>
            </a:pPr>
            <a:r>
              <a:rPr lang="en-US" sz="1000" dirty="0">
                <a:solidFill>
                  <a:srgbClr val="64748B"/>
                </a:solidFill>
                <a:latin typeface="Calibri" pitchFamily="34" charset="0"/>
                <a:ea typeface="Calibri" pitchFamily="34" charset="-122"/>
                <a:cs typeface="Calibri" pitchFamily="34" charset="-120"/>
              </a:rPr>
              <a:t>Phối hợp đa chuyên khoa, giảm nhẹ, mentor đội mới.</a:t>
            </a:r>
            <a:endParaRPr lang="en-US" sz="1000" dirty="0"/>
          </a:p>
        </p:txBody>
      </p:sp>
      <p:sp>
        <p:nvSpPr>
          <p:cNvPr id="20" name="Text 18"/>
          <p:cNvSpPr/>
          <p:nvPr/>
        </p:nvSpPr>
        <p:spPr>
          <a:xfrm>
            <a:off x="914400" y="5779008"/>
            <a:ext cx="4937760" cy="292608"/>
          </a:xfrm>
          <a:prstGeom prst="rect">
            <a:avLst/>
          </a:prstGeom>
          <a:noFill/>
          <a:ln/>
        </p:spPr>
        <p:txBody>
          <a:bodyPr wrap="square" lIns="0" tIns="0" rIns="0" bIns="0" rtlCol="0" anchor="ctr"/>
          <a:lstStyle/>
          <a:p>
            <a:pPr indent="0" marL="0">
              <a:buNone/>
            </a:pPr>
            <a:r>
              <a:rPr lang="en-US" sz="950" i="1" dirty="0">
                <a:solidFill>
                  <a:srgbClr val="0F766E"/>
                </a:solidFill>
                <a:latin typeface="Calibri" pitchFamily="34" charset="0"/>
                <a:ea typeface="Calibri" pitchFamily="34" charset="-122"/>
                <a:cs typeface="Calibri" pitchFamily="34" charset="-120"/>
              </a:rPr>
              <a:t>Blended e-learning + thực hành OSCE (chấm theo tình huống).</a:t>
            </a:r>
            <a:endParaRPr lang="en-US" sz="950" dirty="0"/>
          </a:p>
        </p:txBody>
      </p:sp>
      <p:sp>
        <p:nvSpPr>
          <p:cNvPr id="21" name="Shape 19"/>
          <p:cNvSpPr/>
          <p:nvPr/>
        </p:nvSpPr>
        <p:spPr>
          <a:xfrm>
            <a:off x="6263640" y="1783080"/>
            <a:ext cx="5285232" cy="4343400"/>
          </a:xfrm>
          <a:prstGeom prst="roundRect">
            <a:avLst>
              <a:gd name="adj" fmla="val 1684"/>
            </a:avLst>
          </a:prstGeom>
          <a:solidFill>
            <a:srgbClr val="134E4A"/>
          </a:solidFill>
          <a:ln/>
          <a:effectLst>
            <a:outerShdw sx="100000" sy="100000" kx="0" ky="0" algn="bl" rotWithShape="0" blurRad="63500" dist="25400" dir="5400000">
              <a:srgbClr val="0F172A">
                <a:alpha val="10000"/>
              </a:srgbClr>
            </a:outerShdw>
          </a:effectLst>
        </p:spPr>
      </p:sp>
      <p:sp>
        <p:nvSpPr>
          <p:cNvPr id="22" name="Text 20"/>
          <p:cNvSpPr/>
          <p:nvPr/>
        </p:nvSpPr>
        <p:spPr>
          <a:xfrm>
            <a:off x="6537960" y="1938528"/>
            <a:ext cx="4846320" cy="365760"/>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Kế hoạch chuyên môn — 4 tầng (~1,86 tỷ/năm)</a:t>
            </a:r>
            <a:endParaRPr lang="en-US" sz="1300" dirty="0"/>
          </a:p>
        </p:txBody>
      </p:sp>
      <p:sp>
        <p:nvSpPr>
          <p:cNvPr id="23" name="Shape 21"/>
          <p:cNvSpPr/>
          <p:nvPr/>
        </p:nvSpPr>
        <p:spPr>
          <a:xfrm>
            <a:off x="6537960" y="2487168"/>
            <a:ext cx="310896" cy="310896"/>
          </a:xfrm>
          <a:prstGeom prst="ellipse">
            <a:avLst/>
          </a:prstGeom>
          <a:solidFill>
            <a:srgbClr val="2DD4BF"/>
          </a:solidFill>
          <a:ln/>
        </p:spPr>
      </p:sp>
      <p:sp>
        <p:nvSpPr>
          <p:cNvPr id="24" name="Text 22"/>
          <p:cNvSpPr/>
          <p:nvPr/>
        </p:nvSpPr>
        <p:spPr>
          <a:xfrm>
            <a:off x="6537960" y="2487168"/>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1</a:t>
            </a:r>
            <a:endParaRPr lang="en-US" sz="1200" dirty="0"/>
          </a:p>
        </p:txBody>
      </p:sp>
      <p:sp>
        <p:nvSpPr>
          <p:cNvPr id="25" name="Text 23"/>
          <p:cNvSpPr/>
          <p:nvPr/>
        </p:nvSpPr>
        <p:spPr>
          <a:xfrm>
            <a:off x="6967728" y="2432304"/>
            <a:ext cx="4480560" cy="310896"/>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Advisory board KOL</a:t>
            </a:r>
            <a:endParaRPr lang="en-US" sz="1200" dirty="0"/>
          </a:p>
        </p:txBody>
      </p:sp>
      <p:sp>
        <p:nvSpPr>
          <p:cNvPr id="26" name="Text 24"/>
          <p:cNvSpPr/>
          <p:nvPr/>
        </p:nvSpPr>
        <p:spPr>
          <a:xfrm>
            <a:off x="6967728" y="2743200"/>
            <a:ext cx="448056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Bác sĩ uy tín · equity nhỏ 0,1–0,3%</a:t>
            </a:r>
            <a:endParaRPr lang="en-US" sz="950" dirty="0"/>
          </a:p>
        </p:txBody>
      </p:sp>
      <p:sp>
        <p:nvSpPr>
          <p:cNvPr id="27" name="Shape 25"/>
          <p:cNvSpPr/>
          <p:nvPr/>
        </p:nvSpPr>
        <p:spPr>
          <a:xfrm>
            <a:off x="6537960" y="3374136"/>
            <a:ext cx="310896" cy="310896"/>
          </a:xfrm>
          <a:prstGeom prst="ellipse">
            <a:avLst/>
          </a:prstGeom>
          <a:solidFill>
            <a:srgbClr val="2DD4BF"/>
          </a:solidFill>
          <a:ln/>
        </p:spPr>
      </p:sp>
      <p:sp>
        <p:nvSpPr>
          <p:cNvPr id="28" name="Text 26"/>
          <p:cNvSpPr/>
          <p:nvPr/>
        </p:nvSpPr>
        <p:spPr>
          <a:xfrm>
            <a:off x="6537960" y="3374136"/>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2</a:t>
            </a:r>
            <a:endParaRPr lang="en-US" sz="1200" dirty="0"/>
          </a:p>
        </p:txBody>
      </p:sp>
      <p:sp>
        <p:nvSpPr>
          <p:cNvPr id="29" name="Text 27"/>
          <p:cNvSpPr/>
          <p:nvPr/>
        </p:nvSpPr>
        <p:spPr>
          <a:xfrm>
            <a:off x="6967728" y="3319272"/>
            <a:ext cx="4480560" cy="310896"/>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Medical Director</a:t>
            </a:r>
            <a:endParaRPr lang="en-US" sz="1200" dirty="0"/>
          </a:p>
        </p:txBody>
      </p:sp>
      <p:sp>
        <p:nvSpPr>
          <p:cNvPr id="30" name="Text 28"/>
          <p:cNvSpPr/>
          <p:nvPr/>
        </p:nvSpPr>
        <p:spPr>
          <a:xfrm>
            <a:off x="6967728" y="3630168"/>
            <a:ext cx="448056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Retainer 30–50tr/tháng · duyệt phác đồ chăm</a:t>
            </a:r>
            <a:endParaRPr lang="en-US" sz="950" dirty="0"/>
          </a:p>
        </p:txBody>
      </p:sp>
      <p:sp>
        <p:nvSpPr>
          <p:cNvPr id="31" name="Shape 29"/>
          <p:cNvSpPr/>
          <p:nvPr/>
        </p:nvSpPr>
        <p:spPr>
          <a:xfrm>
            <a:off x="6537960" y="4261104"/>
            <a:ext cx="310896" cy="310896"/>
          </a:xfrm>
          <a:prstGeom prst="ellipse">
            <a:avLst/>
          </a:prstGeom>
          <a:solidFill>
            <a:srgbClr val="2DD4BF"/>
          </a:solidFill>
          <a:ln/>
        </p:spPr>
      </p:sp>
      <p:sp>
        <p:nvSpPr>
          <p:cNvPr id="32" name="Text 30"/>
          <p:cNvSpPr/>
          <p:nvPr/>
        </p:nvSpPr>
        <p:spPr>
          <a:xfrm>
            <a:off x="6537960" y="4261104"/>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3</a:t>
            </a:r>
            <a:endParaRPr lang="en-US" sz="1200" dirty="0"/>
          </a:p>
        </p:txBody>
      </p:sp>
      <p:sp>
        <p:nvSpPr>
          <p:cNvPr id="33" name="Text 31"/>
          <p:cNvSpPr/>
          <p:nvPr/>
        </p:nvSpPr>
        <p:spPr>
          <a:xfrm>
            <a:off x="6967728" y="4206240"/>
            <a:ext cx="4480560" cy="310896"/>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Dược sĩ phụ trách + ĐD trưởng + QA</a:t>
            </a:r>
            <a:endParaRPr lang="en-US" sz="1200" dirty="0"/>
          </a:p>
        </p:txBody>
      </p:sp>
      <p:sp>
        <p:nvSpPr>
          <p:cNvPr id="34" name="Text 32"/>
          <p:cNvSpPr/>
          <p:nvPr/>
        </p:nvSpPr>
        <p:spPr>
          <a:xfrm>
            <a:off x="6967728" y="4517136"/>
            <a:ext cx="448056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BẮT BUỘC theo Luật Dược · kiểm soát chất lượng</a:t>
            </a:r>
            <a:endParaRPr lang="en-US" sz="950" dirty="0"/>
          </a:p>
        </p:txBody>
      </p:sp>
      <p:sp>
        <p:nvSpPr>
          <p:cNvPr id="35" name="Shape 33"/>
          <p:cNvSpPr/>
          <p:nvPr/>
        </p:nvSpPr>
        <p:spPr>
          <a:xfrm>
            <a:off x="6537960" y="5148072"/>
            <a:ext cx="310896" cy="310896"/>
          </a:xfrm>
          <a:prstGeom prst="ellipse">
            <a:avLst/>
          </a:prstGeom>
          <a:solidFill>
            <a:srgbClr val="2DD4BF"/>
          </a:solidFill>
          <a:ln/>
        </p:spPr>
      </p:sp>
      <p:sp>
        <p:nvSpPr>
          <p:cNvPr id="36" name="Text 34"/>
          <p:cNvSpPr/>
          <p:nvPr/>
        </p:nvSpPr>
        <p:spPr>
          <a:xfrm>
            <a:off x="6537960" y="5148072"/>
            <a:ext cx="310896" cy="310896"/>
          </a:xfrm>
          <a:prstGeom prst="rect">
            <a:avLst/>
          </a:prstGeom>
          <a:noFill/>
          <a:ln/>
        </p:spPr>
        <p:txBody>
          <a:bodyPr wrap="square" lIns="0" tIns="0" rIns="0" bIns="0" rtlCol="0" anchor="ctr"/>
          <a:lstStyle/>
          <a:p>
            <a:pPr algn="ctr" indent="0" marL="0">
              <a:buNone/>
            </a:pPr>
            <a:r>
              <a:rPr lang="en-US" sz="1200" b="1" dirty="0">
                <a:solidFill>
                  <a:srgbClr val="134E4A"/>
                </a:solidFill>
                <a:latin typeface="Trebuchet MS" pitchFamily="34" charset="0"/>
                <a:ea typeface="Trebuchet MS" pitchFamily="34" charset="-122"/>
                <a:cs typeface="Trebuchet MS" pitchFamily="34" charset="-120"/>
              </a:rPr>
              <a:t>4</a:t>
            </a:r>
            <a:endParaRPr lang="en-US" sz="1200" dirty="0"/>
          </a:p>
        </p:txBody>
      </p:sp>
      <p:sp>
        <p:nvSpPr>
          <p:cNvPr id="37" name="Text 35"/>
          <p:cNvSpPr/>
          <p:nvPr/>
        </p:nvSpPr>
        <p:spPr>
          <a:xfrm>
            <a:off x="6967728" y="5093208"/>
            <a:ext cx="4480560" cy="310896"/>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Đối tác Đại học Y</a:t>
            </a:r>
            <a:endParaRPr lang="en-US" sz="1200" dirty="0"/>
          </a:p>
        </p:txBody>
      </p:sp>
      <p:sp>
        <p:nvSpPr>
          <p:cNvPr id="38" name="Text 36"/>
          <p:cNvSpPr/>
          <p:nvPr/>
        </p:nvSpPr>
        <p:spPr>
          <a:xfrm>
            <a:off x="6967728" y="5404104"/>
            <a:ext cx="4480560" cy="457200"/>
          </a:xfrm>
          <a:prstGeom prst="rect">
            <a:avLst/>
          </a:prstGeom>
          <a:noFill/>
          <a:ln/>
        </p:spPr>
        <p:txBody>
          <a:bodyPr wrap="square" lIns="0" tIns="0" rIns="0" bIns="0" rtlCol="0" anchor="t"/>
          <a:lstStyle/>
          <a:p>
            <a:pPr indent="0" marL="0">
              <a:lnSpc>
                <a:spcPct val="100000"/>
              </a:lnSpc>
              <a:buNone/>
            </a:pPr>
            <a:r>
              <a:rPr lang="en-US" sz="950" dirty="0">
                <a:solidFill>
                  <a:srgbClr val="ECFEFF"/>
                </a:solidFill>
                <a:latin typeface="Calibri" pitchFamily="34" charset="0"/>
                <a:ea typeface="Calibri" pitchFamily="34" charset="-122"/>
                <a:cs typeface="Calibri" pitchFamily="34" charset="-120"/>
              </a:rPr>
              <a:t>Nguồn nhân lực, nghiên cứu, uy tín học thuật</a:t>
            </a:r>
            <a:endParaRPr lang="en-US" sz="950" dirty="0"/>
          </a:p>
        </p:txBody>
      </p:sp>
      <p:sp>
        <p:nvSpPr>
          <p:cNvPr id="39" name="Text 37"/>
          <p:cNvSpPr/>
          <p:nvPr/>
        </p:nvSpPr>
        <p:spPr>
          <a:xfrm>
            <a:off x="6537960" y="5760720"/>
            <a:ext cx="4846320" cy="292608"/>
          </a:xfrm>
          <a:prstGeom prst="rect">
            <a:avLst/>
          </a:prstGeom>
          <a:noFill/>
          <a:ln/>
        </p:spPr>
        <p:txBody>
          <a:bodyPr wrap="square" lIns="0" tIns="0" rIns="0" bIns="0" rtlCol="0" anchor="ctr"/>
          <a:lstStyle/>
          <a:p>
            <a:pPr indent="0" marL="0">
              <a:buNone/>
            </a:pPr>
            <a:r>
              <a:rPr lang="en-US" sz="950" i="1" dirty="0">
                <a:solidFill>
                  <a:srgbClr val="2DD4BF"/>
                </a:solidFill>
                <a:latin typeface="Calibri" pitchFamily="34" charset="0"/>
                <a:ea typeface="Calibri" pitchFamily="34" charset="-122"/>
                <a:cs typeface="Calibri" pitchFamily="34" charset="-120"/>
              </a:rPr>
              <a:t>Tổng ~1,86 tỷ/năm — gọn trong OpEx Kịch bản B.</a:t>
            </a:r>
            <a:endParaRPr lang="en-US" sz="950" dirty="0"/>
          </a:p>
        </p:txBody>
      </p:sp>
      <p:sp>
        <p:nvSpPr>
          <p:cNvPr id="40" name="Shape 38"/>
          <p:cNvSpPr/>
          <p:nvPr/>
        </p:nvSpPr>
        <p:spPr>
          <a:xfrm>
            <a:off x="0" y="6565392"/>
            <a:ext cx="12191695" cy="292608"/>
          </a:xfrm>
          <a:prstGeom prst="rect">
            <a:avLst/>
          </a:prstGeom>
          <a:solidFill>
            <a:srgbClr val="FFFFFF"/>
          </a:solidFill>
          <a:ln/>
        </p:spPr>
      </p:sp>
      <p:sp>
        <p:nvSpPr>
          <p:cNvPr id="41" name="Shape 39"/>
          <p:cNvSpPr/>
          <p:nvPr/>
        </p:nvSpPr>
        <p:spPr>
          <a:xfrm>
            <a:off x="0" y="6547104"/>
            <a:ext cx="12191695" cy="20117"/>
          </a:xfrm>
          <a:prstGeom prst="rect">
            <a:avLst/>
          </a:prstGeom>
          <a:solidFill>
            <a:srgbClr val="E2E8F0"/>
          </a:solidFill>
          <a:ln/>
        </p:spPr>
      </p:sp>
      <p:sp>
        <p:nvSpPr>
          <p:cNvPr id="42" name="Shape 40"/>
          <p:cNvSpPr/>
          <p:nvPr/>
        </p:nvSpPr>
        <p:spPr>
          <a:xfrm>
            <a:off x="457200" y="6624828"/>
            <a:ext cx="118872" cy="118872"/>
          </a:xfrm>
          <a:prstGeom prst="ellipse">
            <a:avLst/>
          </a:prstGeom>
          <a:solidFill>
            <a:srgbClr val="0D9488"/>
          </a:solidFill>
          <a:ln/>
        </p:spPr>
      </p:sp>
      <p:sp>
        <p:nvSpPr>
          <p:cNvPr id="43" name="Text 41"/>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4" name="Text 42"/>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5" name="Text 43"/>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F766E">
              <a:alpha val="65000"/>
            </a:srgbClr>
          </a:solidFill>
          <a:ln/>
        </p:spPr>
      </p:sp>
      <p:sp>
        <p:nvSpPr>
          <p:cNvPr id="3" name="Shape 1"/>
          <p:cNvSpPr/>
          <p:nvPr/>
        </p:nvSpPr>
        <p:spPr>
          <a:xfrm>
            <a:off x="-1280160" y="4206240"/>
            <a:ext cx="3657600" cy="3657600"/>
          </a:xfrm>
          <a:prstGeom prst="ellipse">
            <a:avLst/>
          </a:prstGeom>
          <a:solidFill>
            <a:srgbClr val="0F766E">
              <a:alpha val="50000"/>
            </a:srgbClr>
          </a:solidFill>
          <a:ln/>
        </p:spPr>
      </p:sp>
      <p:sp>
        <p:nvSpPr>
          <p:cNvPr id="4" name="Shape 2"/>
          <p:cNvSpPr/>
          <p:nvPr/>
        </p:nvSpPr>
        <p:spPr>
          <a:xfrm>
            <a:off x="822960" y="1371600"/>
            <a:ext cx="1188720" cy="1188720"/>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06424" y="1655064"/>
            <a:ext cx="621792" cy="621792"/>
          </a:xfrm>
          <a:prstGeom prst="rect">
            <a:avLst/>
          </a:prstGeom>
        </p:spPr>
      </p:pic>
      <p:sp>
        <p:nvSpPr>
          <p:cNvPr id="6" name="Text 3"/>
          <p:cNvSpPr/>
          <p:nvPr/>
        </p:nvSpPr>
        <p:spPr>
          <a:xfrm>
            <a:off x="822960" y="2743200"/>
            <a:ext cx="100584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Trebuchet MS" pitchFamily="34" charset="0"/>
                <a:ea typeface="Trebuchet MS" pitchFamily="34" charset="-122"/>
                <a:cs typeface="Trebuchet MS" pitchFamily="34" charset="-120"/>
              </a:rPr>
              <a:t>PHẦN PHÁP LÝ, ĐẠO ĐỨC &amp; TRẢI NGHIỆM</a:t>
            </a:r>
            <a:endParaRPr lang="en-US" sz="1400" dirty="0"/>
          </a:p>
        </p:txBody>
      </p:sp>
      <p:sp>
        <p:nvSpPr>
          <p:cNvPr id="7" name="Text 4"/>
          <p:cNvSpPr/>
          <p:nvPr/>
        </p:nvSpPr>
        <p:spPr>
          <a:xfrm>
            <a:off x="804672" y="3127248"/>
            <a:ext cx="10515600" cy="109728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Trebuchet MS" pitchFamily="34" charset="0"/>
                <a:ea typeface="Trebuchet MS" pitchFamily="34" charset="-122"/>
                <a:cs typeface="Trebuchet MS" pitchFamily="34" charset="-120"/>
              </a:rPr>
              <a:t>Niềm tin &amp; giữ chân khách hàng</a:t>
            </a:r>
            <a:endParaRPr lang="en-US" sz="3800" dirty="0"/>
          </a:p>
        </p:txBody>
      </p:sp>
      <p:sp>
        <p:nvSpPr>
          <p:cNvPr id="8" name="Shape 5"/>
          <p:cNvSpPr/>
          <p:nvPr/>
        </p:nvSpPr>
        <p:spPr>
          <a:xfrm>
            <a:off x="822960" y="4343400"/>
            <a:ext cx="4206240" cy="566928"/>
          </a:xfrm>
          <a:prstGeom prst="roundRect">
            <a:avLst>
              <a:gd name="adj" fmla="val 50000"/>
            </a:avLst>
          </a:prstGeom>
          <a:solidFill>
            <a:srgbClr val="FB7185"/>
          </a:solidFill>
          <a:ln/>
        </p:spPr>
      </p:sp>
      <p:pic>
        <p:nvPicPr>
          <p:cNvPr id="9" name="Image 1" descr="preencoded.png">    </p:cNvPr>
          <p:cNvPicPr>
            <a:picLocks noChangeAspect="1"/>
          </p:cNvPicPr>
          <p:nvPr/>
        </p:nvPicPr>
        <p:blipFill>
          <a:blip r:embed="rId2"/>
          <a:stretch>
            <a:fillRect/>
          </a:stretch>
        </p:blipFill>
        <p:spPr>
          <a:xfrm>
            <a:off x="1024128" y="4480560"/>
            <a:ext cx="292608" cy="292608"/>
          </a:xfrm>
          <a:prstGeom prst="rect">
            <a:avLst/>
          </a:prstGeom>
        </p:spPr>
      </p:pic>
      <p:sp>
        <p:nvSpPr>
          <p:cNvPr id="10" name="Text 6"/>
          <p:cNvSpPr/>
          <p:nvPr/>
        </p:nvSpPr>
        <p:spPr>
          <a:xfrm>
            <a:off x="1371600" y="4343400"/>
            <a:ext cx="3566160" cy="56692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Trình bày: Chị Nhi</a:t>
            </a:r>
            <a:endParaRPr lang="en-US" sz="1400" dirty="0"/>
          </a:p>
        </p:txBody>
      </p:sp>
      <p:sp>
        <p:nvSpPr>
          <p:cNvPr id="11" name="Text 7"/>
          <p:cNvSpPr/>
          <p:nvPr/>
        </p:nvSpPr>
        <p:spPr>
          <a:xfrm>
            <a:off x="868680" y="5120640"/>
            <a:ext cx="10058400" cy="137160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Pháp lý &amp; đạo đức — tuân thủ chủ động</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Trải nghiệm khách hàng &amp; giữ chân</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Care-team địa phương · “Nhật ký yêu thương”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NHI · PHÁP LÝ &amp; ĐẠO ĐỨC</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Tuân thủ chủ động = điểm tin cậy</a:t>
            </a:r>
            <a:endParaRPr lang="en-US" sz="3000" dirty="0"/>
          </a:p>
        </p:txBody>
      </p:sp>
      <p:sp>
        <p:nvSpPr>
          <p:cNvPr id="5" name="Shape 3"/>
          <p:cNvSpPr/>
          <p:nvPr/>
        </p:nvSpPr>
        <p:spPr>
          <a:xfrm>
            <a:off x="640080" y="1783080"/>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68680" y="2029968"/>
            <a:ext cx="457200" cy="45720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978408" y="2139696"/>
            <a:ext cx="237744" cy="237744"/>
          </a:xfrm>
          <a:prstGeom prst="rect">
            <a:avLst/>
          </a:prstGeom>
        </p:spPr>
      </p:pic>
      <p:sp>
        <p:nvSpPr>
          <p:cNvPr id="8" name="Text 5"/>
          <p:cNvSpPr/>
          <p:nvPr/>
        </p:nvSpPr>
        <p:spPr>
          <a:xfrm>
            <a:off x="1508760" y="1911096"/>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Nghị định 13/2023</a:t>
            </a:r>
            <a:endParaRPr lang="en-US" sz="1300" dirty="0"/>
          </a:p>
        </p:txBody>
      </p:sp>
      <p:sp>
        <p:nvSpPr>
          <p:cNvPr id="9" name="Text 6"/>
          <p:cNvSpPr/>
          <p:nvPr/>
        </p:nvSpPr>
        <p:spPr>
          <a:xfrm>
            <a:off x="1508760" y="2240280"/>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Bảo vệ dữ liệu cá nhân: mã hóa, phân quyền, nhật ký truy cập.</a:t>
            </a:r>
            <a:endParaRPr lang="en-US" sz="1050" dirty="0"/>
          </a:p>
        </p:txBody>
      </p:sp>
      <p:sp>
        <p:nvSpPr>
          <p:cNvPr id="10" name="Shape 7"/>
          <p:cNvSpPr/>
          <p:nvPr/>
        </p:nvSpPr>
        <p:spPr>
          <a:xfrm>
            <a:off x="640080" y="2852928"/>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868680" y="3099816"/>
            <a:ext cx="457200" cy="45720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978408" y="3209544"/>
            <a:ext cx="237744" cy="237744"/>
          </a:xfrm>
          <a:prstGeom prst="rect">
            <a:avLst/>
          </a:prstGeom>
        </p:spPr>
      </p:pic>
      <p:sp>
        <p:nvSpPr>
          <p:cNvPr id="13" name="Text 9"/>
          <p:cNvSpPr/>
          <p:nvPr/>
        </p:nvSpPr>
        <p:spPr>
          <a:xfrm>
            <a:off x="1508760" y="2980944"/>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Luật KCB 2023 · Điều 80</a:t>
            </a:r>
            <a:endParaRPr lang="en-US" sz="1300" dirty="0"/>
          </a:p>
        </p:txBody>
      </p:sp>
      <p:sp>
        <p:nvSpPr>
          <p:cNvPr id="14" name="Text 10"/>
          <p:cNvSpPr/>
          <p:nvPr/>
        </p:nvSpPr>
        <p:spPr>
          <a:xfrm>
            <a:off x="1508760" y="3310128"/>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Khám từ xa được phép — bắt buộc hồ sơ điện tử (EHR).</a:t>
            </a:r>
            <a:endParaRPr lang="en-US" sz="1050" dirty="0"/>
          </a:p>
        </p:txBody>
      </p:sp>
      <p:sp>
        <p:nvSpPr>
          <p:cNvPr id="15" name="Shape 11"/>
          <p:cNvSpPr/>
          <p:nvPr/>
        </p:nvSpPr>
        <p:spPr>
          <a:xfrm>
            <a:off x="640080" y="3922776"/>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868680" y="4169664"/>
            <a:ext cx="457200" cy="457200"/>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978408" y="4279392"/>
            <a:ext cx="237744" cy="237744"/>
          </a:xfrm>
          <a:prstGeom prst="rect">
            <a:avLst/>
          </a:prstGeom>
        </p:spPr>
      </p:pic>
      <p:sp>
        <p:nvSpPr>
          <p:cNvPr id="18" name="Text 13"/>
          <p:cNvSpPr/>
          <p:nvPr/>
        </p:nvSpPr>
        <p:spPr>
          <a:xfrm>
            <a:off x="1508760" y="4050792"/>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Luật Dược</a:t>
            </a:r>
            <a:endParaRPr lang="en-US" sz="1300" dirty="0"/>
          </a:p>
        </p:txBody>
      </p:sp>
      <p:sp>
        <p:nvSpPr>
          <p:cNvPr id="19" name="Text 14"/>
          <p:cNvSpPr/>
          <p:nvPr/>
        </p:nvSpPr>
        <p:spPr>
          <a:xfrm>
            <a:off x="1508760" y="4379976"/>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Dược sĩ phụ trách bắt buộc; giao dược đạt chuẩn.</a:t>
            </a:r>
            <a:endParaRPr lang="en-US" sz="1050" dirty="0"/>
          </a:p>
        </p:txBody>
      </p:sp>
      <p:sp>
        <p:nvSpPr>
          <p:cNvPr id="20" name="Shape 15"/>
          <p:cNvSpPr/>
          <p:nvPr/>
        </p:nvSpPr>
        <p:spPr>
          <a:xfrm>
            <a:off x="640080" y="4992624"/>
            <a:ext cx="5532120" cy="960120"/>
          </a:xfrm>
          <a:prstGeom prst="roundRect">
            <a:avLst>
              <a:gd name="adj" fmla="val 6667"/>
            </a:avLst>
          </a:prstGeom>
          <a:solidFill>
            <a:srgbClr val="FFFFFF"/>
          </a:solidFill>
          <a:ln/>
          <a:effectLst>
            <a:outerShdw sx="100000" sy="100000" kx="0" ky="0" algn="bl" rotWithShape="0" blurRad="63500" dist="25400" dir="5400000">
              <a:srgbClr val="0F172A">
                <a:alpha val="10000"/>
              </a:srgbClr>
            </a:outerShdw>
          </a:effectLst>
        </p:spPr>
      </p:sp>
      <p:sp>
        <p:nvSpPr>
          <p:cNvPr id="21" name="Shape 16"/>
          <p:cNvSpPr/>
          <p:nvPr/>
        </p:nvSpPr>
        <p:spPr>
          <a:xfrm>
            <a:off x="868680" y="5239512"/>
            <a:ext cx="457200" cy="457200"/>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978408" y="5349240"/>
            <a:ext cx="237744" cy="237744"/>
          </a:xfrm>
          <a:prstGeom prst="rect">
            <a:avLst/>
          </a:prstGeom>
        </p:spPr>
      </p:pic>
      <p:sp>
        <p:nvSpPr>
          <p:cNvPr id="23" name="Text 17"/>
          <p:cNvSpPr/>
          <p:nvPr/>
        </p:nvSpPr>
        <p:spPr>
          <a:xfrm>
            <a:off x="1508760" y="5120640"/>
            <a:ext cx="4526280" cy="329184"/>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Chống thuốc giả</a:t>
            </a:r>
            <a:endParaRPr lang="en-US" sz="1300" dirty="0"/>
          </a:p>
        </p:txBody>
      </p:sp>
      <p:sp>
        <p:nvSpPr>
          <p:cNvPr id="24" name="Text 18"/>
          <p:cNvSpPr/>
          <p:nvPr/>
        </p:nvSpPr>
        <p:spPr>
          <a:xfrm>
            <a:off x="1508760" y="5449824"/>
            <a:ext cx="4526280" cy="457200"/>
          </a:xfrm>
          <a:prstGeom prst="rect">
            <a:avLst/>
          </a:prstGeom>
          <a:noFill/>
          <a:ln/>
        </p:spPr>
        <p:txBody>
          <a:bodyPr wrap="square" lIns="0" tIns="0" rIns="0" bIns="0" rtlCol="0" anchor="t"/>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QR xác thực từng vỉ, kết nối cảnh báo lô giả.</a:t>
            </a:r>
            <a:endParaRPr lang="en-US" sz="1050" dirty="0"/>
          </a:p>
        </p:txBody>
      </p:sp>
      <p:sp>
        <p:nvSpPr>
          <p:cNvPr id="25" name="Shape 19"/>
          <p:cNvSpPr/>
          <p:nvPr/>
        </p:nvSpPr>
        <p:spPr>
          <a:xfrm>
            <a:off x="6355080" y="1783080"/>
            <a:ext cx="5193792" cy="4261104"/>
          </a:xfrm>
          <a:prstGeom prst="roundRect">
            <a:avLst>
              <a:gd name="adj" fmla="val 2146"/>
            </a:avLst>
          </a:prstGeom>
          <a:solidFill>
            <a:srgbClr val="134E4A"/>
          </a:solidFill>
          <a:ln/>
          <a:effectLst>
            <a:outerShdw sx="100000" sy="100000" kx="0" ky="0" algn="bl" rotWithShape="0" blurRad="114300" dist="38100" dir="5400000">
              <a:srgbClr val="0F172A">
                <a:alpha val="12000"/>
              </a:srgbClr>
            </a:outerShdw>
          </a:effectLst>
        </p:spPr>
      </p:sp>
      <p:pic>
        <p:nvPicPr>
          <p:cNvPr id="26" name="Image 4" descr="preencoded.png">    </p:cNvPr>
          <p:cNvPicPr>
            <a:picLocks noChangeAspect="1"/>
          </p:cNvPicPr>
          <p:nvPr/>
        </p:nvPicPr>
        <p:blipFill>
          <a:blip r:embed="rId5"/>
          <a:stretch>
            <a:fillRect/>
          </a:stretch>
        </p:blipFill>
        <p:spPr>
          <a:xfrm>
            <a:off x="6629400" y="2011680"/>
            <a:ext cx="457200" cy="457200"/>
          </a:xfrm>
          <a:prstGeom prst="rect">
            <a:avLst/>
          </a:prstGeom>
        </p:spPr>
      </p:pic>
      <p:sp>
        <p:nvSpPr>
          <p:cNvPr id="27" name="Text 20"/>
          <p:cNvSpPr/>
          <p:nvPr/>
        </p:nvSpPr>
        <p:spPr>
          <a:xfrm>
            <a:off x="7178040" y="2011680"/>
            <a:ext cx="4206240" cy="45720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Đạo đức giám hộ &amp; người yếu thế</a:t>
            </a:r>
            <a:endParaRPr lang="en-US" sz="1500" dirty="0"/>
          </a:p>
        </p:txBody>
      </p:sp>
      <p:sp>
        <p:nvSpPr>
          <p:cNvPr id="28" name="Text 21"/>
          <p:cNvSpPr/>
          <p:nvPr/>
        </p:nvSpPr>
        <p:spPr>
          <a:xfrm>
            <a:off x="6675120" y="2697480"/>
            <a:ext cx="4617720" cy="3200400"/>
          </a:xfrm>
          <a:prstGeom prst="rect">
            <a:avLst/>
          </a:prstGeom>
          <a:noFill/>
          <a:ln/>
        </p:spPr>
        <p:txBody>
          <a:bodyPr wrap="square" lIns="0" tIns="0" rIns="0" bIns="0" rtlCol="0" anchor="t"/>
          <a:lstStyle/>
          <a:p>
            <a:pPr marL="177800" indent="-177800">
              <a:lnSpc>
                <a:spcPct val="105000"/>
              </a:lnSpc>
              <a:spcAft>
                <a:spcPts val="1000"/>
              </a:spcAft>
              <a:buSzPct val="100000"/>
              <a:buChar char="•"/>
            </a:pPr>
            <a:r>
              <a:rPr lang="en-US" sz="1250" dirty="0">
                <a:solidFill>
                  <a:srgbClr val="ECFEFF"/>
                </a:solidFill>
                <a:latin typeface="Calibri" pitchFamily="34" charset="0"/>
                <a:ea typeface="Calibri" pitchFamily="34" charset="-122"/>
                <a:cs typeface="Calibri" pitchFamily="34" charset="-120"/>
              </a:rPr>
              <a:t>Camera &amp; GPS chỉ bật khi có sự đồng ý rõ ràng — tôn trọng quyền riêng tư người già.</a:t>
            </a:r>
            <a:endParaRPr lang="en-US" sz="1250" dirty="0"/>
          </a:p>
          <a:p>
            <a:pPr marL="177800" indent="-177800">
              <a:lnSpc>
                <a:spcPct val="105000"/>
              </a:lnSpc>
              <a:spcAft>
                <a:spcPts val="1000"/>
              </a:spcAft>
              <a:buSzPct val="100000"/>
              <a:buChar char="•"/>
            </a:pPr>
            <a:r>
              <a:rPr lang="en-US" sz="1250" dirty="0">
                <a:solidFill>
                  <a:srgbClr val="ECFEFF"/>
                </a:solidFill>
                <a:latin typeface="Calibri" pitchFamily="34" charset="0"/>
                <a:ea typeface="Calibri" pitchFamily="34" charset="-122"/>
                <a:cs typeface="Calibri" pitchFamily="34" charset="-120"/>
              </a:rPr>
              <a:t>Minh bạch phí y tế, hạn chế upsell không chính đáng.</a:t>
            </a:r>
            <a:endParaRPr lang="en-US" sz="1250" dirty="0"/>
          </a:p>
          <a:p>
            <a:pPr marL="177800" indent="-177800">
              <a:lnSpc>
                <a:spcPct val="105000"/>
              </a:lnSpc>
              <a:spcAft>
                <a:spcPts val="1000"/>
              </a:spcAft>
              <a:buSzPct val="100000"/>
              <a:buChar char="•"/>
            </a:pPr>
            <a:r>
              <a:rPr lang="en-US" sz="1250" dirty="0">
                <a:solidFill>
                  <a:srgbClr val="ECFEFF"/>
                </a:solidFill>
                <a:latin typeface="Calibri" pitchFamily="34" charset="0"/>
                <a:ea typeface="Calibri" pitchFamily="34" charset="-122"/>
                <a:cs typeface="Calibri" pitchFamily="34" charset="-120"/>
              </a:rPr>
              <a:t>Quy trình giám hộ rõ ràng khi người dùng sa sút trí tuệ.</a:t>
            </a:r>
            <a:endParaRPr lang="en-US" sz="1250" dirty="0"/>
          </a:p>
          <a:p>
            <a:pPr marL="177800" indent="-177800">
              <a:lnSpc>
                <a:spcPct val="105000"/>
              </a:lnSpc>
              <a:buSzPct val="100000"/>
              <a:buChar char="•"/>
            </a:pPr>
            <a:r>
              <a:rPr lang="en-US" sz="1250" dirty="0">
                <a:solidFill>
                  <a:srgbClr val="ECFEFF"/>
                </a:solidFill>
                <a:latin typeface="Calibri" pitchFamily="34" charset="0"/>
                <a:ea typeface="Calibri" pitchFamily="34" charset="-122"/>
                <a:cs typeface="Calibri" pitchFamily="34" charset="-120"/>
              </a:rPr>
              <a:t>Đối xử công bằng với caregiver: trả công hợp lý, an sinh.</a:t>
            </a:r>
            <a:endParaRPr lang="en-US" sz="1250" dirty="0"/>
          </a:p>
        </p:txBody>
      </p:sp>
      <p:sp>
        <p:nvSpPr>
          <p:cNvPr id="29" name="Shape 22"/>
          <p:cNvSpPr/>
          <p:nvPr/>
        </p:nvSpPr>
        <p:spPr>
          <a:xfrm>
            <a:off x="0" y="6565392"/>
            <a:ext cx="12191695" cy="292608"/>
          </a:xfrm>
          <a:prstGeom prst="rect">
            <a:avLst/>
          </a:prstGeom>
          <a:solidFill>
            <a:srgbClr val="FFFFFF"/>
          </a:solidFill>
          <a:ln/>
        </p:spPr>
      </p:sp>
      <p:sp>
        <p:nvSpPr>
          <p:cNvPr id="30" name="Shape 23"/>
          <p:cNvSpPr/>
          <p:nvPr/>
        </p:nvSpPr>
        <p:spPr>
          <a:xfrm>
            <a:off x="0" y="6547104"/>
            <a:ext cx="12191695" cy="20117"/>
          </a:xfrm>
          <a:prstGeom prst="rect">
            <a:avLst/>
          </a:prstGeom>
          <a:solidFill>
            <a:srgbClr val="E2E8F0"/>
          </a:solidFill>
          <a:ln/>
        </p:spPr>
      </p:sp>
      <p:sp>
        <p:nvSpPr>
          <p:cNvPr id="31" name="Shape 24"/>
          <p:cNvSpPr/>
          <p:nvPr/>
        </p:nvSpPr>
        <p:spPr>
          <a:xfrm>
            <a:off x="457200" y="6624828"/>
            <a:ext cx="118872" cy="118872"/>
          </a:xfrm>
          <a:prstGeom prst="ellipse">
            <a:avLst/>
          </a:prstGeom>
          <a:solidFill>
            <a:srgbClr val="0D9488"/>
          </a:solidFill>
          <a:ln/>
        </p:spPr>
      </p:sp>
      <p:sp>
        <p:nvSpPr>
          <p:cNvPr id="32" name="Text 25"/>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33" name="Text 26"/>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34" name="Text 27"/>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NHI · TRẢI NGHIỆM &amp; GIỮ CHÂN</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Care-team địa phương + “Nhật ký yêu thương”</a:t>
            </a:r>
            <a:endParaRPr lang="en-US" sz="3000" dirty="0"/>
          </a:p>
        </p:txBody>
      </p:sp>
      <p:sp>
        <p:nvSpPr>
          <p:cNvPr id="5" name="Shape 3"/>
          <p:cNvSpPr/>
          <p:nvPr/>
        </p:nvSpPr>
        <p:spPr>
          <a:xfrm>
            <a:off x="640080" y="1783080"/>
            <a:ext cx="5440680"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96112" y="2020824"/>
            <a:ext cx="566928" cy="566928"/>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024128" y="2148840"/>
            <a:ext cx="310896" cy="310896"/>
          </a:xfrm>
          <a:prstGeom prst="rect">
            <a:avLst/>
          </a:prstGeom>
        </p:spPr>
      </p:pic>
      <p:sp>
        <p:nvSpPr>
          <p:cNvPr id="8" name="Text 5"/>
          <p:cNvSpPr/>
          <p:nvPr/>
        </p:nvSpPr>
        <p:spPr>
          <a:xfrm>
            <a:off x="1572768" y="2020824"/>
            <a:ext cx="4343400" cy="566928"/>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Care-team địa phương (HN)</a:t>
            </a:r>
            <a:endParaRPr lang="en-US" sz="1500" dirty="0"/>
          </a:p>
        </p:txBody>
      </p:sp>
      <p:sp>
        <p:nvSpPr>
          <p:cNvPr id="9" name="Text 6"/>
          <p:cNvSpPr/>
          <p:nvPr/>
        </p:nvSpPr>
        <p:spPr>
          <a:xfrm>
            <a:off x="896112" y="2697480"/>
            <a:ext cx="4983480" cy="64008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Điều dưỡng cố định quen mặt, tuyển lao động tại chỗ — bố mẹ thấy an tâm, gắn bó.</a:t>
            </a:r>
            <a:endParaRPr lang="en-US" sz="1100" dirty="0"/>
          </a:p>
        </p:txBody>
      </p:sp>
      <p:sp>
        <p:nvSpPr>
          <p:cNvPr id="10" name="Shape 7"/>
          <p:cNvSpPr/>
          <p:nvPr/>
        </p:nvSpPr>
        <p:spPr>
          <a:xfrm>
            <a:off x="6263640" y="1783080"/>
            <a:ext cx="5285232" cy="1828800"/>
          </a:xfrm>
          <a:prstGeom prst="roundRect">
            <a:avLst>
              <a:gd name="adj" fmla="val 4000"/>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6519672" y="2020824"/>
            <a:ext cx="566928" cy="566928"/>
          </a:xfrm>
          <a:prstGeom prst="ellipse">
            <a:avLst/>
          </a:prstGeom>
          <a:solidFill>
            <a:srgbClr val="FB7185"/>
          </a:solidFill>
          <a:ln/>
        </p:spPr>
      </p:sp>
      <p:pic>
        <p:nvPicPr>
          <p:cNvPr id="12" name="Image 1" descr="preencoded.png">    </p:cNvPr>
          <p:cNvPicPr>
            <a:picLocks noChangeAspect="1"/>
          </p:cNvPicPr>
          <p:nvPr/>
        </p:nvPicPr>
        <p:blipFill>
          <a:blip r:embed="rId2"/>
          <a:stretch>
            <a:fillRect/>
          </a:stretch>
        </p:blipFill>
        <p:spPr>
          <a:xfrm>
            <a:off x="6647688" y="2148840"/>
            <a:ext cx="310896" cy="310896"/>
          </a:xfrm>
          <a:prstGeom prst="rect">
            <a:avLst/>
          </a:prstGeom>
        </p:spPr>
      </p:pic>
      <p:sp>
        <p:nvSpPr>
          <p:cNvPr id="13" name="Text 9"/>
          <p:cNvSpPr/>
          <p:nvPr/>
        </p:nvSpPr>
        <p:spPr>
          <a:xfrm>
            <a:off x="7196328" y="2020824"/>
            <a:ext cx="4187952" cy="566928"/>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“Nhật ký yêu thương”</a:t>
            </a:r>
            <a:endParaRPr lang="en-US" sz="1500" dirty="0"/>
          </a:p>
        </p:txBody>
      </p:sp>
      <p:sp>
        <p:nvSpPr>
          <p:cNvPr id="14" name="Text 10"/>
          <p:cNvSpPr/>
          <p:nvPr/>
        </p:nvSpPr>
        <p:spPr>
          <a:xfrm>
            <a:off x="6519672" y="2697480"/>
            <a:ext cx="4828032" cy="640080"/>
          </a:xfrm>
          <a:prstGeom prst="rect">
            <a:avLst/>
          </a:prstGeom>
          <a:noFill/>
          <a:ln/>
        </p:spPr>
        <p:txBody>
          <a:bodyPr wrap="square" lIns="0" tIns="0" rIns="0" bIns="0" rtlCol="0" anchor="t"/>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Gửi con cái ảnh &amp; nhật ký chăm sóc hằng ngày — biến sự an tâm thành cảm xúc.</a:t>
            </a:r>
            <a:endParaRPr lang="en-US" sz="1100" dirty="0"/>
          </a:p>
        </p:txBody>
      </p:sp>
      <p:sp>
        <p:nvSpPr>
          <p:cNvPr id="15" name="Text 11"/>
          <p:cNvSpPr/>
          <p:nvPr/>
        </p:nvSpPr>
        <p:spPr>
          <a:xfrm>
            <a:off x="640080" y="3840480"/>
            <a:ext cx="10881360" cy="36576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Chỉ số giữ chân &amp; lan tỏa</a:t>
            </a:r>
            <a:endParaRPr lang="en-US" sz="1400" dirty="0"/>
          </a:p>
        </p:txBody>
      </p:sp>
      <p:sp>
        <p:nvSpPr>
          <p:cNvPr id="16" name="Shape 12"/>
          <p:cNvSpPr/>
          <p:nvPr/>
        </p:nvSpPr>
        <p:spPr>
          <a:xfrm>
            <a:off x="640080" y="4297680"/>
            <a:ext cx="1737360" cy="1417320"/>
          </a:xfrm>
          <a:prstGeom prst="roundRect">
            <a:avLst>
              <a:gd name="adj" fmla="val 5161"/>
            </a:avLst>
          </a:prstGeom>
          <a:solidFill>
            <a:srgbClr val="FFFFFF"/>
          </a:solidFill>
          <a:ln/>
          <a:effectLst>
            <a:outerShdw sx="100000" sy="100000" kx="0" ky="0" algn="bl" rotWithShape="0" blurRad="63500" dist="25400" dir="5400000">
              <a:srgbClr val="0F172A">
                <a:alpha val="10000"/>
              </a:srgbClr>
            </a:outerShdw>
          </a:effectLst>
        </p:spPr>
      </p:sp>
      <p:sp>
        <p:nvSpPr>
          <p:cNvPr id="17" name="Shape 13"/>
          <p:cNvSpPr/>
          <p:nvPr/>
        </p:nvSpPr>
        <p:spPr>
          <a:xfrm>
            <a:off x="640080" y="4297680"/>
            <a:ext cx="1737360" cy="54864"/>
          </a:xfrm>
          <a:prstGeom prst="rect">
            <a:avLst/>
          </a:prstGeom>
          <a:solidFill>
            <a:srgbClr val="0D9488"/>
          </a:solidFill>
          <a:ln/>
        </p:spPr>
      </p:sp>
      <p:sp>
        <p:nvSpPr>
          <p:cNvPr id="18" name="Text 14"/>
          <p:cNvSpPr/>
          <p:nvPr/>
        </p:nvSpPr>
        <p:spPr>
          <a:xfrm>
            <a:off x="685800" y="4480560"/>
            <a:ext cx="1645920" cy="594360"/>
          </a:xfrm>
          <a:prstGeom prst="rect">
            <a:avLst/>
          </a:prstGeom>
          <a:noFill/>
          <a:ln/>
        </p:spPr>
        <p:txBody>
          <a:bodyPr wrap="square" lIns="0" tIns="0" rIns="0" bIns="0" rtlCol="0" anchor="ctr"/>
          <a:lstStyle/>
          <a:p>
            <a:pPr algn="ctr" indent="0" marL="0">
              <a:buNone/>
            </a:pPr>
            <a:r>
              <a:rPr lang="en-US" sz="2300" b="1" dirty="0">
                <a:solidFill>
                  <a:srgbClr val="0D9488"/>
                </a:solidFill>
                <a:latin typeface="Trebuchet MS" pitchFamily="34" charset="0"/>
                <a:ea typeface="Trebuchet MS" pitchFamily="34" charset="-122"/>
                <a:cs typeface="Trebuchet MS" pitchFamily="34" charset="-120"/>
              </a:rPr>
              <a:t>~85%</a:t>
            </a:r>
            <a:endParaRPr lang="en-US" sz="2300" dirty="0"/>
          </a:p>
        </p:txBody>
      </p:sp>
      <p:sp>
        <p:nvSpPr>
          <p:cNvPr id="19" name="Text 15"/>
          <p:cNvSpPr/>
          <p:nvPr/>
        </p:nvSpPr>
        <p:spPr>
          <a:xfrm>
            <a:off x="713232" y="5102352"/>
            <a:ext cx="1591056" cy="548640"/>
          </a:xfrm>
          <a:prstGeom prst="rect">
            <a:avLst/>
          </a:prstGeom>
          <a:noFill/>
          <a:ln/>
        </p:spPr>
        <p:txBody>
          <a:bodyPr wrap="square" lIns="0" tIns="0" rIns="0" bIns="0" rtlCol="0" anchor="t"/>
          <a:lstStyle/>
          <a:p>
            <a:pPr algn="ctr" indent="0" marL="0">
              <a:lnSpc>
                <a:spcPct val="100000"/>
              </a:lnSpc>
              <a:buNone/>
            </a:pPr>
            <a:r>
              <a:rPr lang="en-US" sz="1000" dirty="0">
                <a:solidFill>
                  <a:srgbClr val="64748B"/>
                </a:solidFill>
                <a:latin typeface="Calibri" pitchFamily="34" charset="0"/>
                <a:ea typeface="Calibri" pitchFamily="34" charset="-122"/>
                <a:cs typeface="Calibri" pitchFamily="34" charset="-120"/>
              </a:rPr>
              <a:t>giữ chân/năm</a:t>
            </a:r>
            <a:endParaRPr lang="en-US" sz="1000" dirty="0"/>
          </a:p>
        </p:txBody>
      </p:sp>
      <p:sp>
        <p:nvSpPr>
          <p:cNvPr id="20" name="Shape 16"/>
          <p:cNvSpPr/>
          <p:nvPr/>
        </p:nvSpPr>
        <p:spPr>
          <a:xfrm>
            <a:off x="2496312" y="4297680"/>
            <a:ext cx="1737360" cy="1417320"/>
          </a:xfrm>
          <a:prstGeom prst="roundRect">
            <a:avLst>
              <a:gd name="adj" fmla="val 5161"/>
            </a:avLst>
          </a:prstGeom>
          <a:solidFill>
            <a:srgbClr val="FFFFFF"/>
          </a:solidFill>
          <a:ln/>
          <a:effectLst>
            <a:outerShdw sx="100000" sy="100000" kx="0" ky="0" algn="bl" rotWithShape="0" blurRad="63500" dist="25400" dir="5400000">
              <a:srgbClr val="0F172A">
                <a:alpha val="10000"/>
              </a:srgbClr>
            </a:outerShdw>
          </a:effectLst>
        </p:spPr>
      </p:sp>
      <p:sp>
        <p:nvSpPr>
          <p:cNvPr id="21" name="Shape 17"/>
          <p:cNvSpPr/>
          <p:nvPr/>
        </p:nvSpPr>
        <p:spPr>
          <a:xfrm>
            <a:off x="2496312" y="4297680"/>
            <a:ext cx="1737360" cy="54864"/>
          </a:xfrm>
          <a:prstGeom prst="rect">
            <a:avLst/>
          </a:prstGeom>
          <a:solidFill>
            <a:srgbClr val="0F766E"/>
          </a:solidFill>
          <a:ln/>
        </p:spPr>
      </p:sp>
      <p:sp>
        <p:nvSpPr>
          <p:cNvPr id="22" name="Text 18"/>
          <p:cNvSpPr/>
          <p:nvPr/>
        </p:nvSpPr>
        <p:spPr>
          <a:xfrm>
            <a:off x="2542032" y="4480560"/>
            <a:ext cx="1645920" cy="594360"/>
          </a:xfrm>
          <a:prstGeom prst="rect">
            <a:avLst/>
          </a:prstGeom>
          <a:noFill/>
          <a:ln/>
        </p:spPr>
        <p:txBody>
          <a:bodyPr wrap="square" lIns="0" tIns="0" rIns="0" bIns="0" rtlCol="0" anchor="ctr"/>
          <a:lstStyle/>
          <a:p>
            <a:pPr algn="ctr" indent="0" marL="0">
              <a:buNone/>
            </a:pPr>
            <a:r>
              <a:rPr lang="en-US" sz="2300" b="1" dirty="0">
                <a:solidFill>
                  <a:srgbClr val="0F766E"/>
                </a:solidFill>
                <a:latin typeface="Trebuchet MS" pitchFamily="34" charset="0"/>
                <a:ea typeface="Trebuchet MS" pitchFamily="34" charset="-122"/>
                <a:cs typeface="Trebuchet MS" pitchFamily="34" charset="-120"/>
              </a:rPr>
              <a:t>~110%</a:t>
            </a:r>
            <a:endParaRPr lang="en-US" sz="2300" dirty="0"/>
          </a:p>
        </p:txBody>
      </p:sp>
      <p:sp>
        <p:nvSpPr>
          <p:cNvPr id="23" name="Text 19"/>
          <p:cNvSpPr/>
          <p:nvPr/>
        </p:nvSpPr>
        <p:spPr>
          <a:xfrm>
            <a:off x="2569464" y="5102352"/>
            <a:ext cx="1591056" cy="548640"/>
          </a:xfrm>
          <a:prstGeom prst="rect">
            <a:avLst/>
          </a:prstGeom>
          <a:noFill/>
          <a:ln/>
        </p:spPr>
        <p:txBody>
          <a:bodyPr wrap="square" lIns="0" tIns="0" rIns="0" bIns="0" rtlCol="0" anchor="t"/>
          <a:lstStyle/>
          <a:p>
            <a:pPr algn="ctr" indent="0" marL="0">
              <a:lnSpc>
                <a:spcPct val="100000"/>
              </a:lnSpc>
              <a:buNone/>
            </a:pPr>
            <a:r>
              <a:rPr lang="en-US" sz="1000" dirty="0">
                <a:solidFill>
                  <a:srgbClr val="64748B"/>
                </a:solidFill>
                <a:latin typeface="Calibri" pitchFamily="34" charset="0"/>
                <a:ea typeface="Calibri" pitchFamily="34" charset="-122"/>
                <a:cs typeface="Calibri" pitchFamily="34" charset="-120"/>
              </a:rPr>
              <a:t>NRR</a:t>
            </a:r>
            <a:endParaRPr lang="en-US" sz="1000" dirty="0"/>
          </a:p>
        </p:txBody>
      </p:sp>
      <p:sp>
        <p:nvSpPr>
          <p:cNvPr id="24" name="Shape 20"/>
          <p:cNvSpPr/>
          <p:nvPr/>
        </p:nvSpPr>
        <p:spPr>
          <a:xfrm>
            <a:off x="4352544" y="4297680"/>
            <a:ext cx="1737360" cy="1417320"/>
          </a:xfrm>
          <a:prstGeom prst="roundRect">
            <a:avLst>
              <a:gd name="adj" fmla="val 5161"/>
            </a:avLst>
          </a:prstGeom>
          <a:solidFill>
            <a:srgbClr val="FFFFFF"/>
          </a:solidFill>
          <a:ln/>
          <a:effectLst>
            <a:outerShdw sx="100000" sy="100000" kx="0" ky="0" algn="bl" rotWithShape="0" blurRad="63500" dist="25400" dir="5400000">
              <a:srgbClr val="0F172A">
                <a:alpha val="10000"/>
              </a:srgbClr>
            </a:outerShdw>
          </a:effectLst>
        </p:spPr>
      </p:sp>
      <p:sp>
        <p:nvSpPr>
          <p:cNvPr id="25" name="Shape 21"/>
          <p:cNvSpPr/>
          <p:nvPr/>
        </p:nvSpPr>
        <p:spPr>
          <a:xfrm>
            <a:off x="4352544" y="4297680"/>
            <a:ext cx="1737360" cy="54864"/>
          </a:xfrm>
          <a:prstGeom prst="rect">
            <a:avLst/>
          </a:prstGeom>
          <a:solidFill>
            <a:srgbClr val="F5A623"/>
          </a:solidFill>
          <a:ln/>
        </p:spPr>
      </p:sp>
      <p:sp>
        <p:nvSpPr>
          <p:cNvPr id="26" name="Text 22"/>
          <p:cNvSpPr/>
          <p:nvPr/>
        </p:nvSpPr>
        <p:spPr>
          <a:xfrm>
            <a:off x="4398264" y="4480560"/>
            <a:ext cx="1645920" cy="594360"/>
          </a:xfrm>
          <a:prstGeom prst="rect">
            <a:avLst/>
          </a:prstGeom>
          <a:noFill/>
          <a:ln/>
        </p:spPr>
        <p:txBody>
          <a:bodyPr wrap="square" lIns="0" tIns="0" rIns="0" bIns="0" rtlCol="0" anchor="ctr"/>
          <a:lstStyle/>
          <a:p>
            <a:pPr algn="ctr" indent="0" marL="0">
              <a:buNone/>
            </a:pPr>
            <a:r>
              <a:rPr lang="en-US" sz="2300" b="1" dirty="0">
                <a:solidFill>
                  <a:srgbClr val="F5A623"/>
                </a:solidFill>
                <a:latin typeface="Trebuchet MS" pitchFamily="34" charset="0"/>
                <a:ea typeface="Trebuchet MS" pitchFamily="34" charset="-122"/>
                <a:cs typeface="Trebuchet MS" pitchFamily="34" charset="-120"/>
              </a:rPr>
              <a:t>6–8×</a:t>
            </a:r>
            <a:endParaRPr lang="en-US" sz="2300" dirty="0"/>
          </a:p>
        </p:txBody>
      </p:sp>
      <p:sp>
        <p:nvSpPr>
          <p:cNvPr id="27" name="Text 23"/>
          <p:cNvSpPr/>
          <p:nvPr/>
        </p:nvSpPr>
        <p:spPr>
          <a:xfrm>
            <a:off x="4425696" y="5102352"/>
            <a:ext cx="1591056" cy="548640"/>
          </a:xfrm>
          <a:prstGeom prst="rect">
            <a:avLst/>
          </a:prstGeom>
          <a:noFill/>
          <a:ln/>
        </p:spPr>
        <p:txBody>
          <a:bodyPr wrap="square" lIns="0" tIns="0" rIns="0" bIns="0" rtlCol="0" anchor="t"/>
          <a:lstStyle/>
          <a:p>
            <a:pPr algn="ctr" indent="0" marL="0">
              <a:lnSpc>
                <a:spcPct val="100000"/>
              </a:lnSpc>
              <a:buNone/>
            </a:pPr>
            <a:r>
              <a:rPr lang="en-US" sz="1000" dirty="0">
                <a:solidFill>
                  <a:srgbClr val="64748B"/>
                </a:solidFill>
                <a:latin typeface="Calibri" pitchFamily="34" charset="0"/>
                <a:ea typeface="Calibri" pitchFamily="34" charset="-122"/>
                <a:cs typeface="Calibri" pitchFamily="34" charset="-120"/>
              </a:rPr>
              <a:t>LTV / CAC</a:t>
            </a:r>
            <a:endParaRPr lang="en-US" sz="1000" dirty="0"/>
          </a:p>
        </p:txBody>
      </p:sp>
      <p:sp>
        <p:nvSpPr>
          <p:cNvPr id="28" name="Shape 24"/>
          <p:cNvSpPr/>
          <p:nvPr/>
        </p:nvSpPr>
        <p:spPr>
          <a:xfrm>
            <a:off x="6208776" y="4297680"/>
            <a:ext cx="1737360" cy="1417320"/>
          </a:xfrm>
          <a:prstGeom prst="roundRect">
            <a:avLst>
              <a:gd name="adj" fmla="val 5161"/>
            </a:avLst>
          </a:prstGeom>
          <a:solidFill>
            <a:srgbClr val="FFFFFF"/>
          </a:solidFill>
          <a:ln/>
          <a:effectLst>
            <a:outerShdw sx="100000" sy="100000" kx="0" ky="0" algn="bl" rotWithShape="0" blurRad="63500" dist="25400" dir="5400000">
              <a:srgbClr val="0F172A">
                <a:alpha val="10000"/>
              </a:srgbClr>
            </a:outerShdw>
          </a:effectLst>
        </p:spPr>
      </p:sp>
      <p:sp>
        <p:nvSpPr>
          <p:cNvPr id="29" name="Shape 25"/>
          <p:cNvSpPr/>
          <p:nvPr/>
        </p:nvSpPr>
        <p:spPr>
          <a:xfrm>
            <a:off x="6208776" y="4297680"/>
            <a:ext cx="1737360" cy="54864"/>
          </a:xfrm>
          <a:prstGeom prst="rect">
            <a:avLst/>
          </a:prstGeom>
          <a:solidFill>
            <a:srgbClr val="FB7185"/>
          </a:solidFill>
          <a:ln/>
        </p:spPr>
      </p:sp>
      <p:sp>
        <p:nvSpPr>
          <p:cNvPr id="30" name="Text 26"/>
          <p:cNvSpPr/>
          <p:nvPr/>
        </p:nvSpPr>
        <p:spPr>
          <a:xfrm>
            <a:off x="6254496" y="4480560"/>
            <a:ext cx="1645920" cy="594360"/>
          </a:xfrm>
          <a:prstGeom prst="rect">
            <a:avLst/>
          </a:prstGeom>
          <a:noFill/>
          <a:ln/>
        </p:spPr>
        <p:txBody>
          <a:bodyPr wrap="square" lIns="0" tIns="0" rIns="0" bIns="0" rtlCol="0" anchor="ctr"/>
          <a:lstStyle/>
          <a:p>
            <a:pPr algn="ctr" indent="0" marL="0">
              <a:buNone/>
            </a:pPr>
            <a:r>
              <a:rPr lang="en-US" sz="2300" b="1" dirty="0">
                <a:solidFill>
                  <a:srgbClr val="FB7185"/>
                </a:solidFill>
                <a:latin typeface="Trebuchet MS" pitchFamily="34" charset="0"/>
                <a:ea typeface="Trebuchet MS" pitchFamily="34" charset="-122"/>
                <a:cs typeface="Trebuchet MS" pitchFamily="34" charset="-120"/>
              </a:rPr>
              <a:t>~35%</a:t>
            </a:r>
            <a:endParaRPr lang="en-US" sz="2300" dirty="0"/>
          </a:p>
        </p:txBody>
      </p:sp>
      <p:sp>
        <p:nvSpPr>
          <p:cNvPr id="31" name="Text 27"/>
          <p:cNvSpPr/>
          <p:nvPr/>
        </p:nvSpPr>
        <p:spPr>
          <a:xfrm>
            <a:off x="6281928" y="5102352"/>
            <a:ext cx="1591056" cy="548640"/>
          </a:xfrm>
          <a:prstGeom prst="rect">
            <a:avLst/>
          </a:prstGeom>
          <a:noFill/>
          <a:ln/>
        </p:spPr>
        <p:txBody>
          <a:bodyPr wrap="square" lIns="0" tIns="0" rIns="0" bIns="0" rtlCol="0" anchor="t"/>
          <a:lstStyle/>
          <a:p>
            <a:pPr algn="ctr" indent="0" marL="0">
              <a:lnSpc>
                <a:spcPct val="100000"/>
              </a:lnSpc>
              <a:buNone/>
            </a:pPr>
            <a:r>
              <a:rPr lang="en-US" sz="1000" dirty="0">
                <a:solidFill>
                  <a:srgbClr val="64748B"/>
                </a:solidFill>
                <a:latin typeface="Calibri" pitchFamily="34" charset="0"/>
                <a:ea typeface="Calibri" pitchFamily="34" charset="-122"/>
                <a:cs typeface="Calibri" pitchFamily="34" charset="-120"/>
              </a:rPr>
              <a:t>GĐ mới từ giới thiệu</a:t>
            </a:r>
            <a:endParaRPr lang="en-US" sz="1000" dirty="0"/>
          </a:p>
        </p:txBody>
      </p:sp>
      <p:sp>
        <p:nvSpPr>
          <p:cNvPr id="32" name="Shape 28"/>
          <p:cNvSpPr/>
          <p:nvPr/>
        </p:nvSpPr>
        <p:spPr>
          <a:xfrm>
            <a:off x="8065008" y="4297680"/>
            <a:ext cx="1737360" cy="1417320"/>
          </a:xfrm>
          <a:prstGeom prst="roundRect">
            <a:avLst>
              <a:gd name="adj" fmla="val 5161"/>
            </a:avLst>
          </a:prstGeom>
          <a:solidFill>
            <a:srgbClr val="FFFFFF"/>
          </a:solidFill>
          <a:ln/>
          <a:effectLst>
            <a:outerShdw sx="100000" sy="100000" kx="0" ky="0" algn="bl" rotWithShape="0" blurRad="63500" dist="25400" dir="5400000">
              <a:srgbClr val="0F172A">
                <a:alpha val="10000"/>
              </a:srgbClr>
            </a:outerShdw>
          </a:effectLst>
        </p:spPr>
      </p:sp>
      <p:sp>
        <p:nvSpPr>
          <p:cNvPr id="33" name="Shape 29"/>
          <p:cNvSpPr/>
          <p:nvPr/>
        </p:nvSpPr>
        <p:spPr>
          <a:xfrm>
            <a:off x="8065008" y="4297680"/>
            <a:ext cx="1737360" cy="54864"/>
          </a:xfrm>
          <a:prstGeom prst="rect">
            <a:avLst/>
          </a:prstGeom>
          <a:solidFill>
            <a:srgbClr val="2DD4BF"/>
          </a:solidFill>
          <a:ln/>
        </p:spPr>
      </p:sp>
      <p:sp>
        <p:nvSpPr>
          <p:cNvPr id="34" name="Text 30"/>
          <p:cNvSpPr/>
          <p:nvPr/>
        </p:nvSpPr>
        <p:spPr>
          <a:xfrm>
            <a:off x="8110728" y="4480560"/>
            <a:ext cx="1645920" cy="594360"/>
          </a:xfrm>
          <a:prstGeom prst="rect">
            <a:avLst/>
          </a:prstGeom>
          <a:noFill/>
          <a:ln/>
        </p:spPr>
        <p:txBody>
          <a:bodyPr wrap="square" lIns="0" tIns="0" rIns="0" bIns="0" rtlCol="0" anchor="ctr"/>
          <a:lstStyle/>
          <a:p>
            <a:pPr algn="ctr" indent="0" marL="0">
              <a:buNone/>
            </a:pPr>
            <a:r>
              <a:rPr lang="en-US" sz="2300" b="1" dirty="0">
                <a:solidFill>
                  <a:srgbClr val="2DD4BF"/>
                </a:solidFill>
                <a:latin typeface="Trebuchet MS" pitchFamily="34" charset="0"/>
                <a:ea typeface="Trebuchet MS" pitchFamily="34" charset="-122"/>
                <a:cs typeface="Trebuchet MS" pitchFamily="34" charset="-120"/>
              </a:rPr>
              <a:t>≥60</a:t>
            </a:r>
            <a:endParaRPr lang="en-US" sz="2300" dirty="0"/>
          </a:p>
        </p:txBody>
      </p:sp>
      <p:sp>
        <p:nvSpPr>
          <p:cNvPr id="35" name="Text 31"/>
          <p:cNvSpPr/>
          <p:nvPr/>
        </p:nvSpPr>
        <p:spPr>
          <a:xfrm>
            <a:off x="8138160" y="5102352"/>
            <a:ext cx="1591056" cy="548640"/>
          </a:xfrm>
          <a:prstGeom prst="rect">
            <a:avLst/>
          </a:prstGeom>
          <a:noFill/>
          <a:ln/>
        </p:spPr>
        <p:txBody>
          <a:bodyPr wrap="square" lIns="0" tIns="0" rIns="0" bIns="0" rtlCol="0" anchor="t"/>
          <a:lstStyle/>
          <a:p>
            <a:pPr algn="ctr" indent="0" marL="0">
              <a:lnSpc>
                <a:spcPct val="100000"/>
              </a:lnSpc>
              <a:buNone/>
            </a:pPr>
            <a:r>
              <a:rPr lang="en-US" sz="1000" dirty="0">
                <a:solidFill>
                  <a:srgbClr val="64748B"/>
                </a:solidFill>
                <a:latin typeface="Calibri" pitchFamily="34" charset="0"/>
                <a:ea typeface="Calibri" pitchFamily="34" charset="-122"/>
                <a:cs typeface="Calibri" pitchFamily="34" charset="-120"/>
              </a:rPr>
              <a:t>NPS</a:t>
            </a:r>
            <a:endParaRPr lang="en-US" sz="1000" dirty="0"/>
          </a:p>
        </p:txBody>
      </p:sp>
      <p:sp>
        <p:nvSpPr>
          <p:cNvPr id="36" name="Shape 32"/>
          <p:cNvSpPr/>
          <p:nvPr/>
        </p:nvSpPr>
        <p:spPr>
          <a:xfrm>
            <a:off x="9921240" y="4297680"/>
            <a:ext cx="1737360" cy="1417320"/>
          </a:xfrm>
          <a:prstGeom prst="roundRect">
            <a:avLst>
              <a:gd name="adj" fmla="val 5161"/>
            </a:avLst>
          </a:prstGeom>
          <a:solidFill>
            <a:srgbClr val="FFFFFF"/>
          </a:solidFill>
          <a:ln/>
          <a:effectLst>
            <a:outerShdw sx="100000" sy="100000" kx="0" ky="0" algn="bl" rotWithShape="0" blurRad="63500" dist="25400" dir="5400000">
              <a:srgbClr val="0F172A">
                <a:alpha val="10000"/>
              </a:srgbClr>
            </a:outerShdw>
          </a:effectLst>
        </p:spPr>
      </p:sp>
      <p:sp>
        <p:nvSpPr>
          <p:cNvPr id="37" name="Shape 33"/>
          <p:cNvSpPr/>
          <p:nvPr/>
        </p:nvSpPr>
        <p:spPr>
          <a:xfrm>
            <a:off x="9921240" y="4297680"/>
            <a:ext cx="1737360" cy="54864"/>
          </a:xfrm>
          <a:prstGeom prst="rect">
            <a:avLst/>
          </a:prstGeom>
          <a:solidFill>
            <a:srgbClr val="0D9488"/>
          </a:solidFill>
          <a:ln/>
        </p:spPr>
      </p:sp>
      <p:sp>
        <p:nvSpPr>
          <p:cNvPr id="38" name="Text 34"/>
          <p:cNvSpPr/>
          <p:nvPr/>
        </p:nvSpPr>
        <p:spPr>
          <a:xfrm>
            <a:off x="9966960" y="4480560"/>
            <a:ext cx="1645920" cy="594360"/>
          </a:xfrm>
          <a:prstGeom prst="rect">
            <a:avLst/>
          </a:prstGeom>
          <a:noFill/>
          <a:ln/>
        </p:spPr>
        <p:txBody>
          <a:bodyPr wrap="square" lIns="0" tIns="0" rIns="0" bIns="0" rtlCol="0" anchor="ctr"/>
          <a:lstStyle/>
          <a:p>
            <a:pPr algn="ctr" indent="0" marL="0">
              <a:buNone/>
            </a:pPr>
            <a:r>
              <a:rPr lang="en-US" sz="2300" b="1" dirty="0">
                <a:solidFill>
                  <a:srgbClr val="0D9488"/>
                </a:solidFill>
                <a:latin typeface="Trebuchet MS" pitchFamily="34" charset="0"/>
                <a:ea typeface="Trebuchet MS" pitchFamily="34" charset="-122"/>
                <a:cs typeface="Trebuchet MS" pitchFamily="34" charset="-120"/>
              </a:rPr>
              <a:t>≥4,7</a:t>
            </a:r>
            <a:endParaRPr lang="en-US" sz="2300" dirty="0"/>
          </a:p>
        </p:txBody>
      </p:sp>
      <p:sp>
        <p:nvSpPr>
          <p:cNvPr id="39" name="Text 35"/>
          <p:cNvSpPr/>
          <p:nvPr/>
        </p:nvSpPr>
        <p:spPr>
          <a:xfrm>
            <a:off x="9994392" y="5102352"/>
            <a:ext cx="1591056" cy="548640"/>
          </a:xfrm>
          <a:prstGeom prst="rect">
            <a:avLst/>
          </a:prstGeom>
          <a:noFill/>
          <a:ln/>
        </p:spPr>
        <p:txBody>
          <a:bodyPr wrap="square" lIns="0" tIns="0" rIns="0" bIns="0" rtlCol="0" anchor="t"/>
          <a:lstStyle/>
          <a:p>
            <a:pPr algn="ctr" indent="0" marL="0">
              <a:lnSpc>
                <a:spcPct val="100000"/>
              </a:lnSpc>
              <a:buNone/>
            </a:pPr>
            <a:r>
              <a:rPr lang="en-US" sz="1000" dirty="0">
                <a:solidFill>
                  <a:srgbClr val="64748B"/>
                </a:solidFill>
                <a:latin typeface="Calibri" pitchFamily="34" charset="0"/>
                <a:ea typeface="Calibri" pitchFamily="34" charset="-122"/>
                <a:cs typeface="Calibri" pitchFamily="34" charset="-120"/>
              </a:rPr>
              <a:t>CSAT</a:t>
            </a:r>
            <a:endParaRPr lang="en-US" sz="1000" dirty="0"/>
          </a:p>
        </p:txBody>
      </p:sp>
      <p:sp>
        <p:nvSpPr>
          <p:cNvPr id="40" name="Text 36"/>
          <p:cNvSpPr/>
          <p:nvPr/>
        </p:nvSpPr>
        <p:spPr>
          <a:xfrm>
            <a:off x="640080" y="5943600"/>
            <a:ext cx="10881360" cy="292608"/>
          </a:xfrm>
          <a:prstGeom prst="rect">
            <a:avLst/>
          </a:prstGeom>
          <a:noFill/>
          <a:ln/>
        </p:spPr>
        <p:txBody>
          <a:bodyPr wrap="square" lIns="0" tIns="0" rIns="0" bIns="0" rtlCol="0" anchor="ctr"/>
          <a:lstStyle/>
          <a:p>
            <a:pPr algn="ctr" indent="0" marL="0">
              <a:buNone/>
            </a:pPr>
            <a:r>
              <a:rPr lang="en-US" sz="950" i="1" dirty="0">
                <a:solidFill>
                  <a:srgbClr val="0F766E"/>
                </a:solidFill>
                <a:latin typeface="Calibri" pitchFamily="34" charset="0"/>
                <a:ea typeface="Calibri" pitchFamily="34" charset="-122"/>
                <a:cs typeface="Calibri" pitchFamily="34" charset="-120"/>
              </a:rPr>
              <a:t>SLA phản hồi &lt; 15 phút · xử lý sự cố &lt; 2 giờ.   Dữ liệu minh họa / ước tính nội bộ.</a:t>
            </a:r>
            <a:endParaRPr lang="en-US" sz="950" dirty="0"/>
          </a:p>
        </p:txBody>
      </p:sp>
      <p:sp>
        <p:nvSpPr>
          <p:cNvPr id="41" name="Shape 37"/>
          <p:cNvSpPr/>
          <p:nvPr/>
        </p:nvSpPr>
        <p:spPr>
          <a:xfrm>
            <a:off x="0" y="6565392"/>
            <a:ext cx="12191695" cy="292608"/>
          </a:xfrm>
          <a:prstGeom prst="rect">
            <a:avLst/>
          </a:prstGeom>
          <a:solidFill>
            <a:srgbClr val="FFFFFF"/>
          </a:solidFill>
          <a:ln/>
        </p:spPr>
      </p:sp>
      <p:sp>
        <p:nvSpPr>
          <p:cNvPr id="42" name="Shape 38"/>
          <p:cNvSpPr/>
          <p:nvPr/>
        </p:nvSpPr>
        <p:spPr>
          <a:xfrm>
            <a:off x="0" y="6547104"/>
            <a:ext cx="12191695" cy="20117"/>
          </a:xfrm>
          <a:prstGeom prst="rect">
            <a:avLst/>
          </a:prstGeom>
          <a:solidFill>
            <a:srgbClr val="E2E8F0"/>
          </a:solidFill>
          <a:ln/>
        </p:spPr>
      </p:sp>
      <p:sp>
        <p:nvSpPr>
          <p:cNvPr id="43" name="Shape 39"/>
          <p:cNvSpPr/>
          <p:nvPr/>
        </p:nvSpPr>
        <p:spPr>
          <a:xfrm>
            <a:off x="457200" y="6624828"/>
            <a:ext cx="118872" cy="118872"/>
          </a:xfrm>
          <a:prstGeom prst="ellipse">
            <a:avLst/>
          </a:prstGeom>
          <a:solidFill>
            <a:srgbClr val="0D9488"/>
          </a:solidFill>
          <a:ln/>
        </p:spPr>
      </p:sp>
      <p:sp>
        <p:nvSpPr>
          <p:cNvPr id="44" name="Text 40"/>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5" name="Text 41"/>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6" name="Text 42"/>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F766E">
              <a:alpha val="65000"/>
            </a:srgbClr>
          </a:solidFill>
          <a:ln/>
        </p:spPr>
      </p:sp>
      <p:sp>
        <p:nvSpPr>
          <p:cNvPr id="3" name="Shape 1"/>
          <p:cNvSpPr/>
          <p:nvPr/>
        </p:nvSpPr>
        <p:spPr>
          <a:xfrm>
            <a:off x="-1280160" y="4206240"/>
            <a:ext cx="3657600" cy="3657600"/>
          </a:xfrm>
          <a:prstGeom prst="ellipse">
            <a:avLst/>
          </a:prstGeom>
          <a:solidFill>
            <a:srgbClr val="0F766E">
              <a:alpha val="50000"/>
            </a:srgbClr>
          </a:solidFill>
          <a:ln/>
        </p:spPr>
      </p:sp>
      <p:sp>
        <p:nvSpPr>
          <p:cNvPr id="4" name="Shape 2"/>
          <p:cNvSpPr/>
          <p:nvPr/>
        </p:nvSpPr>
        <p:spPr>
          <a:xfrm>
            <a:off x="822960" y="1371600"/>
            <a:ext cx="1188720" cy="1188720"/>
          </a:xfrm>
          <a:prstGeom prst="ellipse">
            <a:avLst/>
          </a:prstGeom>
          <a:solidFill>
            <a:srgbClr val="0F766E"/>
          </a:solidFill>
          <a:ln/>
        </p:spPr>
      </p:sp>
      <p:pic>
        <p:nvPicPr>
          <p:cNvPr id="5" name="Image 0" descr="preencoded.png">    </p:cNvPr>
          <p:cNvPicPr>
            <a:picLocks noChangeAspect="1"/>
          </p:cNvPicPr>
          <p:nvPr/>
        </p:nvPicPr>
        <p:blipFill>
          <a:blip r:embed="rId1"/>
          <a:stretch>
            <a:fillRect/>
          </a:stretch>
        </p:blipFill>
        <p:spPr>
          <a:xfrm>
            <a:off x="1106424" y="1655064"/>
            <a:ext cx="621792" cy="621792"/>
          </a:xfrm>
          <a:prstGeom prst="rect">
            <a:avLst/>
          </a:prstGeom>
        </p:spPr>
      </p:pic>
      <p:sp>
        <p:nvSpPr>
          <p:cNvPr id="6" name="Text 3"/>
          <p:cNvSpPr/>
          <p:nvPr/>
        </p:nvSpPr>
        <p:spPr>
          <a:xfrm>
            <a:off x="822960" y="2743200"/>
            <a:ext cx="100584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Trebuchet MS" pitchFamily="34" charset="0"/>
                <a:ea typeface="Trebuchet MS" pitchFamily="34" charset="-122"/>
                <a:cs typeface="Trebuchet MS" pitchFamily="34" charset="-120"/>
              </a:rPr>
              <a:t>PHẦN TỔNG HỢP &amp; DEMO</a:t>
            </a:r>
            <a:endParaRPr lang="en-US" sz="1400" dirty="0"/>
          </a:p>
        </p:txBody>
      </p:sp>
      <p:sp>
        <p:nvSpPr>
          <p:cNvPr id="7" name="Text 4"/>
          <p:cNvSpPr/>
          <p:nvPr/>
        </p:nvSpPr>
        <p:spPr>
          <a:xfrm>
            <a:off x="804672" y="3127248"/>
            <a:ext cx="10515600" cy="1097280"/>
          </a:xfrm>
          <a:prstGeom prst="rect">
            <a:avLst/>
          </a:prstGeom>
          <a:noFill/>
          <a:ln/>
        </p:spPr>
        <p:txBody>
          <a:bodyPr wrap="square" lIns="0" tIns="0" rIns="0" bIns="0" rtlCol="0" anchor="ctr"/>
          <a:lstStyle/>
          <a:p>
            <a:pPr indent="0" marL="0">
              <a:lnSpc>
                <a:spcPct val="100000"/>
              </a:lnSpc>
              <a:buNone/>
            </a:pPr>
            <a:r>
              <a:rPr lang="en-US" sz="3800" b="1" dirty="0">
                <a:solidFill>
                  <a:srgbClr val="FFFFFF"/>
                </a:solidFill>
                <a:latin typeface="Trebuchet MS" pitchFamily="34" charset="0"/>
                <a:ea typeface="Trebuchet MS" pitchFamily="34" charset="-122"/>
                <a:cs typeface="Trebuchet MS" pitchFamily="34" charset="-120"/>
              </a:rPr>
              <a:t>Sản phẩm, mô hình &amp; kết luận</a:t>
            </a:r>
            <a:endParaRPr lang="en-US" sz="3800" dirty="0"/>
          </a:p>
        </p:txBody>
      </p:sp>
      <p:sp>
        <p:nvSpPr>
          <p:cNvPr id="8" name="Shape 5"/>
          <p:cNvSpPr/>
          <p:nvPr/>
        </p:nvSpPr>
        <p:spPr>
          <a:xfrm>
            <a:off x="822960" y="4343400"/>
            <a:ext cx="4206240" cy="566928"/>
          </a:xfrm>
          <a:prstGeom prst="roundRect">
            <a:avLst>
              <a:gd name="adj" fmla="val 50000"/>
            </a:avLst>
          </a:prstGeom>
          <a:solidFill>
            <a:srgbClr val="FB7185"/>
          </a:solidFill>
          <a:ln/>
        </p:spPr>
      </p:sp>
      <p:pic>
        <p:nvPicPr>
          <p:cNvPr id="9" name="Image 1" descr="preencoded.png">    </p:cNvPr>
          <p:cNvPicPr>
            <a:picLocks noChangeAspect="1"/>
          </p:cNvPicPr>
          <p:nvPr/>
        </p:nvPicPr>
        <p:blipFill>
          <a:blip r:embed="rId2"/>
          <a:stretch>
            <a:fillRect/>
          </a:stretch>
        </p:blipFill>
        <p:spPr>
          <a:xfrm>
            <a:off x="1024128" y="4480560"/>
            <a:ext cx="292608" cy="292608"/>
          </a:xfrm>
          <a:prstGeom prst="rect">
            <a:avLst/>
          </a:prstGeom>
        </p:spPr>
      </p:pic>
      <p:sp>
        <p:nvSpPr>
          <p:cNvPr id="10" name="Text 6"/>
          <p:cNvSpPr/>
          <p:nvPr/>
        </p:nvSpPr>
        <p:spPr>
          <a:xfrm>
            <a:off x="1371600" y="4343400"/>
            <a:ext cx="3566160" cy="566928"/>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Trình bày: Duy</a:t>
            </a:r>
            <a:endParaRPr lang="en-US" sz="1400" dirty="0"/>
          </a:p>
        </p:txBody>
      </p:sp>
      <p:sp>
        <p:nvSpPr>
          <p:cNvPr id="11" name="Text 7"/>
          <p:cNvSpPr/>
          <p:nvPr/>
        </p:nvSpPr>
        <p:spPr>
          <a:xfrm>
            <a:off x="868680" y="5120640"/>
            <a:ext cx="10058400" cy="1371600"/>
          </a:xfrm>
          <a:prstGeom prst="rect">
            <a:avLst/>
          </a:prstGeom>
          <a:noFill/>
          <a:ln/>
        </p:spPr>
        <p:txBody>
          <a:bodyPr wrap="square" lIns="0" tIns="0" rIns="0" bIns="0" rtlCol="0" anchor="t"/>
          <a:lstStyle/>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Demo App clickable — 5 màn hình</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Business Model Canvas (Kịch bản B)</a:t>
            </a:r>
            <a:endParaRPr lang="en-US" sz="1400" dirty="0"/>
          </a:p>
          <a:p>
            <a:pPr marL="177800" indent="-177800">
              <a:lnSpc>
                <a:spcPct val="100000"/>
              </a:lnSpc>
              <a:spcAft>
                <a:spcPts val="600"/>
              </a:spcAft>
              <a:buSzPct val="100000"/>
              <a:buChar char="•"/>
            </a:pPr>
            <a:r>
              <a:rPr lang="en-US" sz="1400" dirty="0">
                <a:solidFill>
                  <a:srgbClr val="ECFEFF"/>
                </a:solidFill>
                <a:latin typeface="Calibri" pitchFamily="34" charset="0"/>
                <a:ea typeface="Calibri" pitchFamily="34" charset="-122"/>
                <a:cs typeface="Calibri" pitchFamily="34" charset="-120"/>
              </a:rPr>
              <a:t>Tổng hợp &amp; lời kêu gọi (closing)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DUY · DEMO SẢN PHẨM</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App clickable — đã build &amp; deploy</a:t>
            </a:r>
            <a:endParaRPr lang="en-US" sz="3000" dirty="0"/>
          </a:p>
        </p:txBody>
      </p:sp>
      <p:sp>
        <p:nvSpPr>
          <p:cNvPr id="5" name="Shape 3"/>
          <p:cNvSpPr/>
          <p:nvPr/>
        </p:nvSpPr>
        <p:spPr>
          <a:xfrm>
            <a:off x="640080" y="1783080"/>
            <a:ext cx="3529584"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896112" y="2057400"/>
            <a:ext cx="548640" cy="54864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024128" y="2185416"/>
            <a:ext cx="292608" cy="292608"/>
          </a:xfrm>
          <a:prstGeom prst="rect">
            <a:avLst/>
          </a:prstGeom>
        </p:spPr>
      </p:pic>
      <p:sp>
        <p:nvSpPr>
          <p:cNvPr id="8" name="Text 5"/>
          <p:cNvSpPr/>
          <p:nvPr/>
        </p:nvSpPr>
        <p:spPr>
          <a:xfrm>
            <a:off x="1600200" y="2057400"/>
            <a:ext cx="2386584" cy="548640"/>
          </a:xfrm>
          <a:prstGeom prst="rect">
            <a:avLst/>
          </a:prstGeom>
          <a:noFill/>
          <a:ln/>
        </p:spPr>
        <p:txBody>
          <a:bodyPr wrap="square" lIns="0" tIns="0" rIns="0" bIns="0" rtlCol="0" anchor="ctr"/>
          <a:lstStyle/>
          <a:p>
            <a:pPr indent="0" marL="0">
              <a:buNone/>
            </a:pPr>
            <a:r>
              <a:rPr lang="en-US" sz="1350" b="1" dirty="0">
                <a:solidFill>
                  <a:srgbClr val="1E293B"/>
                </a:solidFill>
                <a:latin typeface="Trebuchet MS" pitchFamily="34" charset="0"/>
                <a:ea typeface="Trebuchet MS" pitchFamily="34" charset="-122"/>
                <a:cs typeface="Trebuchet MS" pitchFamily="34" charset="-120"/>
              </a:rPr>
              <a:t>Persona switch</a:t>
            </a:r>
            <a:endParaRPr lang="en-US" sz="1350" dirty="0"/>
          </a:p>
        </p:txBody>
      </p:sp>
      <p:sp>
        <p:nvSpPr>
          <p:cNvPr id="9" name="Text 6"/>
          <p:cNvSpPr/>
          <p:nvPr/>
        </p:nvSpPr>
        <p:spPr>
          <a:xfrm>
            <a:off x="914400" y="2679192"/>
            <a:ext cx="3026664" cy="822960"/>
          </a:xfrm>
          <a:prstGeom prst="rect">
            <a:avLst/>
          </a:prstGeom>
          <a:noFill/>
          <a:ln/>
        </p:spPr>
        <p:txBody>
          <a:bodyPr wrap="square" lIns="0" tIns="0" rIns="0" bIns="0" rtlCol="0" anchor="t"/>
          <a:lstStyle/>
          <a:p>
            <a:pPr indent="0" marL="0">
              <a:lnSpc>
                <a:spcPct val="102000"/>
              </a:lnSpc>
              <a:buNone/>
            </a:pPr>
            <a:r>
              <a:rPr lang="en-US" sz="1050" dirty="0">
                <a:solidFill>
                  <a:srgbClr val="64748B"/>
                </a:solidFill>
                <a:latin typeface="Calibri" pitchFamily="34" charset="0"/>
                <a:ea typeface="Calibri" pitchFamily="34" charset="-122"/>
                <a:cs typeface="Calibri" pitchFamily="34" charset="-120"/>
              </a:rPr>
              <a:t>1 app, 2 giao diện: dashboard cho con cái · chữ to cho bố mẹ (Bà Hoa ↔ Ông Tâm).</a:t>
            </a:r>
            <a:endParaRPr lang="en-US" sz="1050" dirty="0"/>
          </a:p>
        </p:txBody>
      </p:sp>
      <p:sp>
        <p:nvSpPr>
          <p:cNvPr id="10" name="Shape 7"/>
          <p:cNvSpPr/>
          <p:nvPr/>
        </p:nvSpPr>
        <p:spPr>
          <a:xfrm>
            <a:off x="4334256" y="1783080"/>
            <a:ext cx="3529584"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1" name="Shape 8"/>
          <p:cNvSpPr/>
          <p:nvPr/>
        </p:nvSpPr>
        <p:spPr>
          <a:xfrm>
            <a:off x="4590288" y="2057400"/>
            <a:ext cx="548640" cy="548640"/>
          </a:xfrm>
          <a:prstGeom prst="ellipse">
            <a:avLst/>
          </a:prstGeom>
          <a:solidFill>
            <a:srgbClr val="FB7185"/>
          </a:solidFill>
          <a:ln/>
        </p:spPr>
      </p:sp>
      <p:pic>
        <p:nvPicPr>
          <p:cNvPr id="12" name="Image 1" descr="preencoded.png">    </p:cNvPr>
          <p:cNvPicPr>
            <a:picLocks noChangeAspect="1"/>
          </p:cNvPicPr>
          <p:nvPr/>
        </p:nvPicPr>
        <p:blipFill>
          <a:blip r:embed="rId2"/>
          <a:stretch>
            <a:fillRect/>
          </a:stretch>
        </p:blipFill>
        <p:spPr>
          <a:xfrm>
            <a:off x="4718304" y="2185416"/>
            <a:ext cx="292608" cy="292608"/>
          </a:xfrm>
          <a:prstGeom prst="rect">
            <a:avLst/>
          </a:prstGeom>
        </p:spPr>
      </p:pic>
      <p:sp>
        <p:nvSpPr>
          <p:cNvPr id="13" name="Text 9"/>
          <p:cNvSpPr/>
          <p:nvPr/>
        </p:nvSpPr>
        <p:spPr>
          <a:xfrm>
            <a:off x="5294376" y="2057400"/>
            <a:ext cx="2386584" cy="548640"/>
          </a:xfrm>
          <a:prstGeom prst="rect">
            <a:avLst/>
          </a:prstGeom>
          <a:noFill/>
          <a:ln/>
        </p:spPr>
        <p:txBody>
          <a:bodyPr wrap="square" lIns="0" tIns="0" rIns="0" bIns="0" rtlCol="0" anchor="ctr"/>
          <a:lstStyle/>
          <a:p>
            <a:pPr indent="0" marL="0">
              <a:buNone/>
            </a:pPr>
            <a:r>
              <a:rPr lang="en-US" sz="1350" b="1" dirty="0">
                <a:solidFill>
                  <a:srgbClr val="1E293B"/>
                </a:solidFill>
                <a:latin typeface="Trebuchet MS" pitchFamily="34" charset="0"/>
                <a:ea typeface="Trebuchet MS" pitchFamily="34" charset="-122"/>
                <a:cs typeface="Trebuchet MS" pitchFamily="34" charset="-120"/>
              </a:rPr>
              <a:t>Ngưỡng CareSense + té ngã</a:t>
            </a:r>
            <a:endParaRPr lang="en-US" sz="1350" dirty="0"/>
          </a:p>
        </p:txBody>
      </p:sp>
      <p:sp>
        <p:nvSpPr>
          <p:cNvPr id="14" name="Text 10"/>
          <p:cNvSpPr/>
          <p:nvPr/>
        </p:nvSpPr>
        <p:spPr>
          <a:xfrm>
            <a:off x="4608576" y="2679192"/>
            <a:ext cx="3026664" cy="822960"/>
          </a:xfrm>
          <a:prstGeom prst="rect">
            <a:avLst/>
          </a:prstGeom>
          <a:noFill/>
          <a:ln/>
        </p:spPr>
        <p:txBody>
          <a:bodyPr wrap="square" lIns="0" tIns="0" rIns="0" bIns="0" rtlCol="0" anchor="t"/>
          <a:lstStyle/>
          <a:p>
            <a:pPr indent="0" marL="0">
              <a:lnSpc>
                <a:spcPct val="102000"/>
              </a:lnSpc>
              <a:buNone/>
            </a:pPr>
            <a:r>
              <a:rPr lang="en-US" sz="1050" dirty="0">
                <a:solidFill>
                  <a:srgbClr val="64748B"/>
                </a:solidFill>
                <a:latin typeface="Calibri" pitchFamily="34" charset="0"/>
                <a:ea typeface="Calibri" pitchFamily="34" charset="-122"/>
                <a:cs typeface="Calibri" pitchFamily="34" charset="-120"/>
              </a:rPr>
              <a:t>Té ngã, huyết áp tụt, SpO₂ thấp → cảnh báo theo từng ngưỡng cấu hình.</a:t>
            </a:r>
            <a:endParaRPr lang="en-US" sz="1050" dirty="0"/>
          </a:p>
        </p:txBody>
      </p:sp>
      <p:sp>
        <p:nvSpPr>
          <p:cNvPr id="15" name="Shape 11"/>
          <p:cNvSpPr/>
          <p:nvPr/>
        </p:nvSpPr>
        <p:spPr>
          <a:xfrm>
            <a:off x="8028432" y="1783080"/>
            <a:ext cx="3529584"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16" name="Shape 12"/>
          <p:cNvSpPr/>
          <p:nvPr/>
        </p:nvSpPr>
        <p:spPr>
          <a:xfrm>
            <a:off x="8284464" y="2057400"/>
            <a:ext cx="548640" cy="548640"/>
          </a:xfrm>
          <a:prstGeom prst="ellipse">
            <a:avLst/>
          </a:prstGeom>
          <a:solidFill>
            <a:srgbClr val="0F766E"/>
          </a:solidFill>
          <a:ln/>
        </p:spPr>
      </p:sp>
      <p:pic>
        <p:nvPicPr>
          <p:cNvPr id="17" name="Image 2" descr="preencoded.png">    </p:cNvPr>
          <p:cNvPicPr>
            <a:picLocks noChangeAspect="1"/>
          </p:cNvPicPr>
          <p:nvPr/>
        </p:nvPicPr>
        <p:blipFill>
          <a:blip r:embed="rId3"/>
          <a:stretch>
            <a:fillRect/>
          </a:stretch>
        </p:blipFill>
        <p:spPr>
          <a:xfrm>
            <a:off x="8412480" y="2185416"/>
            <a:ext cx="292608" cy="292608"/>
          </a:xfrm>
          <a:prstGeom prst="rect">
            <a:avLst/>
          </a:prstGeom>
        </p:spPr>
      </p:pic>
      <p:sp>
        <p:nvSpPr>
          <p:cNvPr id="18" name="Text 13"/>
          <p:cNvSpPr/>
          <p:nvPr/>
        </p:nvSpPr>
        <p:spPr>
          <a:xfrm>
            <a:off x="8988552" y="2057400"/>
            <a:ext cx="2386584" cy="548640"/>
          </a:xfrm>
          <a:prstGeom prst="rect">
            <a:avLst/>
          </a:prstGeom>
          <a:noFill/>
          <a:ln/>
        </p:spPr>
        <p:txBody>
          <a:bodyPr wrap="square" lIns="0" tIns="0" rIns="0" bIns="0" rtlCol="0" anchor="ctr"/>
          <a:lstStyle/>
          <a:p>
            <a:pPr indent="0" marL="0">
              <a:buNone/>
            </a:pPr>
            <a:r>
              <a:rPr lang="en-US" sz="1350" b="1" dirty="0">
                <a:solidFill>
                  <a:srgbClr val="1E293B"/>
                </a:solidFill>
                <a:latin typeface="Trebuchet MS" pitchFamily="34" charset="0"/>
                <a:ea typeface="Trebuchet MS" pitchFamily="34" charset="-122"/>
                <a:cs typeface="Trebuchet MS" pitchFamily="34" charset="-120"/>
              </a:rPr>
              <a:t>AI matching chuyên gia</a:t>
            </a:r>
            <a:endParaRPr lang="en-US" sz="1350" dirty="0"/>
          </a:p>
        </p:txBody>
      </p:sp>
      <p:sp>
        <p:nvSpPr>
          <p:cNvPr id="19" name="Text 14"/>
          <p:cNvSpPr/>
          <p:nvPr/>
        </p:nvSpPr>
        <p:spPr>
          <a:xfrm>
            <a:off x="8302752" y="2679192"/>
            <a:ext cx="3026664" cy="822960"/>
          </a:xfrm>
          <a:prstGeom prst="rect">
            <a:avLst/>
          </a:prstGeom>
          <a:noFill/>
          <a:ln/>
        </p:spPr>
        <p:txBody>
          <a:bodyPr wrap="square" lIns="0" tIns="0" rIns="0" bIns="0" rtlCol="0" anchor="t"/>
          <a:lstStyle/>
          <a:p>
            <a:pPr indent="0" marL="0">
              <a:lnSpc>
                <a:spcPct val="102000"/>
              </a:lnSpc>
              <a:buNone/>
            </a:pPr>
            <a:r>
              <a:rPr lang="en-US" sz="1050" dirty="0">
                <a:solidFill>
                  <a:srgbClr val="64748B"/>
                </a:solidFill>
                <a:latin typeface="Calibri" pitchFamily="34" charset="0"/>
                <a:ea typeface="Calibri" pitchFamily="34" charset="-122"/>
                <a:cs typeface="Calibri" pitchFamily="34" charset="-120"/>
              </a:rPr>
              <a:t>Gợi ý điều dưỡng/bác sĩ phù hợp theo bệnh nền, kỹ năng &amp; khoảng cách.</a:t>
            </a:r>
            <a:endParaRPr lang="en-US" sz="1050" dirty="0"/>
          </a:p>
        </p:txBody>
      </p:sp>
      <p:sp>
        <p:nvSpPr>
          <p:cNvPr id="20" name="Shape 15"/>
          <p:cNvSpPr/>
          <p:nvPr/>
        </p:nvSpPr>
        <p:spPr>
          <a:xfrm>
            <a:off x="640080" y="3749040"/>
            <a:ext cx="3529584"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21" name="Shape 16"/>
          <p:cNvSpPr/>
          <p:nvPr/>
        </p:nvSpPr>
        <p:spPr>
          <a:xfrm>
            <a:off x="896112" y="4023360"/>
            <a:ext cx="548640" cy="548640"/>
          </a:xfrm>
          <a:prstGeom prst="ellipse">
            <a:avLst/>
          </a:prstGeom>
          <a:solidFill>
            <a:srgbClr val="F5A623"/>
          </a:solidFill>
          <a:ln/>
        </p:spPr>
      </p:sp>
      <p:pic>
        <p:nvPicPr>
          <p:cNvPr id="22" name="Image 3" descr="preencoded.png">    </p:cNvPr>
          <p:cNvPicPr>
            <a:picLocks noChangeAspect="1"/>
          </p:cNvPicPr>
          <p:nvPr/>
        </p:nvPicPr>
        <p:blipFill>
          <a:blip r:embed="rId4"/>
          <a:stretch>
            <a:fillRect/>
          </a:stretch>
        </p:blipFill>
        <p:spPr>
          <a:xfrm>
            <a:off x="1024128" y="4151376"/>
            <a:ext cx="292608" cy="292608"/>
          </a:xfrm>
          <a:prstGeom prst="rect">
            <a:avLst/>
          </a:prstGeom>
        </p:spPr>
      </p:pic>
      <p:sp>
        <p:nvSpPr>
          <p:cNvPr id="23" name="Text 17"/>
          <p:cNvSpPr/>
          <p:nvPr/>
        </p:nvSpPr>
        <p:spPr>
          <a:xfrm>
            <a:off x="1600200" y="4023360"/>
            <a:ext cx="2386584" cy="548640"/>
          </a:xfrm>
          <a:prstGeom prst="rect">
            <a:avLst/>
          </a:prstGeom>
          <a:noFill/>
          <a:ln/>
        </p:spPr>
        <p:txBody>
          <a:bodyPr wrap="square" lIns="0" tIns="0" rIns="0" bIns="0" rtlCol="0" anchor="ctr"/>
          <a:lstStyle/>
          <a:p>
            <a:pPr indent="0" marL="0">
              <a:buNone/>
            </a:pPr>
            <a:r>
              <a:rPr lang="en-US" sz="1350" b="1" dirty="0">
                <a:solidFill>
                  <a:srgbClr val="1E293B"/>
                </a:solidFill>
                <a:latin typeface="Trebuchet MS" pitchFamily="34" charset="0"/>
                <a:ea typeface="Trebuchet MS" pitchFamily="34" charset="-122"/>
                <a:cs typeface="Trebuchet MS" pitchFamily="34" charset="-120"/>
              </a:rPr>
              <a:t>MedFin trả góp</a:t>
            </a:r>
            <a:endParaRPr lang="en-US" sz="1350" dirty="0"/>
          </a:p>
        </p:txBody>
      </p:sp>
      <p:sp>
        <p:nvSpPr>
          <p:cNvPr id="24" name="Text 18"/>
          <p:cNvSpPr/>
          <p:nvPr/>
        </p:nvSpPr>
        <p:spPr>
          <a:xfrm>
            <a:off x="914400" y="4645152"/>
            <a:ext cx="3026664" cy="822960"/>
          </a:xfrm>
          <a:prstGeom prst="rect">
            <a:avLst/>
          </a:prstGeom>
          <a:noFill/>
          <a:ln/>
        </p:spPr>
        <p:txBody>
          <a:bodyPr wrap="square" lIns="0" tIns="0" rIns="0" bIns="0" rtlCol="0" anchor="t"/>
          <a:lstStyle/>
          <a:p>
            <a:pPr indent="0" marL="0">
              <a:lnSpc>
                <a:spcPct val="102000"/>
              </a:lnSpc>
              <a:buNone/>
            </a:pPr>
            <a:r>
              <a:rPr lang="en-US" sz="1050" dirty="0">
                <a:solidFill>
                  <a:srgbClr val="64748B"/>
                </a:solidFill>
                <a:latin typeface="Calibri" pitchFamily="34" charset="0"/>
                <a:ea typeface="Calibri" pitchFamily="34" charset="-122"/>
                <a:cs typeface="Calibri" pitchFamily="34" charset="-120"/>
              </a:rPr>
              <a:t>Minh họa trả góp ca mổ (ở KB B chỉ giới thiệu, ngân hàng cấp vốn).</a:t>
            </a:r>
            <a:endParaRPr lang="en-US" sz="1050" dirty="0"/>
          </a:p>
        </p:txBody>
      </p:sp>
      <p:sp>
        <p:nvSpPr>
          <p:cNvPr id="25" name="Shape 19"/>
          <p:cNvSpPr/>
          <p:nvPr/>
        </p:nvSpPr>
        <p:spPr>
          <a:xfrm>
            <a:off x="4334256" y="3749040"/>
            <a:ext cx="3529584"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26" name="Shape 20"/>
          <p:cNvSpPr/>
          <p:nvPr/>
        </p:nvSpPr>
        <p:spPr>
          <a:xfrm>
            <a:off x="4590288" y="4023360"/>
            <a:ext cx="548640" cy="548640"/>
          </a:xfrm>
          <a:prstGeom prst="ellipse">
            <a:avLst/>
          </a:prstGeom>
          <a:solidFill>
            <a:srgbClr val="2DD4BF"/>
          </a:solidFill>
          <a:ln/>
        </p:spPr>
      </p:sp>
      <p:pic>
        <p:nvPicPr>
          <p:cNvPr id="27" name="Image 4" descr="preencoded.png">    </p:cNvPr>
          <p:cNvPicPr>
            <a:picLocks noChangeAspect="1"/>
          </p:cNvPicPr>
          <p:nvPr/>
        </p:nvPicPr>
        <p:blipFill>
          <a:blip r:embed="rId5"/>
          <a:stretch>
            <a:fillRect/>
          </a:stretch>
        </p:blipFill>
        <p:spPr>
          <a:xfrm>
            <a:off x="4718304" y="4151376"/>
            <a:ext cx="292608" cy="292608"/>
          </a:xfrm>
          <a:prstGeom prst="rect">
            <a:avLst/>
          </a:prstGeom>
        </p:spPr>
      </p:pic>
      <p:sp>
        <p:nvSpPr>
          <p:cNvPr id="28" name="Text 21"/>
          <p:cNvSpPr/>
          <p:nvPr/>
        </p:nvSpPr>
        <p:spPr>
          <a:xfrm>
            <a:off x="5294376" y="4023360"/>
            <a:ext cx="2386584" cy="548640"/>
          </a:xfrm>
          <a:prstGeom prst="rect">
            <a:avLst/>
          </a:prstGeom>
          <a:noFill/>
          <a:ln/>
        </p:spPr>
        <p:txBody>
          <a:bodyPr wrap="square" lIns="0" tIns="0" rIns="0" bIns="0" rtlCol="0" anchor="ctr"/>
          <a:lstStyle/>
          <a:p>
            <a:pPr indent="0" marL="0">
              <a:buNone/>
            </a:pPr>
            <a:r>
              <a:rPr lang="en-US" sz="1350" b="1" dirty="0">
                <a:solidFill>
                  <a:srgbClr val="1E293B"/>
                </a:solidFill>
                <a:latin typeface="Trebuchet MS" pitchFamily="34" charset="0"/>
                <a:ea typeface="Trebuchet MS" pitchFamily="34" charset="-122"/>
                <a:cs typeface="Trebuchet MS" pitchFamily="34" charset="-120"/>
              </a:rPr>
              <a:t>Xác thực thuốc</a:t>
            </a:r>
            <a:endParaRPr lang="en-US" sz="1350" dirty="0"/>
          </a:p>
        </p:txBody>
      </p:sp>
      <p:sp>
        <p:nvSpPr>
          <p:cNvPr id="29" name="Text 22"/>
          <p:cNvSpPr/>
          <p:nvPr/>
        </p:nvSpPr>
        <p:spPr>
          <a:xfrm>
            <a:off x="4608576" y="4645152"/>
            <a:ext cx="3026664" cy="822960"/>
          </a:xfrm>
          <a:prstGeom prst="rect">
            <a:avLst/>
          </a:prstGeom>
          <a:noFill/>
          <a:ln/>
        </p:spPr>
        <p:txBody>
          <a:bodyPr wrap="square" lIns="0" tIns="0" rIns="0" bIns="0" rtlCol="0" anchor="t"/>
          <a:lstStyle/>
          <a:p>
            <a:pPr indent="0" marL="0">
              <a:lnSpc>
                <a:spcPct val="102000"/>
              </a:lnSpc>
              <a:buNone/>
            </a:pPr>
            <a:r>
              <a:rPr lang="en-US" sz="1050" dirty="0">
                <a:solidFill>
                  <a:srgbClr val="64748B"/>
                </a:solidFill>
                <a:latin typeface="Calibri" pitchFamily="34" charset="0"/>
                <a:ea typeface="Calibri" pitchFamily="34" charset="-122"/>
                <a:cs typeface="Calibri" pitchFamily="34" charset="-120"/>
              </a:rPr>
              <a:t>Scan QR từng vỉ → chống thuốc giả + lịch sử đơn từ TeleSpecialist.</a:t>
            </a:r>
            <a:endParaRPr lang="en-US" sz="1050" dirty="0"/>
          </a:p>
        </p:txBody>
      </p:sp>
      <p:sp>
        <p:nvSpPr>
          <p:cNvPr id="30" name="Shape 23"/>
          <p:cNvSpPr/>
          <p:nvPr/>
        </p:nvSpPr>
        <p:spPr>
          <a:xfrm>
            <a:off x="8028432" y="3749040"/>
            <a:ext cx="3529584" cy="1783080"/>
          </a:xfrm>
          <a:prstGeom prst="roundRect">
            <a:avLst>
              <a:gd name="adj" fmla="val 4103"/>
            </a:avLst>
          </a:prstGeom>
          <a:solidFill>
            <a:srgbClr val="FFFFFF"/>
          </a:solidFill>
          <a:ln/>
          <a:effectLst>
            <a:outerShdw sx="100000" sy="100000" kx="0" ky="0" algn="bl" rotWithShape="0" blurRad="63500" dist="25400" dir="5400000">
              <a:srgbClr val="0F172A">
                <a:alpha val="10000"/>
              </a:srgbClr>
            </a:outerShdw>
          </a:effectLst>
        </p:spPr>
      </p:sp>
      <p:sp>
        <p:nvSpPr>
          <p:cNvPr id="31" name="Shape 24"/>
          <p:cNvSpPr/>
          <p:nvPr/>
        </p:nvSpPr>
        <p:spPr>
          <a:xfrm>
            <a:off x="8284464" y="4023360"/>
            <a:ext cx="548640" cy="548640"/>
          </a:xfrm>
          <a:prstGeom prst="ellipse">
            <a:avLst/>
          </a:prstGeom>
          <a:solidFill>
            <a:srgbClr val="134E4A"/>
          </a:solidFill>
          <a:ln/>
        </p:spPr>
      </p:sp>
      <p:pic>
        <p:nvPicPr>
          <p:cNvPr id="32" name="Image 5" descr="preencoded.png">    </p:cNvPr>
          <p:cNvPicPr>
            <a:picLocks noChangeAspect="1"/>
          </p:cNvPicPr>
          <p:nvPr/>
        </p:nvPicPr>
        <p:blipFill>
          <a:blip r:embed="rId6"/>
          <a:stretch>
            <a:fillRect/>
          </a:stretch>
        </p:blipFill>
        <p:spPr>
          <a:xfrm>
            <a:off x="8412480" y="4151376"/>
            <a:ext cx="292608" cy="292608"/>
          </a:xfrm>
          <a:prstGeom prst="rect">
            <a:avLst/>
          </a:prstGeom>
        </p:spPr>
      </p:pic>
      <p:sp>
        <p:nvSpPr>
          <p:cNvPr id="33" name="Text 25"/>
          <p:cNvSpPr/>
          <p:nvPr/>
        </p:nvSpPr>
        <p:spPr>
          <a:xfrm>
            <a:off x="8988552" y="4023360"/>
            <a:ext cx="2386584" cy="548640"/>
          </a:xfrm>
          <a:prstGeom prst="rect">
            <a:avLst/>
          </a:prstGeom>
          <a:noFill/>
          <a:ln/>
        </p:spPr>
        <p:txBody>
          <a:bodyPr wrap="square" lIns="0" tIns="0" rIns="0" bIns="0" rtlCol="0" anchor="ctr"/>
          <a:lstStyle/>
          <a:p>
            <a:pPr indent="0" marL="0">
              <a:buNone/>
            </a:pPr>
            <a:r>
              <a:rPr lang="en-US" sz="1350" b="1" dirty="0">
                <a:solidFill>
                  <a:srgbClr val="1E293B"/>
                </a:solidFill>
                <a:latin typeface="Trebuchet MS" pitchFamily="34" charset="0"/>
                <a:ea typeface="Trebuchet MS" pitchFamily="34" charset="-122"/>
                <a:cs typeface="Trebuchet MS" pitchFamily="34" charset="-120"/>
              </a:rPr>
              <a:t>5 màn hình clickable</a:t>
            </a:r>
            <a:endParaRPr lang="en-US" sz="1350" dirty="0"/>
          </a:p>
        </p:txBody>
      </p:sp>
      <p:sp>
        <p:nvSpPr>
          <p:cNvPr id="34" name="Text 26"/>
          <p:cNvSpPr/>
          <p:nvPr/>
        </p:nvSpPr>
        <p:spPr>
          <a:xfrm>
            <a:off x="8302752" y="4645152"/>
            <a:ext cx="3026664" cy="822960"/>
          </a:xfrm>
          <a:prstGeom prst="rect">
            <a:avLst/>
          </a:prstGeom>
          <a:noFill/>
          <a:ln/>
        </p:spPr>
        <p:txBody>
          <a:bodyPr wrap="square" lIns="0" tIns="0" rIns="0" bIns="0" rtlCol="0" anchor="t"/>
          <a:lstStyle/>
          <a:p>
            <a:pPr indent="0" marL="0">
              <a:lnSpc>
                <a:spcPct val="102000"/>
              </a:lnSpc>
              <a:buNone/>
            </a:pPr>
            <a:r>
              <a:rPr lang="en-US" sz="1050" dirty="0">
                <a:solidFill>
                  <a:srgbClr val="64748B"/>
                </a:solidFill>
                <a:latin typeface="Calibri" pitchFamily="34" charset="0"/>
                <a:ea typeface="Calibri" pitchFamily="34" charset="-122"/>
                <a:cs typeface="Calibri" pitchFamily="34" charset="-120"/>
              </a:rPr>
              <a:t>Bấm thử trực tiếp luồng chăm sóc end-to-end.</a:t>
            </a:r>
            <a:endParaRPr lang="en-US" sz="1050" dirty="0"/>
          </a:p>
        </p:txBody>
      </p:sp>
      <p:sp>
        <p:nvSpPr>
          <p:cNvPr id="35" name="Shape 27"/>
          <p:cNvSpPr/>
          <p:nvPr/>
        </p:nvSpPr>
        <p:spPr>
          <a:xfrm>
            <a:off x="640080" y="5669280"/>
            <a:ext cx="10908792" cy="502920"/>
          </a:xfrm>
          <a:prstGeom prst="roundRect">
            <a:avLst>
              <a:gd name="adj" fmla="val 49091"/>
            </a:avLst>
          </a:prstGeom>
          <a:solidFill>
            <a:srgbClr val="134E4A"/>
          </a:solidFill>
          <a:ln/>
        </p:spPr>
      </p:sp>
      <p:sp>
        <p:nvSpPr>
          <p:cNvPr id="36" name="Text 28"/>
          <p:cNvSpPr/>
          <p:nvPr/>
        </p:nvSpPr>
        <p:spPr>
          <a:xfrm>
            <a:off x="640080" y="5669280"/>
            <a:ext cx="10908792" cy="502920"/>
          </a:xfrm>
          <a:prstGeom prst="rect">
            <a:avLst/>
          </a:prstGeom>
          <a:noFill/>
          <a:ln/>
        </p:spPr>
        <p:txBody>
          <a:bodyPr wrap="square" lIns="0" tIns="0" rIns="0" bIns="0" rtlCol="0" anchor="ctr"/>
          <a:lstStyle/>
          <a:p>
            <a:pPr algn="ctr" indent="0" marL="0">
              <a:buNone/>
            </a:pPr>
            <a:r>
              <a:rPr lang="en-US" sz="1250" dirty="0">
                <a:solidFill>
                  <a:srgbClr val="2DD4BF"/>
                </a:solidFill>
                <a:latin typeface="Calibri" pitchFamily="34" charset="0"/>
                <a:ea typeface="Calibri" pitchFamily="34" charset="-122"/>
                <a:cs typeface="Calibri" pitchFamily="34" charset="-120"/>
              </a:rPr>
              <a:t>Trải nghiệm bản demo: </a:t>
            </a:r>
            <a:pPr algn="ctr" indent="0" marL="0">
              <a:buNone/>
            </a:pPr>
            <a:r>
              <a:rPr lang="en-US" sz="1300" b="1" dirty="0">
                <a:solidFill>
                  <a:srgbClr val="FFFFFF"/>
                </a:solidFill>
                <a:latin typeface="Calibri" pitchFamily="34" charset="0"/>
                <a:ea typeface="Calibri" pitchFamily="34" charset="-122"/>
                <a:cs typeface="Calibri" pitchFamily="34" charset="-120"/>
              </a:rPr>
              <a:t>startup.sem40hn.asia/eldercare-app</a:t>
            </a:r>
            <a:endParaRPr lang="en-US" sz="1250" dirty="0"/>
          </a:p>
        </p:txBody>
      </p:sp>
      <p:sp>
        <p:nvSpPr>
          <p:cNvPr id="37" name="Shape 29"/>
          <p:cNvSpPr/>
          <p:nvPr/>
        </p:nvSpPr>
        <p:spPr>
          <a:xfrm>
            <a:off x="0" y="6565392"/>
            <a:ext cx="12191695" cy="292608"/>
          </a:xfrm>
          <a:prstGeom prst="rect">
            <a:avLst/>
          </a:prstGeom>
          <a:solidFill>
            <a:srgbClr val="FFFFFF"/>
          </a:solidFill>
          <a:ln/>
        </p:spPr>
      </p:sp>
      <p:sp>
        <p:nvSpPr>
          <p:cNvPr id="38" name="Shape 30"/>
          <p:cNvSpPr/>
          <p:nvPr/>
        </p:nvSpPr>
        <p:spPr>
          <a:xfrm>
            <a:off x="0" y="6547104"/>
            <a:ext cx="12191695" cy="20117"/>
          </a:xfrm>
          <a:prstGeom prst="rect">
            <a:avLst/>
          </a:prstGeom>
          <a:solidFill>
            <a:srgbClr val="E2E8F0"/>
          </a:solidFill>
          <a:ln/>
        </p:spPr>
      </p:sp>
      <p:sp>
        <p:nvSpPr>
          <p:cNvPr id="39" name="Shape 31"/>
          <p:cNvSpPr/>
          <p:nvPr/>
        </p:nvSpPr>
        <p:spPr>
          <a:xfrm>
            <a:off x="457200" y="6624828"/>
            <a:ext cx="118872" cy="118872"/>
          </a:xfrm>
          <a:prstGeom prst="ellipse">
            <a:avLst/>
          </a:prstGeom>
          <a:solidFill>
            <a:srgbClr val="0D9488"/>
          </a:solidFill>
          <a:ln/>
        </p:spPr>
      </p:sp>
      <p:sp>
        <p:nvSpPr>
          <p:cNvPr id="40" name="Text 32"/>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1" name="Text 33"/>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2" name="Text 34"/>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640080" y="457200"/>
            <a:ext cx="292608" cy="109728"/>
          </a:xfrm>
          <a:prstGeom prst="rect">
            <a:avLst/>
          </a:prstGeom>
          <a:solidFill>
            <a:srgbClr val="FB7185"/>
          </a:solidFill>
          <a:ln/>
        </p:spPr>
      </p:sp>
      <p:sp>
        <p:nvSpPr>
          <p:cNvPr id="3" name="Text 1"/>
          <p:cNvSpPr/>
          <p:nvPr/>
        </p:nvSpPr>
        <p:spPr>
          <a:xfrm>
            <a:off x="1024128" y="365760"/>
            <a:ext cx="10515600" cy="292608"/>
          </a:xfrm>
          <a:prstGeom prst="rect">
            <a:avLst/>
          </a:prstGeom>
          <a:noFill/>
          <a:ln/>
        </p:spPr>
        <p:txBody>
          <a:bodyPr wrap="square" lIns="0" tIns="0" rIns="0" bIns="0" rtlCol="0" anchor="ctr"/>
          <a:lstStyle/>
          <a:p>
            <a:pPr indent="0" marL="0">
              <a:buNone/>
            </a:pPr>
            <a:r>
              <a:rPr lang="en-US" sz="1200" b="1" spc="200" kern="0" dirty="0">
                <a:solidFill>
                  <a:srgbClr val="0D9488"/>
                </a:solidFill>
                <a:latin typeface="Trebuchet MS" pitchFamily="34" charset="0"/>
                <a:ea typeface="Trebuchet MS" pitchFamily="34" charset="-122"/>
                <a:cs typeface="Trebuchet MS" pitchFamily="34" charset="-120"/>
              </a:rPr>
              <a:t>DUY · MÔ HÌNH KINH DOANH</a:t>
            </a:r>
            <a:endParaRPr lang="en-US" sz="1200" dirty="0"/>
          </a:p>
        </p:txBody>
      </p:sp>
      <p:sp>
        <p:nvSpPr>
          <p:cNvPr id="4" name="Text 2"/>
          <p:cNvSpPr/>
          <p:nvPr/>
        </p:nvSpPr>
        <p:spPr>
          <a:xfrm>
            <a:off x="621792" y="658368"/>
            <a:ext cx="10972800" cy="777240"/>
          </a:xfrm>
          <a:prstGeom prst="rect">
            <a:avLst/>
          </a:prstGeom>
          <a:noFill/>
          <a:ln/>
        </p:spPr>
        <p:txBody>
          <a:bodyPr wrap="square" lIns="0" tIns="0" rIns="0" bIns="0" rtlCol="0" anchor="t"/>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Business Model Canvas — Kịch bản B</a:t>
            </a:r>
            <a:endParaRPr lang="en-US" sz="3000" dirty="0"/>
          </a:p>
        </p:txBody>
      </p:sp>
      <p:sp>
        <p:nvSpPr>
          <p:cNvPr id="5" name="Shape 3"/>
          <p:cNvSpPr/>
          <p:nvPr/>
        </p:nvSpPr>
        <p:spPr>
          <a:xfrm>
            <a:off x="640080" y="1737360"/>
            <a:ext cx="2108606" cy="4023360"/>
          </a:xfrm>
          <a:prstGeom prst="roundRect">
            <a:avLst>
              <a:gd name="adj" fmla="val 2168"/>
            </a:avLst>
          </a:prstGeom>
          <a:solidFill>
            <a:srgbClr val="FFFFFF"/>
          </a:solidFill>
          <a:ln/>
          <a:effectLst>
            <a:outerShdw sx="100000" sy="100000" kx="0" ky="0" algn="bl" rotWithShape="0" blurRad="63500" dist="25400" dir="5400000">
              <a:srgbClr val="0F172A">
                <a:alpha val="10000"/>
              </a:srgbClr>
            </a:outerShdw>
          </a:effectLst>
        </p:spPr>
      </p:sp>
      <p:sp>
        <p:nvSpPr>
          <p:cNvPr id="6" name="Shape 4"/>
          <p:cNvSpPr/>
          <p:nvPr/>
        </p:nvSpPr>
        <p:spPr>
          <a:xfrm>
            <a:off x="640080" y="1737360"/>
            <a:ext cx="2108606" cy="45720"/>
          </a:xfrm>
          <a:prstGeom prst="rect">
            <a:avLst/>
          </a:prstGeom>
          <a:solidFill>
            <a:srgbClr val="0F766E"/>
          </a:solidFill>
          <a:ln/>
        </p:spPr>
      </p:sp>
      <p:sp>
        <p:nvSpPr>
          <p:cNvPr id="7" name="Text 5"/>
          <p:cNvSpPr/>
          <p:nvPr/>
        </p:nvSpPr>
        <p:spPr>
          <a:xfrm>
            <a:off x="749808" y="1828800"/>
            <a:ext cx="1889150" cy="274320"/>
          </a:xfrm>
          <a:prstGeom prst="rect">
            <a:avLst/>
          </a:prstGeom>
          <a:noFill/>
          <a:ln/>
        </p:spPr>
        <p:txBody>
          <a:bodyPr wrap="square" lIns="0" tIns="0" rIns="0" bIns="0" rtlCol="0" anchor="ctr"/>
          <a:lstStyle/>
          <a:p>
            <a:pPr indent="0" marL="0">
              <a:buNone/>
            </a:pPr>
            <a:r>
              <a:rPr lang="en-US" sz="1000" b="1" dirty="0">
                <a:solidFill>
                  <a:srgbClr val="0F766E"/>
                </a:solidFill>
                <a:latin typeface="Trebuchet MS" pitchFamily="34" charset="0"/>
                <a:ea typeface="Trebuchet MS" pitchFamily="34" charset="-122"/>
                <a:cs typeface="Trebuchet MS" pitchFamily="34" charset="-120"/>
              </a:rPr>
              <a:t>ĐỐI TÁC CHÍNH</a:t>
            </a:r>
            <a:endParaRPr lang="en-US" sz="1000" dirty="0"/>
          </a:p>
        </p:txBody>
      </p:sp>
      <p:sp>
        <p:nvSpPr>
          <p:cNvPr id="8" name="Text 6"/>
          <p:cNvSpPr/>
          <p:nvPr/>
        </p:nvSpPr>
        <p:spPr>
          <a:xfrm>
            <a:off x="749808" y="2121408"/>
            <a:ext cx="1907438" cy="3566160"/>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Bệnh viện / phòng khám</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Mạng bác sĩ &amp; dược sĩ</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Nhà thuốc / NCC thiết bị</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Ngân hàng (cấp vốn MedFin)</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Đại học Y</a:t>
            </a:r>
            <a:endParaRPr lang="en-US" sz="800" dirty="0"/>
          </a:p>
        </p:txBody>
      </p:sp>
      <p:sp>
        <p:nvSpPr>
          <p:cNvPr id="9" name="Shape 7"/>
          <p:cNvSpPr/>
          <p:nvPr/>
        </p:nvSpPr>
        <p:spPr>
          <a:xfrm>
            <a:off x="2821838" y="1737360"/>
            <a:ext cx="2108606" cy="1956816"/>
          </a:xfrm>
          <a:prstGeom prst="roundRect">
            <a:avLst>
              <a:gd name="adj" fmla="val 2336"/>
            </a:avLst>
          </a:prstGeom>
          <a:solidFill>
            <a:srgbClr val="FFFFFF"/>
          </a:solidFill>
          <a:ln/>
          <a:effectLst>
            <a:outerShdw sx="100000" sy="100000" kx="0" ky="0" algn="bl" rotWithShape="0" blurRad="63500" dist="25400" dir="5400000">
              <a:srgbClr val="0F172A">
                <a:alpha val="10000"/>
              </a:srgbClr>
            </a:outerShdw>
          </a:effectLst>
        </p:spPr>
      </p:sp>
      <p:sp>
        <p:nvSpPr>
          <p:cNvPr id="10" name="Shape 8"/>
          <p:cNvSpPr/>
          <p:nvPr/>
        </p:nvSpPr>
        <p:spPr>
          <a:xfrm>
            <a:off x="2821838" y="1737360"/>
            <a:ext cx="2108606" cy="45720"/>
          </a:xfrm>
          <a:prstGeom prst="rect">
            <a:avLst/>
          </a:prstGeom>
          <a:solidFill>
            <a:srgbClr val="0D9488"/>
          </a:solidFill>
          <a:ln/>
        </p:spPr>
      </p:sp>
      <p:sp>
        <p:nvSpPr>
          <p:cNvPr id="11" name="Text 9"/>
          <p:cNvSpPr/>
          <p:nvPr/>
        </p:nvSpPr>
        <p:spPr>
          <a:xfrm>
            <a:off x="2931566" y="1828800"/>
            <a:ext cx="1889150" cy="274320"/>
          </a:xfrm>
          <a:prstGeom prst="rect">
            <a:avLst/>
          </a:prstGeom>
          <a:noFill/>
          <a:ln/>
        </p:spPr>
        <p:txBody>
          <a:bodyPr wrap="square" lIns="0" tIns="0" rIns="0" bIns="0" rtlCol="0" anchor="ctr"/>
          <a:lstStyle/>
          <a:p>
            <a:pPr indent="0" marL="0">
              <a:buNone/>
            </a:pPr>
            <a:r>
              <a:rPr lang="en-US" sz="1000" b="1" dirty="0">
                <a:solidFill>
                  <a:srgbClr val="0D9488"/>
                </a:solidFill>
                <a:latin typeface="Trebuchet MS" pitchFamily="34" charset="0"/>
                <a:ea typeface="Trebuchet MS" pitchFamily="34" charset="-122"/>
                <a:cs typeface="Trebuchet MS" pitchFamily="34" charset="-120"/>
              </a:rPr>
              <a:t>HOẠT ĐỘNG CHÍNH</a:t>
            </a:r>
            <a:endParaRPr lang="en-US" sz="1000" dirty="0"/>
          </a:p>
        </p:txBody>
      </p:sp>
      <p:sp>
        <p:nvSpPr>
          <p:cNvPr id="12" name="Text 10"/>
          <p:cNvSpPr/>
          <p:nvPr/>
        </p:nvSpPr>
        <p:spPr>
          <a:xfrm>
            <a:off x="2931566" y="2121408"/>
            <a:ext cx="1907438" cy="1499616"/>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Điều phối điều dưỡng</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Telehealth &amp; đặt khám</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Vận hành nền tảng &amp; AI</a:t>
            </a:r>
            <a:endParaRPr lang="en-US" sz="800" dirty="0"/>
          </a:p>
        </p:txBody>
      </p:sp>
      <p:sp>
        <p:nvSpPr>
          <p:cNvPr id="13" name="Shape 11"/>
          <p:cNvSpPr/>
          <p:nvPr/>
        </p:nvSpPr>
        <p:spPr>
          <a:xfrm>
            <a:off x="2821838" y="3803904"/>
            <a:ext cx="2108606" cy="1956816"/>
          </a:xfrm>
          <a:prstGeom prst="roundRect">
            <a:avLst>
              <a:gd name="adj" fmla="val 2336"/>
            </a:avLst>
          </a:prstGeom>
          <a:solidFill>
            <a:srgbClr val="FFFFFF"/>
          </a:solidFill>
          <a:ln/>
          <a:effectLst>
            <a:outerShdw sx="100000" sy="100000" kx="0" ky="0" algn="bl" rotWithShape="0" blurRad="63500" dist="25400" dir="5400000">
              <a:srgbClr val="0F172A">
                <a:alpha val="10000"/>
              </a:srgbClr>
            </a:outerShdw>
          </a:effectLst>
        </p:spPr>
      </p:sp>
      <p:sp>
        <p:nvSpPr>
          <p:cNvPr id="14" name="Shape 12"/>
          <p:cNvSpPr/>
          <p:nvPr/>
        </p:nvSpPr>
        <p:spPr>
          <a:xfrm>
            <a:off x="2821838" y="3803904"/>
            <a:ext cx="2108606" cy="45720"/>
          </a:xfrm>
          <a:prstGeom prst="rect">
            <a:avLst/>
          </a:prstGeom>
          <a:solidFill>
            <a:srgbClr val="0D9488"/>
          </a:solidFill>
          <a:ln/>
        </p:spPr>
      </p:sp>
      <p:sp>
        <p:nvSpPr>
          <p:cNvPr id="15" name="Text 13"/>
          <p:cNvSpPr/>
          <p:nvPr/>
        </p:nvSpPr>
        <p:spPr>
          <a:xfrm>
            <a:off x="2931566" y="3895344"/>
            <a:ext cx="1889150" cy="274320"/>
          </a:xfrm>
          <a:prstGeom prst="rect">
            <a:avLst/>
          </a:prstGeom>
          <a:noFill/>
          <a:ln/>
        </p:spPr>
        <p:txBody>
          <a:bodyPr wrap="square" lIns="0" tIns="0" rIns="0" bIns="0" rtlCol="0" anchor="ctr"/>
          <a:lstStyle/>
          <a:p>
            <a:pPr indent="0" marL="0">
              <a:buNone/>
            </a:pPr>
            <a:r>
              <a:rPr lang="en-US" sz="1000" b="1" dirty="0">
                <a:solidFill>
                  <a:srgbClr val="0D9488"/>
                </a:solidFill>
                <a:latin typeface="Trebuchet MS" pitchFamily="34" charset="0"/>
                <a:ea typeface="Trebuchet MS" pitchFamily="34" charset="-122"/>
                <a:cs typeface="Trebuchet MS" pitchFamily="34" charset="-120"/>
              </a:rPr>
              <a:t>NGUỒN LỰC CHÍNH</a:t>
            </a:r>
            <a:endParaRPr lang="en-US" sz="1000" dirty="0"/>
          </a:p>
        </p:txBody>
      </p:sp>
      <p:sp>
        <p:nvSpPr>
          <p:cNvPr id="16" name="Text 14"/>
          <p:cNvSpPr/>
          <p:nvPr/>
        </p:nvSpPr>
        <p:spPr>
          <a:xfrm>
            <a:off x="2931566" y="4187952"/>
            <a:ext cx="1907438" cy="1499616"/>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Lớp dữ liệu sức khỏe</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Care-team địa phương</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App &amp; thương hiệu tin cậy</a:t>
            </a:r>
            <a:endParaRPr lang="en-US" sz="800" dirty="0"/>
          </a:p>
        </p:txBody>
      </p:sp>
      <p:sp>
        <p:nvSpPr>
          <p:cNvPr id="17" name="Shape 15"/>
          <p:cNvSpPr/>
          <p:nvPr/>
        </p:nvSpPr>
        <p:spPr>
          <a:xfrm>
            <a:off x="5003597" y="1737360"/>
            <a:ext cx="2108606" cy="4023360"/>
          </a:xfrm>
          <a:prstGeom prst="roundRect">
            <a:avLst>
              <a:gd name="adj" fmla="val 2168"/>
            </a:avLst>
          </a:prstGeom>
          <a:solidFill>
            <a:srgbClr val="FFFFFF"/>
          </a:solidFill>
          <a:ln/>
          <a:effectLst>
            <a:outerShdw sx="100000" sy="100000" kx="0" ky="0" algn="bl" rotWithShape="0" blurRad="63500" dist="25400" dir="5400000">
              <a:srgbClr val="0F172A">
                <a:alpha val="10000"/>
              </a:srgbClr>
            </a:outerShdw>
          </a:effectLst>
        </p:spPr>
      </p:sp>
      <p:sp>
        <p:nvSpPr>
          <p:cNvPr id="18" name="Shape 16"/>
          <p:cNvSpPr/>
          <p:nvPr/>
        </p:nvSpPr>
        <p:spPr>
          <a:xfrm>
            <a:off x="5003597" y="1737360"/>
            <a:ext cx="2108606" cy="45720"/>
          </a:xfrm>
          <a:prstGeom prst="rect">
            <a:avLst/>
          </a:prstGeom>
          <a:solidFill>
            <a:srgbClr val="FB7185"/>
          </a:solidFill>
          <a:ln/>
        </p:spPr>
      </p:sp>
      <p:sp>
        <p:nvSpPr>
          <p:cNvPr id="19" name="Text 17"/>
          <p:cNvSpPr/>
          <p:nvPr/>
        </p:nvSpPr>
        <p:spPr>
          <a:xfrm>
            <a:off x="5113325" y="1828800"/>
            <a:ext cx="1889150" cy="274320"/>
          </a:xfrm>
          <a:prstGeom prst="rect">
            <a:avLst/>
          </a:prstGeom>
          <a:noFill/>
          <a:ln/>
        </p:spPr>
        <p:txBody>
          <a:bodyPr wrap="square" lIns="0" tIns="0" rIns="0" bIns="0" rtlCol="0" anchor="ctr"/>
          <a:lstStyle/>
          <a:p>
            <a:pPr indent="0" marL="0">
              <a:buNone/>
            </a:pPr>
            <a:r>
              <a:rPr lang="en-US" sz="1000" b="1" dirty="0">
                <a:solidFill>
                  <a:srgbClr val="FB7185"/>
                </a:solidFill>
                <a:latin typeface="Trebuchet MS" pitchFamily="34" charset="0"/>
                <a:ea typeface="Trebuchet MS" pitchFamily="34" charset="-122"/>
                <a:cs typeface="Trebuchet MS" pitchFamily="34" charset="-120"/>
              </a:rPr>
              <a:t>GIÁ TRỊ CỐT LÕI</a:t>
            </a:r>
            <a:endParaRPr lang="en-US" sz="1000" dirty="0"/>
          </a:p>
        </p:txBody>
      </p:sp>
      <p:sp>
        <p:nvSpPr>
          <p:cNvPr id="20" name="Text 18"/>
          <p:cNvSpPr/>
          <p:nvPr/>
        </p:nvSpPr>
        <p:spPr>
          <a:xfrm>
            <a:off x="5113325" y="2121408"/>
            <a:ext cx="1907438" cy="3566160"/>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“Một chạm để biết bố mẹ vẫn ổn”</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Super-app trọn hành trình</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Cảnh báo té ngã “phút vàng”</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Điều dưỡng xác minh tại nhà</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Chuyên biệt người cao tuổi</a:t>
            </a:r>
            <a:endParaRPr lang="en-US" sz="800" dirty="0"/>
          </a:p>
        </p:txBody>
      </p:sp>
      <p:sp>
        <p:nvSpPr>
          <p:cNvPr id="21" name="Shape 19"/>
          <p:cNvSpPr/>
          <p:nvPr/>
        </p:nvSpPr>
        <p:spPr>
          <a:xfrm>
            <a:off x="7185355" y="1737360"/>
            <a:ext cx="2108606" cy="1956816"/>
          </a:xfrm>
          <a:prstGeom prst="roundRect">
            <a:avLst>
              <a:gd name="adj" fmla="val 2336"/>
            </a:avLst>
          </a:prstGeom>
          <a:solidFill>
            <a:srgbClr val="FFFFFF"/>
          </a:solidFill>
          <a:ln/>
          <a:effectLst>
            <a:outerShdw sx="100000" sy="100000" kx="0" ky="0" algn="bl" rotWithShape="0" blurRad="63500" dist="25400" dir="5400000">
              <a:srgbClr val="0F172A">
                <a:alpha val="10000"/>
              </a:srgbClr>
            </a:outerShdw>
          </a:effectLst>
        </p:spPr>
      </p:sp>
      <p:sp>
        <p:nvSpPr>
          <p:cNvPr id="22" name="Shape 20"/>
          <p:cNvSpPr/>
          <p:nvPr/>
        </p:nvSpPr>
        <p:spPr>
          <a:xfrm>
            <a:off x="7185355" y="1737360"/>
            <a:ext cx="2108606" cy="45720"/>
          </a:xfrm>
          <a:prstGeom prst="rect">
            <a:avLst/>
          </a:prstGeom>
          <a:solidFill>
            <a:srgbClr val="F5A623"/>
          </a:solidFill>
          <a:ln/>
        </p:spPr>
      </p:sp>
      <p:sp>
        <p:nvSpPr>
          <p:cNvPr id="23" name="Text 21"/>
          <p:cNvSpPr/>
          <p:nvPr/>
        </p:nvSpPr>
        <p:spPr>
          <a:xfrm>
            <a:off x="7295083" y="1828800"/>
            <a:ext cx="1889150" cy="274320"/>
          </a:xfrm>
          <a:prstGeom prst="rect">
            <a:avLst/>
          </a:prstGeom>
          <a:noFill/>
          <a:ln/>
        </p:spPr>
        <p:txBody>
          <a:bodyPr wrap="square" lIns="0" tIns="0" rIns="0" bIns="0" rtlCol="0" anchor="ctr"/>
          <a:lstStyle/>
          <a:p>
            <a:pPr indent="0" marL="0">
              <a:buNone/>
            </a:pPr>
            <a:r>
              <a:rPr lang="en-US" sz="1000" b="1" dirty="0">
                <a:solidFill>
                  <a:srgbClr val="F5A623"/>
                </a:solidFill>
                <a:latin typeface="Trebuchet MS" pitchFamily="34" charset="0"/>
                <a:ea typeface="Trebuchet MS" pitchFamily="34" charset="-122"/>
                <a:cs typeface="Trebuchet MS" pitchFamily="34" charset="-120"/>
              </a:rPr>
              <a:t>QUAN HỆ KHÁCH HÀNG</a:t>
            </a:r>
            <a:endParaRPr lang="en-US" sz="1000" dirty="0"/>
          </a:p>
        </p:txBody>
      </p:sp>
      <p:sp>
        <p:nvSpPr>
          <p:cNvPr id="24" name="Text 22"/>
          <p:cNvSpPr/>
          <p:nvPr/>
        </p:nvSpPr>
        <p:spPr>
          <a:xfrm>
            <a:off x="7295083" y="2121408"/>
            <a:ext cx="1907438" cy="1499616"/>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Care-team quen mặt</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“Nhật ký yêu thương”</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Tổng đài &amp; SLA &lt;15’</a:t>
            </a:r>
            <a:endParaRPr lang="en-US" sz="800" dirty="0"/>
          </a:p>
        </p:txBody>
      </p:sp>
      <p:sp>
        <p:nvSpPr>
          <p:cNvPr id="25" name="Shape 23"/>
          <p:cNvSpPr/>
          <p:nvPr/>
        </p:nvSpPr>
        <p:spPr>
          <a:xfrm>
            <a:off x="7185355" y="3803904"/>
            <a:ext cx="2108606" cy="1956816"/>
          </a:xfrm>
          <a:prstGeom prst="roundRect">
            <a:avLst>
              <a:gd name="adj" fmla="val 2336"/>
            </a:avLst>
          </a:prstGeom>
          <a:solidFill>
            <a:srgbClr val="FFFFFF"/>
          </a:solidFill>
          <a:ln/>
          <a:effectLst>
            <a:outerShdw sx="100000" sy="100000" kx="0" ky="0" algn="bl" rotWithShape="0" blurRad="63500" dist="25400" dir="5400000">
              <a:srgbClr val="0F172A">
                <a:alpha val="10000"/>
              </a:srgbClr>
            </a:outerShdw>
          </a:effectLst>
        </p:spPr>
      </p:sp>
      <p:sp>
        <p:nvSpPr>
          <p:cNvPr id="26" name="Shape 24"/>
          <p:cNvSpPr/>
          <p:nvPr/>
        </p:nvSpPr>
        <p:spPr>
          <a:xfrm>
            <a:off x="7185355" y="3803904"/>
            <a:ext cx="2108606" cy="45720"/>
          </a:xfrm>
          <a:prstGeom prst="rect">
            <a:avLst/>
          </a:prstGeom>
          <a:solidFill>
            <a:srgbClr val="F5A623"/>
          </a:solidFill>
          <a:ln/>
        </p:spPr>
      </p:sp>
      <p:sp>
        <p:nvSpPr>
          <p:cNvPr id="27" name="Text 25"/>
          <p:cNvSpPr/>
          <p:nvPr/>
        </p:nvSpPr>
        <p:spPr>
          <a:xfrm>
            <a:off x="7295083" y="3895344"/>
            <a:ext cx="1889150" cy="274320"/>
          </a:xfrm>
          <a:prstGeom prst="rect">
            <a:avLst/>
          </a:prstGeom>
          <a:noFill/>
          <a:ln/>
        </p:spPr>
        <p:txBody>
          <a:bodyPr wrap="square" lIns="0" tIns="0" rIns="0" bIns="0" rtlCol="0" anchor="ctr"/>
          <a:lstStyle/>
          <a:p>
            <a:pPr indent="0" marL="0">
              <a:buNone/>
            </a:pPr>
            <a:r>
              <a:rPr lang="en-US" sz="1000" b="1" dirty="0">
                <a:solidFill>
                  <a:srgbClr val="F5A623"/>
                </a:solidFill>
                <a:latin typeface="Trebuchet MS" pitchFamily="34" charset="0"/>
                <a:ea typeface="Trebuchet MS" pitchFamily="34" charset="-122"/>
                <a:cs typeface="Trebuchet MS" pitchFamily="34" charset="-120"/>
              </a:rPr>
              <a:t>KÊNH</a:t>
            </a:r>
            <a:endParaRPr lang="en-US" sz="1000" dirty="0"/>
          </a:p>
        </p:txBody>
      </p:sp>
      <p:sp>
        <p:nvSpPr>
          <p:cNvPr id="28" name="Text 26"/>
          <p:cNvSpPr/>
          <p:nvPr/>
        </p:nvSpPr>
        <p:spPr>
          <a:xfrm>
            <a:off x="7295083" y="4187952"/>
            <a:ext cx="1907438" cy="1499616"/>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App + web</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Referral · BV đối tác</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KOL bác sĩ · BHXH/phường</a:t>
            </a:r>
            <a:endParaRPr lang="en-US" sz="800" dirty="0"/>
          </a:p>
        </p:txBody>
      </p:sp>
      <p:sp>
        <p:nvSpPr>
          <p:cNvPr id="29" name="Shape 27"/>
          <p:cNvSpPr/>
          <p:nvPr/>
        </p:nvSpPr>
        <p:spPr>
          <a:xfrm>
            <a:off x="9367114" y="1737360"/>
            <a:ext cx="2108606" cy="4023360"/>
          </a:xfrm>
          <a:prstGeom prst="roundRect">
            <a:avLst>
              <a:gd name="adj" fmla="val 2168"/>
            </a:avLst>
          </a:prstGeom>
          <a:solidFill>
            <a:srgbClr val="FFFFFF"/>
          </a:solidFill>
          <a:ln/>
          <a:effectLst>
            <a:outerShdw sx="100000" sy="100000" kx="0" ky="0" algn="bl" rotWithShape="0" blurRad="63500" dist="25400" dir="5400000">
              <a:srgbClr val="0F172A">
                <a:alpha val="10000"/>
              </a:srgbClr>
            </a:outerShdw>
          </a:effectLst>
        </p:spPr>
      </p:sp>
      <p:sp>
        <p:nvSpPr>
          <p:cNvPr id="30" name="Shape 28"/>
          <p:cNvSpPr/>
          <p:nvPr/>
        </p:nvSpPr>
        <p:spPr>
          <a:xfrm>
            <a:off x="9367114" y="1737360"/>
            <a:ext cx="2108606" cy="45720"/>
          </a:xfrm>
          <a:prstGeom prst="rect">
            <a:avLst/>
          </a:prstGeom>
          <a:solidFill>
            <a:srgbClr val="134E4A"/>
          </a:solidFill>
          <a:ln/>
        </p:spPr>
      </p:sp>
      <p:sp>
        <p:nvSpPr>
          <p:cNvPr id="31" name="Text 29"/>
          <p:cNvSpPr/>
          <p:nvPr/>
        </p:nvSpPr>
        <p:spPr>
          <a:xfrm>
            <a:off x="9476842" y="1828800"/>
            <a:ext cx="1889150" cy="274320"/>
          </a:xfrm>
          <a:prstGeom prst="rect">
            <a:avLst/>
          </a:prstGeom>
          <a:noFill/>
          <a:ln/>
        </p:spPr>
        <p:txBody>
          <a:bodyPr wrap="square" lIns="0" tIns="0" rIns="0" bIns="0" rtlCol="0" anchor="ctr"/>
          <a:lstStyle/>
          <a:p>
            <a:pPr indent="0" marL="0">
              <a:buNone/>
            </a:pPr>
            <a:r>
              <a:rPr lang="en-US" sz="1000" b="1" dirty="0">
                <a:solidFill>
                  <a:srgbClr val="134E4A"/>
                </a:solidFill>
                <a:latin typeface="Trebuchet MS" pitchFamily="34" charset="0"/>
                <a:ea typeface="Trebuchet MS" pitchFamily="34" charset="-122"/>
                <a:cs typeface="Trebuchet MS" pitchFamily="34" charset="-120"/>
              </a:rPr>
              <a:t>PHÂN KHÚC KH</a:t>
            </a:r>
            <a:endParaRPr lang="en-US" sz="1000" dirty="0"/>
          </a:p>
        </p:txBody>
      </p:sp>
      <p:sp>
        <p:nvSpPr>
          <p:cNvPr id="32" name="Text 30"/>
          <p:cNvSpPr/>
          <p:nvPr/>
        </p:nvSpPr>
        <p:spPr>
          <a:xfrm>
            <a:off x="9476842" y="2121408"/>
            <a:ext cx="1907438" cy="3566160"/>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Người trả tiền: con cái 30–50t</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Người dùng: bố mẹ ≥60t</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Theo mức phụ thuộc</a:t>
            </a:r>
            <a:endParaRPr lang="en-US" sz="800" dirty="0"/>
          </a:p>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Đô thị lớn (HN trước)</a:t>
            </a:r>
            <a:endParaRPr lang="en-US" sz="800" dirty="0"/>
          </a:p>
        </p:txBody>
      </p:sp>
      <p:sp>
        <p:nvSpPr>
          <p:cNvPr id="33" name="Shape 31"/>
          <p:cNvSpPr/>
          <p:nvPr/>
        </p:nvSpPr>
        <p:spPr>
          <a:xfrm>
            <a:off x="640080" y="5897880"/>
            <a:ext cx="5399532" cy="822960"/>
          </a:xfrm>
          <a:prstGeom prst="roundRect">
            <a:avLst>
              <a:gd name="adj" fmla="val 5556"/>
            </a:avLst>
          </a:prstGeom>
          <a:solidFill>
            <a:srgbClr val="FFFFFF"/>
          </a:solidFill>
          <a:ln/>
          <a:effectLst>
            <a:outerShdw sx="100000" sy="100000" kx="0" ky="0" algn="bl" rotWithShape="0" blurRad="63500" dist="25400" dir="5400000">
              <a:srgbClr val="0F172A">
                <a:alpha val="10000"/>
              </a:srgbClr>
            </a:outerShdw>
          </a:effectLst>
        </p:spPr>
      </p:sp>
      <p:sp>
        <p:nvSpPr>
          <p:cNvPr id="34" name="Shape 32"/>
          <p:cNvSpPr/>
          <p:nvPr/>
        </p:nvSpPr>
        <p:spPr>
          <a:xfrm>
            <a:off x="640080" y="5897880"/>
            <a:ext cx="5399532" cy="45720"/>
          </a:xfrm>
          <a:prstGeom prst="rect">
            <a:avLst/>
          </a:prstGeom>
          <a:solidFill>
            <a:srgbClr val="64748B"/>
          </a:solidFill>
          <a:ln/>
        </p:spPr>
      </p:sp>
      <p:sp>
        <p:nvSpPr>
          <p:cNvPr id="35" name="Text 33"/>
          <p:cNvSpPr/>
          <p:nvPr/>
        </p:nvSpPr>
        <p:spPr>
          <a:xfrm>
            <a:off x="749808" y="5989320"/>
            <a:ext cx="5180076" cy="274320"/>
          </a:xfrm>
          <a:prstGeom prst="rect">
            <a:avLst/>
          </a:prstGeom>
          <a:noFill/>
          <a:ln/>
        </p:spPr>
        <p:txBody>
          <a:bodyPr wrap="square" lIns="0" tIns="0" rIns="0" bIns="0" rtlCol="0" anchor="ctr"/>
          <a:lstStyle/>
          <a:p>
            <a:pPr indent="0" marL="0">
              <a:buNone/>
            </a:pPr>
            <a:r>
              <a:rPr lang="en-US" sz="1000" b="1" dirty="0">
                <a:solidFill>
                  <a:srgbClr val="64748B"/>
                </a:solidFill>
                <a:latin typeface="Trebuchet MS" pitchFamily="34" charset="0"/>
                <a:ea typeface="Trebuchet MS" pitchFamily="34" charset="-122"/>
                <a:cs typeface="Trebuchet MS" pitchFamily="34" charset="-120"/>
              </a:rPr>
              <a:t>CƠ CẤU CHI PHÍ</a:t>
            </a:r>
            <a:endParaRPr lang="en-US" sz="1000" dirty="0"/>
          </a:p>
        </p:txBody>
      </p:sp>
      <p:sp>
        <p:nvSpPr>
          <p:cNvPr id="36" name="Text 34"/>
          <p:cNvSpPr/>
          <p:nvPr/>
        </p:nvSpPr>
        <p:spPr>
          <a:xfrm>
            <a:off x="749808" y="6281928"/>
            <a:ext cx="5198364" cy="365760"/>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Lương care-team &amp; vận hành · Marketing ≤15–20% DT · Chuyên môn ~1,86 tỷ/năm · Công nghệ/AI (nhẹ tài sản — thuê thiết bị)</a:t>
            </a:r>
            <a:endParaRPr lang="en-US" sz="800" dirty="0"/>
          </a:p>
        </p:txBody>
      </p:sp>
      <p:sp>
        <p:nvSpPr>
          <p:cNvPr id="37" name="Shape 35"/>
          <p:cNvSpPr/>
          <p:nvPr/>
        </p:nvSpPr>
        <p:spPr>
          <a:xfrm>
            <a:off x="6149340" y="5897880"/>
            <a:ext cx="5399532" cy="822960"/>
          </a:xfrm>
          <a:prstGeom prst="roundRect">
            <a:avLst>
              <a:gd name="adj" fmla="val 5556"/>
            </a:avLst>
          </a:prstGeom>
          <a:solidFill>
            <a:srgbClr val="FFFFFF"/>
          </a:solidFill>
          <a:ln/>
          <a:effectLst>
            <a:outerShdw sx="100000" sy="100000" kx="0" ky="0" algn="bl" rotWithShape="0" blurRad="63500" dist="25400" dir="5400000">
              <a:srgbClr val="0F172A">
                <a:alpha val="10000"/>
              </a:srgbClr>
            </a:outerShdw>
          </a:effectLst>
        </p:spPr>
      </p:sp>
      <p:sp>
        <p:nvSpPr>
          <p:cNvPr id="38" name="Shape 36"/>
          <p:cNvSpPr/>
          <p:nvPr/>
        </p:nvSpPr>
        <p:spPr>
          <a:xfrm>
            <a:off x="6149340" y="5897880"/>
            <a:ext cx="5399532" cy="45720"/>
          </a:xfrm>
          <a:prstGeom prst="rect">
            <a:avLst/>
          </a:prstGeom>
          <a:solidFill>
            <a:srgbClr val="0D9488"/>
          </a:solidFill>
          <a:ln/>
        </p:spPr>
      </p:sp>
      <p:sp>
        <p:nvSpPr>
          <p:cNvPr id="39" name="Text 37"/>
          <p:cNvSpPr/>
          <p:nvPr/>
        </p:nvSpPr>
        <p:spPr>
          <a:xfrm>
            <a:off x="6259068" y="5989320"/>
            <a:ext cx="5180076" cy="274320"/>
          </a:xfrm>
          <a:prstGeom prst="rect">
            <a:avLst/>
          </a:prstGeom>
          <a:noFill/>
          <a:ln/>
        </p:spPr>
        <p:txBody>
          <a:bodyPr wrap="square" lIns="0" tIns="0" rIns="0" bIns="0" rtlCol="0" anchor="ctr"/>
          <a:lstStyle/>
          <a:p>
            <a:pPr indent="0" marL="0">
              <a:buNone/>
            </a:pPr>
            <a:r>
              <a:rPr lang="en-US" sz="1000" b="1" dirty="0">
                <a:solidFill>
                  <a:srgbClr val="0D9488"/>
                </a:solidFill>
                <a:latin typeface="Trebuchet MS" pitchFamily="34" charset="0"/>
                <a:ea typeface="Trebuchet MS" pitchFamily="34" charset="-122"/>
                <a:cs typeface="Trebuchet MS" pitchFamily="34" charset="-120"/>
              </a:rPr>
              <a:t>DÒNG DOANH THU</a:t>
            </a:r>
            <a:endParaRPr lang="en-US" sz="1000" dirty="0"/>
          </a:p>
        </p:txBody>
      </p:sp>
      <p:sp>
        <p:nvSpPr>
          <p:cNvPr id="40" name="Text 38"/>
          <p:cNvSpPr/>
          <p:nvPr/>
        </p:nvSpPr>
        <p:spPr>
          <a:xfrm>
            <a:off x="6259068" y="6281928"/>
            <a:ext cx="5198364" cy="365760"/>
          </a:xfrm>
          <a:prstGeom prst="rect">
            <a:avLst/>
          </a:prstGeom>
          <a:noFill/>
          <a:ln/>
        </p:spPr>
        <p:txBody>
          <a:bodyPr wrap="square" lIns="0" tIns="0" rIns="0" bIns="0" rtlCol="0" anchor="t"/>
          <a:lstStyle/>
          <a:p>
            <a:pPr marL="101600" indent="-101600">
              <a:lnSpc>
                <a:spcPct val="95000"/>
              </a:lnSpc>
              <a:spcAft>
                <a:spcPts val="250"/>
              </a:spcAft>
              <a:buSzPct val="100000"/>
              <a:buChar char="•"/>
            </a:pPr>
            <a:r>
              <a:rPr lang="en-US" sz="800" dirty="0">
                <a:solidFill>
                  <a:srgbClr val="1E293B"/>
                </a:solidFill>
                <a:latin typeface="Calibri" pitchFamily="34" charset="0"/>
                <a:ea typeface="Calibri" pitchFamily="34" charset="-122"/>
                <a:cs typeface="Calibri" pitchFamily="34" charset="-120"/>
              </a:rPr>
              <a:t>Hoa hồng điều dưỡng 20% · Thuê bao Tele 299–599k · Markup dược/thiết bị ~25% · Phí giới thiệu MedFin</a:t>
            </a:r>
            <a:endParaRPr lang="en-US" sz="800" dirty="0"/>
          </a:p>
        </p:txBody>
      </p:sp>
      <p:sp>
        <p:nvSpPr>
          <p:cNvPr id="41" name="Shape 39"/>
          <p:cNvSpPr/>
          <p:nvPr/>
        </p:nvSpPr>
        <p:spPr>
          <a:xfrm>
            <a:off x="0" y="6565392"/>
            <a:ext cx="12191695" cy="292608"/>
          </a:xfrm>
          <a:prstGeom prst="rect">
            <a:avLst/>
          </a:prstGeom>
          <a:solidFill>
            <a:srgbClr val="FFFFFF"/>
          </a:solidFill>
          <a:ln/>
        </p:spPr>
      </p:sp>
      <p:sp>
        <p:nvSpPr>
          <p:cNvPr id="42" name="Shape 40"/>
          <p:cNvSpPr/>
          <p:nvPr/>
        </p:nvSpPr>
        <p:spPr>
          <a:xfrm>
            <a:off x="0" y="6547104"/>
            <a:ext cx="12191695" cy="20117"/>
          </a:xfrm>
          <a:prstGeom prst="rect">
            <a:avLst/>
          </a:prstGeom>
          <a:solidFill>
            <a:srgbClr val="E2E8F0"/>
          </a:solidFill>
          <a:ln/>
        </p:spPr>
      </p:sp>
      <p:sp>
        <p:nvSpPr>
          <p:cNvPr id="43" name="Shape 41"/>
          <p:cNvSpPr/>
          <p:nvPr/>
        </p:nvSpPr>
        <p:spPr>
          <a:xfrm>
            <a:off x="457200" y="6624828"/>
            <a:ext cx="118872" cy="118872"/>
          </a:xfrm>
          <a:prstGeom prst="ellipse">
            <a:avLst/>
          </a:prstGeom>
          <a:solidFill>
            <a:srgbClr val="0D9488"/>
          </a:solidFill>
          <a:ln/>
        </p:spPr>
      </p:sp>
      <p:sp>
        <p:nvSpPr>
          <p:cNvPr id="44" name="Text 42"/>
          <p:cNvSpPr/>
          <p:nvPr/>
        </p:nvSpPr>
        <p:spPr>
          <a:xfrm>
            <a:off x="621792" y="6547104"/>
            <a:ext cx="3657600" cy="292608"/>
          </a:xfrm>
          <a:prstGeom prst="rect">
            <a:avLst/>
          </a:prstGeom>
          <a:noFill/>
          <a:ln/>
        </p:spPr>
        <p:txBody>
          <a:bodyPr wrap="square" lIns="0" tIns="0" rIns="0" bIns="0" rtlCol="0" anchor="ctr"/>
          <a:lstStyle/>
          <a:p>
            <a:pPr indent="0" marL="0">
              <a:buNone/>
            </a:pPr>
            <a:r>
              <a:rPr lang="en-US" sz="900" b="1" dirty="0">
                <a:solidFill>
                  <a:srgbClr val="64748B"/>
                </a:solidFill>
                <a:latin typeface="Trebuchet MS" pitchFamily="34" charset="0"/>
                <a:ea typeface="Trebuchet MS" pitchFamily="34" charset="-122"/>
                <a:cs typeface="Trebuchet MS" pitchFamily="34" charset="-120"/>
              </a:rPr>
              <a:t>ElderCare VN</a:t>
            </a:r>
            <a:endParaRPr lang="en-US" sz="900" dirty="0"/>
          </a:p>
        </p:txBody>
      </p:sp>
      <p:sp>
        <p:nvSpPr>
          <p:cNvPr id="45" name="Text 43"/>
          <p:cNvSpPr/>
          <p:nvPr/>
        </p:nvSpPr>
        <p:spPr>
          <a:xfrm>
            <a:off x="8076895" y="6547104"/>
            <a:ext cx="3291840" cy="29260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ETR601 · SEM40HN · FSB</a:t>
            </a:r>
            <a:endParaRPr lang="en-US" sz="850" dirty="0"/>
          </a:p>
        </p:txBody>
      </p:sp>
      <p:sp>
        <p:nvSpPr>
          <p:cNvPr id="46" name="Text 44"/>
          <p:cNvSpPr/>
          <p:nvPr/>
        </p:nvSpPr>
        <p:spPr>
          <a:xfrm>
            <a:off x="11478463" y="6547104"/>
            <a:ext cx="365760" cy="292608"/>
          </a:xfrm>
          <a:prstGeom prst="rect">
            <a:avLst/>
          </a:prstGeom>
          <a:noFill/>
          <a:ln/>
        </p:spPr>
        <p:txBody>
          <a:bodyPr wrap="square" lIns="0" tIns="0" rIns="0" bIns="0" rtlCol="0" anchor="ctr"/>
          <a:lstStyle/>
          <a:p>
            <a:pPr algn="r" indent="0" marL="0">
              <a:buNone/>
            </a:pPr>
            <a:r>
              <a:rPr lang="en-US" sz="900" b="1" dirty="0">
                <a:solidFill>
                  <a:srgbClr val="0D9488"/>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4E4A"/>
        </a:solidFill>
      </p:bgPr>
    </p:bg>
    <p:spTree>
      <p:nvGrpSpPr>
        <p:cNvPr id="1" name=""/>
        <p:cNvGrpSpPr/>
        <p:nvPr/>
      </p:nvGrpSpPr>
      <p:grpSpPr>
        <a:xfrm>
          <a:off x="0" y="0"/>
          <a:ext cx="0" cy="0"/>
          <a:chOff x="0" y="0"/>
          <a:chExt cx="0" cy="0"/>
        </a:xfrm>
      </p:grpSpPr>
      <p:sp>
        <p:nvSpPr>
          <p:cNvPr id="2" name="Shape 0"/>
          <p:cNvSpPr/>
          <p:nvPr/>
        </p:nvSpPr>
        <p:spPr>
          <a:xfrm>
            <a:off x="-1463040" y="-1645920"/>
            <a:ext cx="5029200" cy="5029200"/>
          </a:xfrm>
          <a:prstGeom prst="ellipse">
            <a:avLst/>
          </a:prstGeom>
          <a:solidFill>
            <a:srgbClr val="0F766E">
              <a:alpha val="60000"/>
            </a:srgbClr>
          </a:solidFill>
          <a:ln/>
        </p:spPr>
      </p:sp>
      <p:sp>
        <p:nvSpPr>
          <p:cNvPr id="3" name="Shape 1"/>
          <p:cNvSpPr/>
          <p:nvPr/>
        </p:nvSpPr>
        <p:spPr>
          <a:xfrm>
            <a:off x="9692640" y="3108960"/>
            <a:ext cx="4572000" cy="4572000"/>
          </a:xfrm>
          <a:prstGeom prst="ellipse">
            <a:avLst/>
          </a:prstGeom>
          <a:solidFill>
            <a:srgbClr val="0D9488">
              <a:alpha val="55000"/>
            </a:srgbClr>
          </a:solidFill>
          <a:ln/>
        </p:spPr>
      </p:sp>
      <p:sp>
        <p:nvSpPr>
          <p:cNvPr id="4" name="Shape 2"/>
          <p:cNvSpPr/>
          <p:nvPr/>
        </p:nvSpPr>
        <p:spPr>
          <a:xfrm>
            <a:off x="822960" y="822960"/>
            <a:ext cx="310896" cy="310896"/>
          </a:xfrm>
          <a:prstGeom prst="ellipse">
            <a:avLst/>
          </a:prstGeom>
          <a:solidFill>
            <a:srgbClr val="2DD4BF"/>
          </a:solidFill>
          <a:ln/>
        </p:spPr>
      </p:sp>
      <p:pic>
        <p:nvPicPr>
          <p:cNvPr id="5" name="Image 0" descr="preencoded.png">    </p:cNvPr>
          <p:cNvPicPr>
            <a:picLocks noChangeAspect="1"/>
          </p:cNvPicPr>
          <p:nvPr/>
        </p:nvPicPr>
        <p:blipFill>
          <a:blip r:embed="rId1"/>
          <a:stretch>
            <a:fillRect/>
          </a:stretch>
        </p:blipFill>
        <p:spPr>
          <a:xfrm>
            <a:off x="900684" y="900684"/>
            <a:ext cx="155448" cy="155448"/>
          </a:xfrm>
          <a:prstGeom prst="rect">
            <a:avLst/>
          </a:prstGeom>
        </p:spPr>
      </p:pic>
      <p:sp>
        <p:nvSpPr>
          <p:cNvPr id="6" name="Text 3"/>
          <p:cNvSpPr/>
          <p:nvPr/>
        </p:nvSpPr>
        <p:spPr>
          <a:xfrm>
            <a:off x="1243584" y="795528"/>
            <a:ext cx="5486400" cy="384048"/>
          </a:xfrm>
          <a:prstGeom prst="rect">
            <a:avLst/>
          </a:prstGeom>
          <a:noFill/>
          <a:ln/>
        </p:spPr>
        <p:txBody>
          <a:bodyPr wrap="square" lIns="0" tIns="0" rIns="0" bIns="0" rtlCol="0" anchor="ctr"/>
          <a:lstStyle/>
          <a:p>
            <a:pPr indent="0" marL="0">
              <a:buNone/>
            </a:pPr>
            <a:r>
              <a:rPr lang="en-US" sz="1400" b="1" spc="300" kern="0" dirty="0">
                <a:solidFill>
                  <a:srgbClr val="FFFFFF"/>
                </a:solidFill>
                <a:latin typeface="Trebuchet MS" pitchFamily="34" charset="0"/>
                <a:ea typeface="Trebuchet MS" pitchFamily="34" charset="-122"/>
                <a:cs typeface="Trebuchet MS" pitchFamily="34" charset="-120"/>
              </a:rPr>
              <a:t>ELDERCARE VN</a:t>
            </a:r>
            <a:endParaRPr lang="en-US" sz="1400" dirty="0"/>
          </a:p>
        </p:txBody>
      </p:sp>
      <p:sp>
        <p:nvSpPr>
          <p:cNvPr id="7" name="Text 4"/>
          <p:cNvSpPr/>
          <p:nvPr/>
        </p:nvSpPr>
        <p:spPr>
          <a:xfrm>
            <a:off x="822960" y="1554480"/>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Vì sao chọn Kịch bản B?</a:t>
            </a:r>
            <a:endParaRPr lang="en-US" sz="3000" dirty="0"/>
          </a:p>
        </p:txBody>
      </p:sp>
      <p:sp>
        <p:nvSpPr>
          <p:cNvPr id="8" name="Shape 5"/>
          <p:cNvSpPr/>
          <p:nvPr/>
        </p:nvSpPr>
        <p:spPr>
          <a:xfrm>
            <a:off x="822960" y="2286000"/>
            <a:ext cx="3429000" cy="1691640"/>
          </a:xfrm>
          <a:prstGeom prst="roundRect">
            <a:avLst>
              <a:gd name="adj" fmla="val 5405"/>
            </a:avLst>
          </a:prstGeom>
          <a:solidFill>
            <a:srgbClr val="0F766E"/>
          </a:solidFill>
          <a:ln/>
        </p:spPr>
      </p:sp>
      <p:sp>
        <p:nvSpPr>
          <p:cNvPr id="9" name="Shape 6"/>
          <p:cNvSpPr/>
          <p:nvPr/>
        </p:nvSpPr>
        <p:spPr>
          <a:xfrm>
            <a:off x="1078992" y="2542032"/>
            <a:ext cx="548640" cy="548640"/>
          </a:xfrm>
          <a:prstGeom prst="ellipse">
            <a:avLst/>
          </a:prstGeom>
          <a:solidFill>
            <a:srgbClr val="2DD4BF"/>
          </a:solidFill>
          <a:ln/>
        </p:spPr>
      </p:sp>
      <p:pic>
        <p:nvPicPr>
          <p:cNvPr id="10" name="Image 1" descr="preencoded.png">    </p:cNvPr>
          <p:cNvPicPr>
            <a:picLocks noChangeAspect="1"/>
          </p:cNvPicPr>
          <p:nvPr/>
        </p:nvPicPr>
        <p:blipFill>
          <a:blip r:embed="rId2"/>
          <a:stretch>
            <a:fillRect/>
          </a:stretch>
        </p:blipFill>
        <p:spPr>
          <a:xfrm>
            <a:off x="1207008" y="2670048"/>
            <a:ext cx="292608" cy="292608"/>
          </a:xfrm>
          <a:prstGeom prst="rect">
            <a:avLst/>
          </a:prstGeom>
        </p:spPr>
      </p:pic>
      <p:sp>
        <p:nvSpPr>
          <p:cNvPr id="11" name="Text 7"/>
          <p:cNvSpPr/>
          <p:nvPr/>
        </p:nvSpPr>
        <p:spPr>
          <a:xfrm>
            <a:off x="1737360" y="2578608"/>
            <a:ext cx="2377440" cy="45720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Default-alive</a:t>
            </a:r>
            <a:endParaRPr lang="en-US" sz="1500" dirty="0"/>
          </a:p>
        </p:txBody>
      </p:sp>
      <p:sp>
        <p:nvSpPr>
          <p:cNvPr id="12" name="Text 8"/>
          <p:cNvSpPr/>
          <p:nvPr/>
        </p:nvSpPr>
        <p:spPr>
          <a:xfrm>
            <a:off x="1097280" y="3200400"/>
            <a:ext cx="2926080" cy="731520"/>
          </a:xfrm>
          <a:prstGeom prst="rect">
            <a:avLst/>
          </a:prstGeom>
          <a:noFill/>
          <a:ln/>
        </p:spPr>
        <p:txBody>
          <a:bodyPr wrap="square" lIns="0" tIns="0" rIns="0" bIns="0" rtlCol="0" anchor="t"/>
          <a:lstStyle/>
          <a:p>
            <a:pPr indent="0" marL="0">
              <a:lnSpc>
                <a:spcPct val="102000"/>
              </a:lnSpc>
              <a:buNone/>
            </a:pPr>
            <a:r>
              <a:rPr lang="en-US" sz="1050" dirty="0">
                <a:solidFill>
                  <a:srgbClr val="ECFEFF"/>
                </a:solidFill>
                <a:latin typeface="Calibri" pitchFamily="34" charset="0"/>
                <a:ea typeface="Calibri" pitchFamily="34" charset="-122"/>
                <a:cs typeface="Calibri" pitchFamily="34" charset="-120"/>
              </a:rPr>
              <a:t>Lãi ngay Năm 1 (+10 tỷ), mọi năm đều lãi — không phụ thuộc gọi vốn.</a:t>
            </a:r>
            <a:endParaRPr lang="en-US" sz="1050" dirty="0"/>
          </a:p>
        </p:txBody>
      </p:sp>
      <p:sp>
        <p:nvSpPr>
          <p:cNvPr id="13" name="Shape 9"/>
          <p:cNvSpPr/>
          <p:nvPr/>
        </p:nvSpPr>
        <p:spPr>
          <a:xfrm>
            <a:off x="4434840" y="2286000"/>
            <a:ext cx="3429000" cy="1691640"/>
          </a:xfrm>
          <a:prstGeom prst="roundRect">
            <a:avLst>
              <a:gd name="adj" fmla="val 5405"/>
            </a:avLst>
          </a:prstGeom>
          <a:solidFill>
            <a:srgbClr val="0F766E"/>
          </a:solidFill>
          <a:ln/>
        </p:spPr>
      </p:sp>
      <p:sp>
        <p:nvSpPr>
          <p:cNvPr id="14" name="Shape 10"/>
          <p:cNvSpPr/>
          <p:nvPr/>
        </p:nvSpPr>
        <p:spPr>
          <a:xfrm>
            <a:off x="4690872" y="2542032"/>
            <a:ext cx="548640" cy="548640"/>
          </a:xfrm>
          <a:prstGeom prst="ellipse">
            <a:avLst/>
          </a:prstGeom>
          <a:solidFill>
            <a:srgbClr val="2DD4BF"/>
          </a:solidFill>
          <a:ln/>
        </p:spPr>
      </p:sp>
      <p:pic>
        <p:nvPicPr>
          <p:cNvPr id="15" name="Image 2" descr="preencoded.png">    </p:cNvPr>
          <p:cNvPicPr>
            <a:picLocks noChangeAspect="1"/>
          </p:cNvPicPr>
          <p:nvPr/>
        </p:nvPicPr>
        <p:blipFill>
          <a:blip r:embed="rId3"/>
          <a:stretch>
            <a:fillRect/>
          </a:stretch>
        </p:blipFill>
        <p:spPr>
          <a:xfrm>
            <a:off x="4818888" y="2670048"/>
            <a:ext cx="292608" cy="292608"/>
          </a:xfrm>
          <a:prstGeom prst="rect">
            <a:avLst/>
          </a:prstGeom>
        </p:spPr>
      </p:pic>
      <p:sp>
        <p:nvSpPr>
          <p:cNvPr id="16" name="Text 11"/>
          <p:cNvSpPr/>
          <p:nvPr/>
        </p:nvSpPr>
        <p:spPr>
          <a:xfrm>
            <a:off x="5349240" y="2578608"/>
            <a:ext cx="2377440" cy="45720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Kiểm soát</a:t>
            </a:r>
            <a:endParaRPr lang="en-US" sz="1500" dirty="0"/>
          </a:p>
        </p:txBody>
      </p:sp>
      <p:sp>
        <p:nvSpPr>
          <p:cNvPr id="17" name="Text 12"/>
          <p:cNvSpPr/>
          <p:nvPr/>
        </p:nvSpPr>
        <p:spPr>
          <a:xfrm>
            <a:off x="4709160" y="3200400"/>
            <a:ext cx="2926080" cy="731520"/>
          </a:xfrm>
          <a:prstGeom prst="rect">
            <a:avLst/>
          </a:prstGeom>
          <a:noFill/>
          <a:ln/>
        </p:spPr>
        <p:txBody>
          <a:bodyPr wrap="square" lIns="0" tIns="0" rIns="0" bIns="0" rtlCol="0" anchor="t"/>
          <a:lstStyle/>
          <a:p>
            <a:pPr indent="0" marL="0">
              <a:lnSpc>
                <a:spcPct val="102000"/>
              </a:lnSpc>
              <a:buNone/>
            </a:pPr>
            <a:r>
              <a:rPr lang="en-US" sz="1050" dirty="0">
                <a:solidFill>
                  <a:srgbClr val="ECFEFF"/>
                </a:solidFill>
                <a:latin typeface="Calibri" pitchFamily="34" charset="0"/>
                <a:ea typeface="Calibri" pitchFamily="34" charset="-122"/>
                <a:cs typeface="Calibri" pitchFamily="34" charset="-120"/>
              </a:rPr>
              <a:t>Chỉ ~15–20 tỷ vốn · founders giữ &gt;80% · tự định đoạt hướng đi.</a:t>
            </a:r>
            <a:endParaRPr lang="en-US" sz="1050" dirty="0"/>
          </a:p>
        </p:txBody>
      </p:sp>
      <p:sp>
        <p:nvSpPr>
          <p:cNvPr id="18" name="Shape 13"/>
          <p:cNvSpPr/>
          <p:nvPr/>
        </p:nvSpPr>
        <p:spPr>
          <a:xfrm>
            <a:off x="8046720" y="2286000"/>
            <a:ext cx="3429000" cy="1691640"/>
          </a:xfrm>
          <a:prstGeom prst="roundRect">
            <a:avLst>
              <a:gd name="adj" fmla="val 5405"/>
            </a:avLst>
          </a:prstGeom>
          <a:solidFill>
            <a:srgbClr val="0F766E"/>
          </a:solidFill>
          <a:ln/>
        </p:spPr>
      </p:sp>
      <p:sp>
        <p:nvSpPr>
          <p:cNvPr id="19" name="Shape 14"/>
          <p:cNvSpPr/>
          <p:nvPr/>
        </p:nvSpPr>
        <p:spPr>
          <a:xfrm>
            <a:off x="8302752" y="2542032"/>
            <a:ext cx="548640" cy="548640"/>
          </a:xfrm>
          <a:prstGeom prst="ellipse">
            <a:avLst/>
          </a:prstGeom>
          <a:solidFill>
            <a:srgbClr val="2DD4BF"/>
          </a:solidFill>
          <a:ln/>
        </p:spPr>
      </p:sp>
      <p:pic>
        <p:nvPicPr>
          <p:cNvPr id="20" name="Image 3" descr="preencoded.png">    </p:cNvPr>
          <p:cNvPicPr>
            <a:picLocks noChangeAspect="1"/>
          </p:cNvPicPr>
          <p:nvPr/>
        </p:nvPicPr>
        <p:blipFill>
          <a:blip r:embed="rId4"/>
          <a:stretch>
            <a:fillRect/>
          </a:stretch>
        </p:blipFill>
        <p:spPr>
          <a:xfrm>
            <a:off x="8430768" y="2670048"/>
            <a:ext cx="292608" cy="292608"/>
          </a:xfrm>
          <a:prstGeom prst="rect">
            <a:avLst/>
          </a:prstGeom>
        </p:spPr>
      </p:pic>
      <p:sp>
        <p:nvSpPr>
          <p:cNvPr id="21" name="Text 15"/>
          <p:cNvSpPr/>
          <p:nvPr/>
        </p:nvSpPr>
        <p:spPr>
          <a:xfrm>
            <a:off x="8961120" y="2578608"/>
            <a:ext cx="2377440" cy="45720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Vẫn lớn được</a:t>
            </a:r>
            <a:endParaRPr lang="en-US" sz="1500" dirty="0"/>
          </a:p>
        </p:txBody>
      </p:sp>
      <p:sp>
        <p:nvSpPr>
          <p:cNvPr id="22" name="Text 16"/>
          <p:cNvSpPr/>
          <p:nvPr/>
        </p:nvSpPr>
        <p:spPr>
          <a:xfrm>
            <a:off x="8321040" y="3200400"/>
            <a:ext cx="2926080" cy="731520"/>
          </a:xfrm>
          <a:prstGeom prst="rect">
            <a:avLst/>
          </a:prstGeom>
          <a:noFill/>
          <a:ln/>
        </p:spPr>
        <p:txBody>
          <a:bodyPr wrap="square" lIns="0" tIns="0" rIns="0" bIns="0" rtlCol="0" anchor="t"/>
          <a:lstStyle/>
          <a:p>
            <a:pPr indent="0" marL="0">
              <a:lnSpc>
                <a:spcPct val="102000"/>
              </a:lnSpc>
              <a:buNone/>
            </a:pPr>
            <a:r>
              <a:rPr lang="en-US" sz="1050" dirty="0">
                <a:solidFill>
                  <a:srgbClr val="ECFEFF"/>
                </a:solidFill>
                <a:latin typeface="Calibri" pitchFamily="34" charset="0"/>
                <a:ea typeface="Calibri" pitchFamily="34" charset="-122"/>
                <a:cs typeface="Calibri" pitchFamily="34" charset="-120"/>
              </a:rPr>
              <a:t>Net +64 tỷ Năm 5 · nền tảng để mở rộng TP.HCM &amp; tỉnh.</a:t>
            </a:r>
            <a:endParaRPr lang="en-US" sz="1050" dirty="0"/>
          </a:p>
        </p:txBody>
      </p:sp>
      <p:sp>
        <p:nvSpPr>
          <p:cNvPr id="23" name="Text 17"/>
          <p:cNvSpPr/>
          <p:nvPr/>
        </p:nvSpPr>
        <p:spPr>
          <a:xfrm>
            <a:off x="822960" y="4206240"/>
            <a:ext cx="10515600" cy="548640"/>
          </a:xfrm>
          <a:prstGeom prst="rect">
            <a:avLst/>
          </a:prstGeom>
          <a:noFill/>
          <a:ln/>
        </p:spPr>
        <p:txBody>
          <a:bodyPr wrap="square" lIns="0" tIns="0" rIns="0" bIns="0" rtlCol="0" anchor="ctr"/>
          <a:lstStyle/>
          <a:p>
            <a:pPr indent="0" marL="0">
              <a:lnSpc>
                <a:spcPct val="105000"/>
              </a:lnSpc>
              <a:buNone/>
            </a:pPr>
            <a:r>
              <a:rPr lang="en-US" sz="1500" i="1" dirty="0">
                <a:solidFill>
                  <a:srgbClr val="2DD4BF"/>
                </a:solidFill>
                <a:latin typeface="Calibri" pitchFamily="34" charset="0"/>
                <a:ea typeface="Calibri" pitchFamily="34" charset="-122"/>
                <a:cs typeface="Calibri" pitchFamily="34" charset="-120"/>
              </a:rPr>
              <a:t>Tầm nhìn: super-app mọi gia đình có bố mẹ già đều cài — bắt đầu từ Hà Nội, có lãi và tự chủ.</a:t>
            </a:r>
            <a:endParaRPr lang="en-US" sz="1500" dirty="0"/>
          </a:p>
        </p:txBody>
      </p:sp>
      <p:sp>
        <p:nvSpPr>
          <p:cNvPr id="24" name="Shape 18"/>
          <p:cNvSpPr/>
          <p:nvPr/>
        </p:nvSpPr>
        <p:spPr>
          <a:xfrm>
            <a:off x="822960" y="4983480"/>
            <a:ext cx="10515600" cy="566928"/>
          </a:xfrm>
          <a:prstGeom prst="roundRect">
            <a:avLst>
              <a:gd name="adj" fmla="val 50000"/>
            </a:avLst>
          </a:prstGeom>
          <a:solidFill>
            <a:srgbClr val="FB7185"/>
          </a:solidFill>
          <a:ln/>
        </p:spPr>
      </p:sp>
      <p:sp>
        <p:nvSpPr>
          <p:cNvPr id="25" name="Text 19"/>
          <p:cNvSpPr/>
          <p:nvPr/>
        </p:nvSpPr>
        <p:spPr>
          <a:xfrm>
            <a:off x="822960" y="4983480"/>
            <a:ext cx="105156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Một chạm để biết bố mẹ vẫn ổn.</a:t>
            </a:r>
            <a:endParaRPr lang="en-US" sz="1600" dirty="0"/>
          </a:p>
        </p:txBody>
      </p:sp>
      <p:sp>
        <p:nvSpPr>
          <p:cNvPr id="26" name="Text 20"/>
          <p:cNvSpPr/>
          <p:nvPr/>
        </p:nvSpPr>
        <p:spPr>
          <a:xfrm>
            <a:off x="822960" y="5715000"/>
            <a:ext cx="105156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startup.sem40hn.asia/eldercare</a:t>
            </a:r>
            <a:pPr algn="ctr" indent="0" marL="0">
              <a:buNone/>
            </a:pPr>
            <a:r>
              <a:rPr lang="en-US" sz="1200" dirty="0">
                <a:solidFill>
                  <a:srgbClr val="2DD4BF"/>
                </a:solidFill>
                <a:latin typeface="Calibri" pitchFamily="34" charset="0"/>
                <a:ea typeface="Calibri" pitchFamily="34" charset="-122"/>
                <a:cs typeface="Calibri" pitchFamily="34" charset="-120"/>
              </a:rPr>
              <a:t>   ·   /eldercare-plan   ·   /eldercare-app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ElderCare VN — Deck thuyết trình lớp</dc:title>
  <dc:subject>PptxGenJS Presentation</dc:subject>
  <dc:creator>Team ElderCare VN — SEM40HN</dc:creator>
  <cp:lastModifiedBy>Team ElderCare VN — SEM40HN</cp:lastModifiedBy>
  <cp:revision>1</cp:revision>
  <dcterms:created xsi:type="dcterms:W3CDTF">2026-06-13T09:42:54Z</dcterms:created>
  <dcterms:modified xsi:type="dcterms:W3CDTF">2026-06-13T09:42:54Z</dcterms:modified>
</cp:coreProperties>
</file>
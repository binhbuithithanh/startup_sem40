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Doanh thu thuần</c:v>
                </c:pt>
              </c:strCache>
            </c:strRef>
          </c:tx>
          <c:spPr>
            <a:solidFill>
              <a:srgbClr val="0D9488"/>
            </a:solidFill>
            <a:effectLst/>
          </c:spPr>
          <c:invertIfNegative val="0"/>
          <c:dLbls>
            <c:numFmt formatCode="#,##0" sourceLinked="0"/>
            <c:txPr>
              <a:bodyPr/>
              <a:lstStyle/>
              <a:p>
                <a:pPr>
                  <a:defRPr b="1" i="0" strike="noStrike" sz="8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Năm 1</c:v>
                  </c:pt>
                  <c:pt idx="1">
                    <c:v>Năm 2</c:v>
                  </c:pt>
                  <c:pt idx="2">
                    <c:v>Năm 3</c:v>
                  </c:pt>
                  <c:pt idx="3">
                    <c:v>Năm 4</c:v>
                  </c:pt>
                  <c:pt idx="4">
                    <c:v>Năm 5</c:v>
                  </c:pt>
                </c:lvl>
              </c:multiLvlStrCache>
            </c:multiLvlStrRef>
          </c:cat>
          <c:val>
            <c:numRef>
              <c:f>Sheet1!$B$2:$B$6</c:f>
              <c:numCache>
                <c:formatCode>General</c:formatCode>
                <c:ptCount val="5"/>
                <c:pt idx="0">
                  <c:v>7.9</c:v>
                </c:pt>
                <c:pt idx="1">
                  <c:v>45</c:v>
                </c:pt>
                <c:pt idx="2">
                  <c:v>185</c:v>
                </c:pt>
                <c:pt idx="3">
                  <c:v>504</c:v>
                </c:pt>
                <c:pt idx="4">
                  <c:v>948</c:v>
                </c:pt>
              </c:numCache>
            </c:numRef>
          </c:val>
        </c:ser>
        <c:ser>
          <c:idx val="1"/>
          <c:order val="1"/>
          <c:tx>
            <c:strRef>
              <c:f>Sheet1!$C$1</c:f>
              <c:strCache>
                <c:ptCount val="1"/>
                <c:pt idx="0">
                  <c:v>EBITDA</c:v>
                </c:pt>
              </c:strCache>
            </c:strRef>
          </c:tx>
          <c:spPr>
            <a:solidFill>
              <a:srgbClr val="FB7185"/>
            </a:solidFill>
            <a:effectLst/>
          </c:spPr>
          <c:invertIfNegative val="0"/>
          <c:dLbls>
            <c:numFmt formatCode="#,##0" sourceLinked="0"/>
            <c:txPr>
              <a:bodyPr/>
              <a:lstStyle/>
              <a:p>
                <a:pPr>
                  <a:defRPr b="1" i="0" strike="noStrike" sz="8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Năm 1</c:v>
                  </c:pt>
                  <c:pt idx="1">
                    <c:v>Năm 2</c:v>
                  </c:pt>
                  <c:pt idx="2">
                    <c:v>Năm 3</c:v>
                  </c:pt>
                  <c:pt idx="3">
                    <c:v>Năm 4</c:v>
                  </c:pt>
                  <c:pt idx="4">
                    <c:v>Năm 5</c:v>
                  </c:pt>
                </c:lvl>
              </c:multiLvlStrCache>
            </c:multiLvlStrRef>
          </c:cat>
          <c:val>
            <c:numRef>
              <c:f>Sheet1!$C$2:$C$6</c:f>
              <c:numCache>
                <c:formatCode>General</c:formatCode>
                <c:ptCount val="5"/>
                <c:pt idx="0">
                  <c:v>-28.7</c:v>
                </c:pt>
                <c:pt idx="1">
                  <c:v>-62.2</c:v>
                </c:pt>
                <c:pt idx="2">
                  <c:v>-97</c:v>
                </c:pt>
                <c:pt idx="3">
                  <c:v>-76.1</c:v>
                </c:pt>
                <c:pt idx="4">
                  <c:v>30.2</c:v>
                </c:pt>
              </c:numCache>
            </c:numRef>
          </c:val>
        </c:ser>
        <c:dLbls>
          <c:numFmt formatCode="#,##0" sourceLinked="0"/>
          <c:txPr>
            <a:bodyPr/>
            <a:lstStyle/>
            <a:p>
              <a:pPr>
                <a:defRPr b="1" i="0" strike="noStrike" sz="8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4748B"/>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thầy và cả lớp. Nhóm em xin giới thiệu ElderCare VN — một super-app chăm sóc sức khỏe người cao tuổi Việt Nam. Tagline của tụi em là 'Một chạm để biết bố mẹ vẫn ổn'. Việt Nam đang già hóa cực nhanh với 14,2 triệu người trên 60 tuổi, và đây là một thị trường tỉ đô đang bỏ ngỏ. Em sẽ dẫn cả lớp đi qua vấn đề, giải pháp 5 trụ cột, demo app, mô hình tài chính và kế hoạch gọi vốn.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Việt Nam đang già hóa nhanh nhất khu vực: 14,2 triệu người trên 60 tuổi hôm nay, dự báo gần 21 triệu vào 2034. Điều đáng sợ là tốc độ — Pháp mất 115 năm để già hóa, còn ta chỉ khoảng 20 năm, nghĩa là chưa kịp giàu đã già. Hệ quả là một thế hệ 'sandwich' kẹt giữa con nhỏ và bố mẹ già, trong khi bệnh viện quá tải và người dân phải tự chi gần một nửa chi phí y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nỗi đau khiến việc chăm sóc người già hôm nay bị phân mảnh. Lớn nhất là nỗi sợ té ngã — 'phút vàng' trôi qua khi không ai phát hiện kịp. Cộng thêm bệnh viện quá tải, thiếu hàng chục nghìn điều dưỡng, viện dưỡng lão vừa hiếm vừa đắt, và chi phí điều trị đột ngột như mổ khớp háng 28 đến 67 triệu. Không ai đang giải quyết trọn vẹn cả chuỗi này — đó là khoảng trống của ElderCare.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insight cốt lõi: người trả tiền không phải người dùng. Bà Hoa 72 tuổi mang ba bệnh mạn tính, sợ té ngã ban đêm, muốn sống tự chủ tại nhà. Còn người mở ví là Ông Tâm — con trai 38 tuổi ở xa, nơm nớp lo, sẵn sàng chi 300 đến 500 nghìn mỗi tháng để biết bố mẹ an toàn. Sản phẩm phải làm hài lòng cả hai: giao diện chữ to đơn giản cho bố mẹ, và dashboard an tâm cho con cái.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của tụi em là gộp toàn bộ hành trình chăm sóc vào MỘT super-app với 5 trụ cột: CareConnect cho điều dưỡng tại nhà, SmartBooking đặt khám bằng AI, TeleSpecialist khám video chuyên khoa, MedFin lo tài chính y tế, và CareSense giám sát té ngã bằng camera AI. Năm trụ cột này chia sẻ chung một lớp dữ liệu sức khỏe được mã hóa và phân quyền, tuân thủ Nghị định 13/2023 — đó chính là con hào cạnh tranh dài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trụ cột tạo khoảnh khắc 'wow' và là cú hích cảm xúc để khách hàng tải app. CareSense dùng camera AI computer vision phát hiện té ngã hoặc bất động bất thường, kết hợp wearable đo sinh hiệu liên tục. Khi vượt ngưỡng — té ngã, huyết áp tâm thu dưới 90, SpO2 dưới 92%, hay đi lạc khỏi bán kính 500 mét — hệ thống cảnh báo tức thì tới con cái và tổng đài. Chính cảnh báo té ngã này là 'WOW moment' giúp tụi em có referral rẻ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trụ cột tạo thói quen sử dụng hằng ngày. CareConnect là marketplace điều dưỡng đã xác minh, đặt theo giờ với giá 80 đến 150 nghìn, ElderCare ăn 20% hoa hồng và biên lợi nhuận tới 85%. SmartBooking dùng AI triage hỏi triệu chứng rồi định tuyến bệnh viện, đặt lịch và cả xe đưa đón, bán theo gói thuê bao 299 đến 599 nghìn mỗi tháng. Quan trọng là nó đồng bộ tái khám định kỳ cho người có nhiều bệnh mạn tính — đúng pain point của Bà Hoa.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TeleSpecialist mang bác sĩ chuyên khoa lão khoa, tim mạch, nội tiết vào tận nhà qua video, với AI tự tóm tắt sinh hiệu từ wearable cho bác sĩ — giúp giảm số lần bay về quê của Ông Tâm. MedFin giải quyết cú sốc chi phí: mổ khớp háng 28 đến 67 triệu được trả góp 0% hoặc lãi thấp, ElderCare hưởng NIM 6 đến 9% và hoa hồng bảo hiểm. Để kiểm soát rủi ro nợ xấu, tụi em dùng mô hình originate-to-distribute, ngân hàng cấp vốn còn ElderCare chấm điểm bằng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không chỉ là ý tưởng — tụi em đã build một app demo clickable và deploy thật. Điểm đặc biệt là persona switch: cùng một app nhưng hai giao diện, dashboard an tâm cho con cái và màn hình chữ to đơn giản cho bố mẹ. Demo cho thấy ngưỡng cảnh báo CareSense, AI gợi ý điều dưỡng 4.8 sao cách nhà 2 phút, MedFin trả góp, và tính năng quét QR xác thực thuốc chống thuốc giả. Cả lớp có thể vào link phía dưới để tự bấm thử.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quy mô thị trường: tổng cầu chăm sóc người cao tuổi Việt Nam — TAM — khoảng 115 nghìn tỷ đồng mỗi năm, tương đương gần 5 tỷ đô. Phân khúc tụi em phục vụ được — SAM — là các hộ gia đình thành thị có bố mẹ già và rành smartphone, khoảng 18 nghìn tỷ. Mục tiêu thực tế đến Năm 5 — SOM — là khoảng 900 tỷ, chừng 5% của SAM. Đây là một thị trường đủ lớn để xây một công ty tỉ đô.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khách hàng nhưng năm dòng doanh thu — đây là sức mạnh của mô hình super-app. Hoa hồng điều dưỡng biên 85%, thuê bao khám bệnh biên 60%, MedFin ăn lãi vay và hoa hồng bảo hiểm, CareSense cho thuê thiết bị, và bán dược thương mại. Khi trộn lại, biên lợi nhuận gộp hướng tới 62 đến 64%. Mô hình nhẹ tài sản với doanh thu định kỳ, nên càng scale càng khỏe.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Kinh tế đơn vị là phần thầy cô đánh giá kỹ nhất, nên tụi em đưa con số rõ ràng. Mỗi gia đình mang lại doanh thu thuần khoảng 150 nghìn mỗi tháng, chi phí thu hút khách 480 nghìn, vòng đời 30 tháng nên LTV khoảng 2,8 triệu. Tỷ lệ LTV trên CAC đạt 5,8 lần — vượt xa ngưỡng lành mạnh 3 lần — và hoàn vốn CAC chỉ trong 5,2 tháng. Đây là tín hiệu cho nhà đầu tư rằng càng đổ tiền marketing càng sinh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bức tranh tài chính 5 năm. Doanh thu thuần tăng từ 7,9 tỷ Năm 1 lên 948 tỷ Năm 5 — gấp hơn 100 lần. Như mọi startup đầu tư mạnh để chiếm thị trường, tụi em chấp nhận lỗ EBITDA trong 4 năm đầu, đỉnh lỗ lũy kế khoảng 289 tỷ cuối Năm 4, rồi đạt EBITDA dương 30,2 tỷ vào Năm 5. Nhân sự mở rộng từ 40 lên 950 người. Đây là các con số minh họa theo mô hình nội bộ.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Lộ trình gọi vốn gồm 4 vòng gắn với cột mốc rõ ràng. Seed 38 tỷ để xây MVP và pilot tại TP.HCM với 6 nghìn gia đình. Series A 150 tỷ mở Hà Nội Đà Nẵng và xin giấy phép MedFin. Series B 510 tỷ phủ toàn quốc và sản xuất thiết bị CareSense. Series C 1.275 tỷ để thống lĩnh và chuẩn bị IPO. Mỗi vòng chỉ mở khóa khi đạt milestone của vòng trước. Sau tất cả, nhà sáng lập vẫn giữ khoảng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Tụi em định giá bằng phương pháp DCF học từ CFA, với suất chiết khấu 20% tính theo CAPM cộng phần bù giai đoạn startup. Ở kịch bản cơ sở, giá trị doanh nghiệp khoảng 1.740 tỷ, tức 68 triệu đô. Kịch bản bi quan vẫn cho 18 triệu đô, còn kịch bản lạc quan lên tới 163 triệu đô. Dải định giá rộng này phản ánh đúng bản chất rủi ro của một startup giai đoạn sớm, nhưng cho thấy tiềm năng upside rất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một sản phẩm chạm vào dữ liệu sức khỏe và người già dễ tổn thương, tuân thủ không phải gánh nặng mà là lợi thế cạnh tranh bằng niềm tin. Tụi em bám sát Nghị định 13/2023 về bảo vệ dữ liệu, Điều 80 Luật Khám chữa bệnh cho telehealth, Luật Dược, và xác thực thuốc bằng QR chống hàng giả. Về đạo đức, camera và GPS chỉ bật khi có sự đồng ý rõ ràng, chấm điểm tín dụng phải công bằng, và caregiver được trả công tử tế. Niềm tin chính là con hào.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Đúng tinh thần môn học 'khởi nghiệp trong kỷ nguyên AI', AI không phải tính năng gắn thêm mà chạy xuyên suốt 4 tầng. Tầng sản phẩm: computer vision phát hiện té ngã, chatbot triage, AI tóm tắt hồ sơ. Tầng tài chính: dự báo churn, chấm điểm tín dụng, tối ưu chi phí marketing và giá. Tầng vận hành: ghép điều dưỡng bằng graph neural network và mô phỏng Monte Carlo cho runway. Tầng dữ liệu: cá nhân hóa nội dung và dự báo doanh thu theo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Tụi em không né rủi ro mà lập hẳn risk register với phương án dự phòng. Rủi ro tài chính lớn nhất là burn nhanh — phương án là theo dõi runway hằng tháng và có thể chuyển sang 'default alive', tức hòa vốn ở quy mô nhỏ. CAC tăng thì đa kênh và đẩy referral. AI phát hiện sai thì giữ con người trong vòng lặp và thêm cảm biến vật lý. MedFin nợ xấu thì dùng mô hình originate-to-distribute. Mỗi rủi ro đều có một backup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go-to-market: tụi em đi đa kênh, không phụ thuộc quá 40% vào một nền tảng. Kênh rẻ nhất là referral với CAC chỉ 180 nghìn, được kích hoạt bởi khoảnh khắc 'wow' khi app cứu một ca té ngã. Về lộ trình, tụi em ra mắt theo trình tự cảm xúc trước, tiền bạc sau: nửa đầu Năm 1 tung CareSense và điều dưỡng để tạo hook, rồi mới chuyển sang gói thuê bao, sau đó là MedFin và dược phẩm ở Năm 2 để tăng ARPU.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Đội ngũ gồm 6 nhà sáng lập, mỗi người phụ trách một trụ cột và một vai trò C-level: Minh Tân lo vận hành chăm sóc, Anh Hiếu là CTO phụ trách cloud và điều phối, Chị Liên là CFO lo MedFin, Chị Nhi làm phần cứng IoT cho CareSense, Thành Duy là CSO lo bảo mật và tuân thủ, Thanh Bình là CMO lo tăng trưởng. Cấu trúc này đảm bảo mỗi trụ cột đều có một người chủ rõ ràng ngay từ ngày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tầm nhìn của ElderCare VN là trở thành 'Ping An Good Doctor của người cao tuổi Việt Nam' — một super-app mà mọi gia đình có bố mẹ già đều cài đặt, hướng tới unicorn nội địa trong 8 đến 10 năm. Trước mắt tụi em kêu gọi vòng Seed 38 tỷ để xây MVP và pilot. Một lần nữa, tagline của tụi em: một chạm để biết bố mẹ vẫn ổn. Em xin cảm ơn thầy và cả lớp, rất mong nhận được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4E4A"/>
        </a:solidFill>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0F766E">
              <a:alpha val="65000"/>
            </a:srgbClr>
          </a:solidFill>
          <a:ln/>
        </p:spPr>
      </p:sp>
      <p:sp>
        <p:nvSpPr>
          <p:cNvPr id="3" name="Shape 1"/>
          <p:cNvSpPr/>
          <p:nvPr/>
        </p:nvSpPr>
        <p:spPr>
          <a:xfrm>
            <a:off x="10424160" y="3291840"/>
            <a:ext cx="3840480" cy="3840480"/>
          </a:xfrm>
          <a:prstGeom prst="ellipse">
            <a:avLst/>
          </a:prstGeom>
          <a:solidFill>
            <a:srgbClr val="0D9488">
              <a:alpha val="55000"/>
            </a:srgbClr>
          </a:solidFill>
          <a:ln/>
        </p:spPr>
      </p:sp>
      <p:sp>
        <p:nvSpPr>
          <p:cNvPr id="4" name="Shape 2"/>
          <p:cNvSpPr/>
          <p:nvPr/>
        </p:nvSpPr>
        <p:spPr>
          <a:xfrm>
            <a:off x="-1280160" y="4206240"/>
            <a:ext cx="3657600" cy="3657600"/>
          </a:xfrm>
          <a:prstGeom prst="ellipse">
            <a:avLst/>
          </a:prstGeom>
          <a:solidFill>
            <a:srgbClr val="0F766E">
              <a:alpha val="50000"/>
            </a:srgbClr>
          </a:solidFill>
          <a:ln/>
        </p:spPr>
      </p:sp>
      <p:sp>
        <p:nvSpPr>
          <p:cNvPr id="5" name="Shape 3"/>
          <p:cNvSpPr/>
          <p:nvPr/>
        </p:nvSpPr>
        <p:spPr>
          <a:xfrm>
            <a:off x="822960" y="777240"/>
            <a:ext cx="310896" cy="310896"/>
          </a:xfrm>
          <a:prstGeom prst="ellipse">
            <a:avLst/>
          </a:prstGeom>
          <a:solidFill>
            <a:srgbClr val="2DD4BF"/>
          </a:solidFill>
          <a:ln/>
        </p:spPr>
      </p:sp>
      <p:pic>
        <p:nvPicPr>
          <p:cNvPr id="6" name="Image 0" descr="preencoded.png">    </p:cNvPr>
          <p:cNvPicPr>
            <a:picLocks noChangeAspect="1"/>
          </p:cNvPicPr>
          <p:nvPr/>
        </p:nvPicPr>
        <p:blipFill>
          <a:blip r:embed="rId1"/>
          <a:stretch>
            <a:fillRect/>
          </a:stretch>
        </p:blipFill>
        <p:spPr>
          <a:xfrm>
            <a:off x="900684" y="854964"/>
            <a:ext cx="155448" cy="155448"/>
          </a:xfrm>
          <a:prstGeom prst="rect">
            <a:avLst/>
          </a:prstGeom>
        </p:spPr>
      </p:pic>
      <p:sp>
        <p:nvSpPr>
          <p:cNvPr id="7" name="Text 4"/>
          <p:cNvSpPr/>
          <p:nvPr/>
        </p:nvSpPr>
        <p:spPr>
          <a:xfrm>
            <a:off x="1243584" y="749808"/>
            <a:ext cx="5486400" cy="384048"/>
          </a:xfrm>
          <a:prstGeom prst="rect">
            <a:avLst/>
          </a:prstGeom>
          <a:noFill/>
          <a:ln/>
        </p:spPr>
        <p:txBody>
          <a:bodyPr wrap="square" lIns="0" tIns="0" rIns="0" bIns="0" rtlCol="0" anchor="ctr"/>
          <a:lstStyle/>
          <a:p>
            <a:pPr indent="0" marL="0">
              <a:buNone/>
            </a:pPr>
            <a:r>
              <a:rPr lang="en-US" sz="1500" b="1" spc="300" kern="0" dirty="0">
                <a:solidFill>
                  <a:srgbClr val="FFFFFF"/>
                </a:solidFill>
                <a:latin typeface="Trebuchet MS" pitchFamily="34" charset="0"/>
                <a:ea typeface="Trebuchet MS" pitchFamily="34" charset="-122"/>
                <a:cs typeface="Trebuchet MS" pitchFamily="34" charset="-120"/>
              </a:rPr>
              <a:t>ELDERCARE VN</a:t>
            </a:r>
            <a:endParaRPr lang="en-US" sz="1500" dirty="0"/>
          </a:p>
        </p:txBody>
      </p:sp>
      <p:sp>
        <p:nvSpPr>
          <p:cNvPr id="8" name="Text 5"/>
          <p:cNvSpPr/>
          <p:nvPr/>
        </p:nvSpPr>
        <p:spPr>
          <a:xfrm>
            <a:off x="822960" y="2148840"/>
            <a:ext cx="8778240" cy="182880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Trebuchet MS" pitchFamily="34" charset="0"/>
                <a:ea typeface="Trebuchet MS" pitchFamily="34" charset="-122"/>
                <a:cs typeface="Trebuchet MS" pitchFamily="34" charset="-120"/>
              </a:rPr>
              <a:t>Super-app sức khỏe</a:t>
            </a:r>
            <a:endParaRPr lang="en-US" sz="4600" dirty="0"/>
          </a:p>
          <a:p>
            <a:pPr indent="0" marL="0">
              <a:lnSpc>
                <a:spcPct val="102000"/>
              </a:lnSpc>
              <a:buNone/>
            </a:pPr>
            <a:r>
              <a:rPr lang="en-US" sz="4600" b="1" dirty="0">
                <a:solidFill>
                  <a:srgbClr val="FFFFFF"/>
                </a:solidFill>
                <a:latin typeface="Trebuchet MS" pitchFamily="34" charset="0"/>
                <a:ea typeface="Trebuchet MS" pitchFamily="34" charset="-122"/>
                <a:cs typeface="Trebuchet MS" pitchFamily="34" charset="-120"/>
              </a:rPr>
              <a:t>người cao tuổi Việt Nam</a:t>
            </a:r>
            <a:endParaRPr lang="en-US" sz="4600" dirty="0"/>
          </a:p>
        </p:txBody>
      </p:sp>
      <p:sp>
        <p:nvSpPr>
          <p:cNvPr id="9" name="Text 6"/>
          <p:cNvSpPr/>
          <p:nvPr/>
        </p:nvSpPr>
        <p:spPr>
          <a:xfrm>
            <a:off x="859536" y="3977640"/>
            <a:ext cx="8229600" cy="457200"/>
          </a:xfrm>
          <a:prstGeom prst="rect">
            <a:avLst/>
          </a:prstGeom>
          <a:noFill/>
          <a:ln/>
        </p:spPr>
        <p:txBody>
          <a:bodyPr wrap="square" lIns="0" tIns="0" rIns="0" bIns="0" rtlCol="0" anchor="ctr"/>
          <a:lstStyle/>
          <a:p>
            <a:pPr indent="0" marL="0">
              <a:buNone/>
            </a:pPr>
            <a:r>
              <a:rPr lang="en-US" sz="1900" i="1" dirty="0">
                <a:solidFill>
                  <a:srgbClr val="2DD4BF"/>
                </a:solidFill>
                <a:latin typeface="Calibri" pitchFamily="34" charset="0"/>
                <a:ea typeface="Calibri" pitchFamily="34" charset="-122"/>
                <a:cs typeface="Calibri" pitchFamily="34" charset="-120"/>
              </a:rPr>
              <a:t>Một chạm để biết bố mẹ vẫn ổn.</a:t>
            </a:r>
            <a:endParaRPr lang="en-US" sz="1900" dirty="0"/>
          </a:p>
        </p:txBody>
      </p:sp>
      <p:sp>
        <p:nvSpPr>
          <p:cNvPr id="10" name="Shape 7"/>
          <p:cNvSpPr/>
          <p:nvPr/>
        </p:nvSpPr>
        <p:spPr>
          <a:xfrm>
            <a:off x="822960" y="4754880"/>
            <a:ext cx="2112264" cy="457200"/>
          </a:xfrm>
          <a:prstGeom prst="roundRect">
            <a:avLst>
              <a:gd name="adj" fmla="val 50000"/>
            </a:avLst>
          </a:prstGeom>
          <a:solidFill>
            <a:srgbClr val="0F766E"/>
          </a:solidFill>
          <a:ln/>
        </p:spPr>
      </p:sp>
      <p:sp>
        <p:nvSpPr>
          <p:cNvPr id="11" name="Text 8"/>
          <p:cNvSpPr/>
          <p:nvPr/>
        </p:nvSpPr>
        <p:spPr>
          <a:xfrm>
            <a:off x="822960" y="4754880"/>
            <a:ext cx="2112264"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trụ cột chăm sóc</a:t>
            </a:r>
            <a:endParaRPr lang="en-US" sz="1200" dirty="0"/>
          </a:p>
        </p:txBody>
      </p:sp>
      <p:sp>
        <p:nvSpPr>
          <p:cNvPr id="12" name="Shape 9"/>
          <p:cNvSpPr/>
          <p:nvPr/>
        </p:nvSpPr>
        <p:spPr>
          <a:xfrm>
            <a:off x="3136392" y="4754880"/>
            <a:ext cx="2304288" cy="457200"/>
          </a:xfrm>
          <a:prstGeom prst="roundRect">
            <a:avLst>
              <a:gd name="adj" fmla="val 50000"/>
            </a:avLst>
          </a:prstGeom>
          <a:solidFill>
            <a:srgbClr val="0F766E"/>
          </a:solidFill>
          <a:ln/>
        </p:spPr>
      </p:sp>
      <p:sp>
        <p:nvSpPr>
          <p:cNvPr id="13" name="Text 10"/>
          <p:cNvSpPr/>
          <p:nvPr/>
        </p:nvSpPr>
        <p:spPr>
          <a:xfrm>
            <a:off x="3136392" y="4754880"/>
            <a:ext cx="2304288"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14,2 triệu người già</a:t>
            </a:r>
            <a:endParaRPr lang="en-US" sz="1200" dirty="0"/>
          </a:p>
        </p:txBody>
      </p:sp>
      <p:sp>
        <p:nvSpPr>
          <p:cNvPr id="14" name="Shape 11"/>
          <p:cNvSpPr/>
          <p:nvPr/>
        </p:nvSpPr>
        <p:spPr>
          <a:xfrm>
            <a:off x="5641848" y="4754880"/>
            <a:ext cx="1920240" cy="457200"/>
          </a:xfrm>
          <a:prstGeom prst="roundRect">
            <a:avLst>
              <a:gd name="adj" fmla="val 50000"/>
            </a:avLst>
          </a:prstGeom>
          <a:solidFill>
            <a:srgbClr val="0F766E"/>
          </a:solidFill>
          <a:ln/>
        </p:spPr>
      </p:sp>
      <p:sp>
        <p:nvSpPr>
          <p:cNvPr id="15" name="Text 12"/>
          <p:cNvSpPr/>
          <p:nvPr/>
        </p:nvSpPr>
        <p:spPr>
          <a:xfrm>
            <a:off x="5641848" y="4754880"/>
            <a:ext cx="19202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Thị trường tỉ đô</a:t>
            </a:r>
            <a:endParaRPr lang="en-US" sz="1200" dirty="0"/>
          </a:p>
        </p:txBody>
      </p:sp>
      <p:sp>
        <p:nvSpPr>
          <p:cNvPr id="16" name="Shape 13"/>
          <p:cNvSpPr/>
          <p:nvPr/>
        </p:nvSpPr>
        <p:spPr>
          <a:xfrm>
            <a:off x="822960" y="5897880"/>
            <a:ext cx="45720" cy="566928"/>
          </a:xfrm>
          <a:prstGeom prst="rect">
            <a:avLst/>
          </a:prstGeom>
          <a:solidFill>
            <a:srgbClr val="FB7185"/>
          </a:solidFill>
          <a:ln/>
        </p:spPr>
      </p:sp>
      <p:sp>
        <p:nvSpPr>
          <p:cNvPr id="17" name="Text 14"/>
          <p:cNvSpPr/>
          <p:nvPr/>
        </p:nvSpPr>
        <p:spPr>
          <a:xfrm>
            <a:off x="987552" y="5870448"/>
            <a:ext cx="9144000" cy="640080"/>
          </a:xfrm>
          <a:prstGeom prst="rect">
            <a:avLst/>
          </a:prstGeom>
          <a:noFill/>
          <a:ln/>
        </p:spPr>
        <p:txBody>
          <a:bodyPr wrap="square" lIns="0" tIns="0" rIns="0" bIns="0"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ETR601 — Khởi nghiệp &amp; Đổi mới sáng tạo trong Kỷ nguyên AI</a:t>
            </a:r>
            <a:endParaRPr lang="en-US" sz="1250" dirty="0"/>
          </a:p>
          <a:p>
            <a:pPr indent="0" marL="0">
              <a:lnSpc>
                <a:spcPct val="110000"/>
              </a:lnSpc>
              <a:buNone/>
            </a:pPr>
            <a:r>
              <a:rPr lang="en-US" sz="1100" dirty="0">
                <a:solidFill>
                  <a:srgbClr val="2DD4BF"/>
                </a:solidFill>
                <a:latin typeface="Calibri" pitchFamily="34" charset="0"/>
                <a:ea typeface="Calibri" pitchFamily="34" charset="-122"/>
                <a:cs typeface="Calibri" pitchFamily="34" charset="-120"/>
              </a:rPr>
              <a:t>FPT School of Business · SEM40HN · GVHD: Dr. Phạm Quang Ngọc</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VẤN ĐỀ &amp; BỐI CẢNH</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Việt Nam già hóa nhanh nhất khu vực</a:t>
            </a:r>
            <a:endParaRPr lang="en-US" sz="3000" dirty="0"/>
          </a:p>
        </p:txBody>
      </p:sp>
      <p:sp>
        <p:nvSpPr>
          <p:cNvPr id="5" name="Shape 3"/>
          <p:cNvSpPr/>
          <p:nvPr/>
        </p:nvSpPr>
        <p:spPr>
          <a:xfrm>
            <a:off x="640080" y="1783080"/>
            <a:ext cx="2606040"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783080"/>
            <a:ext cx="2606040" cy="64008"/>
          </a:xfrm>
          <a:prstGeom prst="rect">
            <a:avLst/>
          </a:prstGeom>
          <a:solidFill>
            <a:srgbClr val="0D9488"/>
          </a:solidFill>
          <a:ln/>
        </p:spPr>
      </p:sp>
      <p:sp>
        <p:nvSpPr>
          <p:cNvPr id="7" name="Text 5"/>
          <p:cNvSpPr/>
          <p:nvPr/>
        </p:nvSpPr>
        <p:spPr>
          <a:xfrm>
            <a:off x="731520" y="1947672"/>
            <a:ext cx="2423160" cy="891540"/>
          </a:xfrm>
          <a:prstGeom prst="rect">
            <a:avLst/>
          </a:prstGeom>
          <a:noFill/>
          <a:ln/>
        </p:spPr>
        <p:txBody>
          <a:bodyPr wrap="square" lIns="0" tIns="0" rIns="0" bIns="0" rtlCol="0" anchor="ctr"/>
          <a:lstStyle/>
          <a:p>
            <a:pPr algn="ctr" indent="0" marL="0">
              <a:buNone/>
            </a:pPr>
            <a:r>
              <a:rPr lang="en-US" sz="2600" b="1" dirty="0">
                <a:solidFill>
                  <a:srgbClr val="0D9488"/>
                </a:solidFill>
                <a:latin typeface="Trebuchet MS" pitchFamily="34" charset="0"/>
                <a:ea typeface="Trebuchet MS" pitchFamily="34" charset="-122"/>
                <a:cs typeface="Trebuchet MS" pitchFamily="34" charset="-120"/>
              </a:rPr>
              <a:t>14,2 triệu</a:t>
            </a:r>
            <a:endParaRPr lang="en-US" sz="2600" dirty="0"/>
          </a:p>
        </p:txBody>
      </p:sp>
      <p:sp>
        <p:nvSpPr>
          <p:cNvPr id="8" name="Text 6"/>
          <p:cNvSpPr/>
          <p:nvPr/>
        </p:nvSpPr>
        <p:spPr>
          <a:xfrm>
            <a:off x="749808" y="2781605"/>
            <a:ext cx="2386584" cy="71323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người ≥60 tuổi (2024)</a:t>
            </a:r>
            <a:endParaRPr lang="en-US" sz="1100" dirty="0"/>
          </a:p>
        </p:txBody>
      </p:sp>
      <p:sp>
        <p:nvSpPr>
          <p:cNvPr id="9" name="Shape 7"/>
          <p:cNvSpPr/>
          <p:nvPr/>
        </p:nvSpPr>
        <p:spPr>
          <a:xfrm>
            <a:off x="3429000" y="1783080"/>
            <a:ext cx="2606040"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10" name="Shape 8"/>
          <p:cNvSpPr/>
          <p:nvPr/>
        </p:nvSpPr>
        <p:spPr>
          <a:xfrm>
            <a:off x="3429000" y="1783080"/>
            <a:ext cx="2606040" cy="64008"/>
          </a:xfrm>
          <a:prstGeom prst="rect">
            <a:avLst/>
          </a:prstGeom>
          <a:solidFill>
            <a:srgbClr val="0F766E"/>
          </a:solidFill>
          <a:ln/>
        </p:spPr>
      </p:sp>
      <p:sp>
        <p:nvSpPr>
          <p:cNvPr id="11" name="Text 9"/>
          <p:cNvSpPr/>
          <p:nvPr/>
        </p:nvSpPr>
        <p:spPr>
          <a:xfrm>
            <a:off x="3520440" y="1947672"/>
            <a:ext cx="2423160" cy="891540"/>
          </a:xfrm>
          <a:prstGeom prst="rect">
            <a:avLst/>
          </a:prstGeom>
          <a:noFill/>
          <a:ln/>
        </p:spPr>
        <p:txBody>
          <a:bodyPr wrap="square" lIns="0" tIns="0" rIns="0" bIns="0" rtlCol="0" anchor="ctr"/>
          <a:lstStyle/>
          <a:p>
            <a:pPr algn="ctr" indent="0" marL="0">
              <a:buNone/>
            </a:pPr>
            <a:r>
              <a:rPr lang="en-US" sz="2600" b="1" dirty="0">
                <a:solidFill>
                  <a:srgbClr val="0F766E"/>
                </a:solidFill>
                <a:latin typeface="Trebuchet MS" pitchFamily="34" charset="0"/>
                <a:ea typeface="Trebuchet MS" pitchFamily="34" charset="-122"/>
                <a:cs typeface="Trebuchet MS" pitchFamily="34" charset="-120"/>
              </a:rPr>
              <a:t>20,9 triệu</a:t>
            </a:r>
            <a:endParaRPr lang="en-US" sz="2600" dirty="0"/>
          </a:p>
        </p:txBody>
      </p:sp>
      <p:sp>
        <p:nvSpPr>
          <p:cNvPr id="12" name="Text 10"/>
          <p:cNvSpPr/>
          <p:nvPr/>
        </p:nvSpPr>
        <p:spPr>
          <a:xfrm>
            <a:off x="3538728" y="2781605"/>
            <a:ext cx="2386584" cy="71323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dự báo ≥60 vào 2034</a:t>
            </a:r>
            <a:endParaRPr lang="en-US" sz="1100" dirty="0"/>
          </a:p>
        </p:txBody>
      </p:sp>
      <p:sp>
        <p:nvSpPr>
          <p:cNvPr id="13" name="Shape 11"/>
          <p:cNvSpPr/>
          <p:nvPr/>
        </p:nvSpPr>
        <p:spPr>
          <a:xfrm>
            <a:off x="6217920" y="1783080"/>
            <a:ext cx="2606040"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14" name="Shape 12"/>
          <p:cNvSpPr/>
          <p:nvPr/>
        </p:nvSpPr>
        <p:spPr>
          <a:xfrm>
            <a:off x="6217920" y="1783080"/>
            <a:ext cx="2606040" cy="64008"/>
          </a:xfrm>
          <a:prstGeom prst="rect">
            <a:avLst/>
          </a:prstGeom>
          <a:solidFill>
            <a:srgbClr val="FB7185"/>
          </a:solidFill>
          <a:ln/>
        </p:spPr>
      </p:sp>
      <p:sp>
        <p:nvSpPr>
          <p:cNvPr id="15" name="Text 13"/>
          <p:cNvSpPr/>
          <p:nvPr/>
        </p:nvSpPr>
        <p:spPr>
          <a:xfrm>
            <a:off x="6309360" y="1947672"/>
            <a:ext cx="2423160" cy="891540"/>
          </a:xfrm>
          <a:prstGeom prst="rect">
            <a:avLst/>
          </a:prstGeom>
          <a:noFill/>
          <a:ln/>
        </p:spPr>
        <p:txBody>
          <a:bodyPr wrap="square" lIns="0" tIns="0" rIns="0" bIns="0" rtlCol="0" anchor="ctr"/>
          <a:lstStyle/>
          <a:p>
            <a:pPr algn="ctr" indent="0" marL="0">
              <a:buNone/>
            </a:pPr>
            <a:r>
              <a:rPr lang="en-US" sz="2600" b="1" dirty="0">
                <a:solidFill>
                  <a:srgbClr val="FB7185"/>
                </a:solidFill>
                <a:latin typeface="Trebuchet MS" pitchFamily="34" charset="0"/>
                <a:ea typeface="Trebuchet MS" pitchFamily="34" charset="-122"/>
                <a:cs typeface="Trebuchet MS" pitchFamily="34" charset="-120"/>
              </a:rPr>
              <a:t>&gt;25%</a:t>
            </a:r>
            <a:endParaRPr lang="en-US" sz="2600" dirty="0"/>
          </a:p>
        </p:txBody>
      </p:sp>
      <p:sp>
        <p:nvSpPr>
          <p:cNvPr id="16" name="Text 14"/>
          <p:cNvSpPr/>
          <p:nvPr/>
        </p:nvSpPr>
        <p:spPr>
          <a:xfrm>
            <a:off x="6327648" y="2781605"/>
            <a:ext cx="2386584" cy="71323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dân số ≥60 vào 2050</a:t>
            </a:r>
            <a:endParaRPr lang="en-US" sz="1100" dirty="0"/>
          </a:p>
        </p:txBody>
      </p:sp>
      <p:sp>
        <p:nvSpPr>
          <p:cNvPr id="17" name="Shape 15"/>
          <p:cNvSpPr/>
          <p:nvPr/>
        </p:nvSpPr>
        <p:spPr>
          <a:xfrm>
            <a:off x="9006840" y="1783080"/>
            <a:ext cx="2542032"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18" name="Shape 16"/>
          <p:cNvSpPr/>
          <p:nvPr/>
        </p:nvSpPr>
        <p:spPr>
          <a:xfrm>
            <a:off x="9006840" y="1783080"/>
            <a:ext cx="2542032" cy="64008"/>
          </a:xfrm>
          <a:prstGeom prst="rect">
            <a:avLst/>
          </a:prstGeom>
          <a:solidFill>
            <a:srgbClr val="F5A623"/>
          </a:solidFill>
          <a:ln/>
        </p:spPr>
      </p:sp>
      <p:sp>
        <p:nvSpPr>
          <p:cNvPr id="19" name="Text 17"/>
          <p:cNvSpPr/>
          <p:nvPr/>
        </p:nvSpPr>
        <p:spPr>
          <a:xfrm>
            <a:off x="9098280" y="1947672"/>
            <a:ext cx="2359152" cy="891540"/>
          </a:xfrm>
          <a:prstGeom prst="rect">
            <a:avLst/>
          </a:prstGeom>
          <a:noFill/>
          <a:ln/>
        </p:spPr>
        <p:txBody>
          <a:bodyPr wrap="square" lIns="0" tIns="0" rIns="0" bIns="0" rtlCol="0" anchor="ctr"/>
          <a:lstStyle/>
          <a:p>
            <a:pPr algn="ctr" indent="0" marL="0">
              <a:buNone/>
            </a:pPr>
            <a:r>
              <a:rPr lang="en-US" sz="2600" b="1" dirty="0">
                <a:solidFill>
                  <a:srgbClr val="F5A623"/>
                </a:solidFill>
                <a:latin typeface="Trebuchet MS" pitchFamily="34" charset="0"/>
                <a:ea typeface="Trebuchet MS" pitchFamily="34" charset="-122"/>
                <a:cs typeface="Trebuchet MS" pitchFamily="34" charset="-120"/>
              </a:rPr>
              <a:t>~20 năm</a:t>
            </a:r>
            <a:endParaRPr lang="en-US" sz="2600" dirty="0"/>
          </a:p>
        </p:txBody>
      </p:sp>
      <p:sp>
        <p:nvSpPr>
          <p:cNvPr id="20" name="Text 18"/>
          <p:cNvSpPr/>
          <p:nvPr/>
        </p:nvSpPr>
        <p:spPr>
          <a:xfrm>
            <a:off x="9116568" y="2781605"/>
            <a:ext cx="2322576" cy="71323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tốc độ già hóa (Pháp: 115 năm)</a:t>
            </a:r>
            <a:endParaRPr lang="en-US" sz="1100" dirty="0"/>
          </a:p>
        </p:txBody>
      </p:sp>
      <p:sp>
        <p:nvSpPr>
          <p:cNvPr id="21" name="Shape 19"/>
          <p:cNvSpPr/>
          <p:nvPr/>
        </p:nvSpPr>
        <p:spPr>
          <a:xfrm>
            <a:off x="640080" y="3931920"/>
            <a:ext cx="10908792" cy="2331720"/>
          </a:xfrm>
          <a:prstGeom prst="roundRect">
            <a:avLst>
              <a:gd name="adj" fmla="val 3137"/>
            </a:avLst>
          </a:prstGeom>
          <a:solidFill>
            <a:srgbClr val="FFFFFF"/>
          </a:solidFill>
          <a:ln/>
          <a:effectLst>
            <a:outerShdw sx="100000" sy="100000" kx="0" ky="0" algn="bl" rotWithShape="0" blurRad="63500" dist="25400" dir="5400000">
              <a:srgbClr val="0F172A">
                <a:alpha val="10000"/>
              </a:srgbClr>
            </a:outerShdw>
          </a:effectLst>
        </p:spPr>
      </p:sp>
      <p:sp>
        <p:nvSpPr>
          <p:cNvPr id="22" name="Text 20"/>
          <p:cNvSpPr/>
          <p:nvPr/>
        </p:nvSpPr>
        <p:spPr>
          <a:xfrm>
            <a:off x="960120" y="4160520"/>
            <a:ext cx="10058400" cy="457200"/>
          </a:xfrm>
          <a:prstGeom prst="rect">
            <a:avLst/>
          </a:prstGeom>
          <a:noFill/>
          <a:ln/>
        </p:spPr>
        <p:txBody>
          <a:bodyPr wrap="square" lIns="0" tIns="0" rIns="0" bIns="0" rtlCol="0" anchor="ctr"/>
          <a:lstStyle/>
          <a:p>
            <a:pPr indent="0" marL="0">
              <a:buNone/>
            </a:pPr>
            <a:r>
              <a:rPr lang="en-US" sz="1800" b="1" dirty="0">
                <a:solidFill>
                  <a:srgbClr val="1E293B"/>
                </a:solidFill>
                <a:latin typeface="Trebuchet MS" pitchFamily="34" charset="0"/>
                <a:ea typeface="Trebuchet MS" pitchFamily="34" charset="-122"/>
                <a:cs typeface="Trebuchet MS" pitchFamily="34" charset="-120"/>
              </a:rPr>
              <a:t>Một thế hệ “sandwich” đang quá tải</a:t>
            </a:r>
            <a:endParaRPr lang="en-US" sz="1800" dirty="0"/>
          </a:p>
        </p:txBody>
      </p:sp>
      <p:sp>
        <p:nvSpPr>
          <p:cNvPr id="23" name="Text 21"/>
          <p:cNvSpPr/>
          <p:nvPr/>
        </p:nvSpPr>
        <p:spPr>
          <a:xfrm>
            <a:off x="960120" y="4617720"/>
            <a:ext cx="10424160" cy="1554480"/>
          </a:xfrm>
          <a:prstGeom prst="rect">
            <a:avLst/>
          </a:prstGeom>
          <a:noFill/>
          <a:ln/>
        </p:spPr>
        <p:txBody>
          <a:bodyPr wrap="square" lIns="0" tIns="0" rIns="0" bIns="0" rtlCol="0" anchor="t"/>
          <a:lstStyle/>
          <a:p>
            <a:pPr marL="342900" indent="-342900">
              <a:lnSpc>
                <a:spcPct val="100000"/>
              </a:lnSpc>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Con cái 30–50 tuổi vừa nuôi con nhỏ vừa lo bố mẹ già — phần lớn sống xa nhà 1–2 giờ bay.</a:t>
            </a:r>
            <a:endParaRPr lang="en-US" sz="1300" dirty="0"/>
          </a:p>
          <a:p>
            <a:pPr marL="342900" indent="-342900">
              <a:lnSpc>
                <a:spcPct val="100000"/>
              </a:lnSpc>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Người già mang ≥3 bệnh mạn tính: cao huyết áp 59,5% · tiểu đường 25,4% · suy tim 23,1%.</a:t>
            </a:r>
            <a:endParaRPr lang="en-US" sz="1300" dirty="0"/>
          </a:p>
          <a:p>
            <a:pPr marL="342900" indent="-342900">
              <a:lnSpc>
                <a:spcPct val="100000"/>
              </a:lnSpc>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Bệnh viện quá tải: phải xếp hàng từ 4–5h sáng, tái khám liên tục.</a:t>
            </a:r>
            <a:endParaRPr lang="en-US" sz="1300" dirty="0"/>
          </a:p>
          <a:p>
            <a:pPr marL="342900" indent="-342900">
              <a:lnSpc>
                <a:spcPct val="100000"/>
              </a:lnSpc>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Người dân tự chi trả 40–45% chi phí y tế — gấp đôi mức WHO khuyến nghị.</a:t>
            </a:r>
            <a:endParaRPr lang="en-US" sz="1300" dirty="0"/>
          </a:p>
        </p:txBody>
      </p:sp>
      <p:sp>
        <p:nvSpPr>
          <p:cNvPr id="24" name="Shape 22"/>
          <p:cNvSpPr/>
          <p:nvPr/>
        </p:nvSpPr>
        <p:spPr>
          <a:xfrm>
            <a:off x="0" y="6565392"/>
            <a:ext cx="12191695" cy="292608"/>
          </a:xfrm>
          <a:prstGeom prst="rect">
            <a:avLst/>
          </a:prstGeom>
          <a:solidFill>
            <a:srgbClr val="FFFFFF"/>
          </a:solidFill>
          <a:ln/>
        </p:spPr>
      </p:sp>
      <p:sp>
        <p:nvSpPr>
          <p:cNvPr id="25" name="Shape 23"/>
          <p:cNvSpPr/>
          <p:nvPr/>
        </p:nvSpPr>
        <p:spPr>
          <a:xfrm>
            <a:off x="0" y="6547104"/>
            <a:ext cx="12191695" cy="20117"/>
          </a:xfrm>
          <a:prstGeom prst="rect">
            <a:avLst/>
          </a:prstGeom>
          <a:solidFill>
            <a:srgbClr val="E2E8F0"/>
          </a:solidFill>
          <a:ln/>
        </p:spPr>
      </p:sp>
      <p:sp>
        <p:nvSpPr>
          <p:cNvPr id="26" name="Shape 24"/>
          <p:cNvSpPr/>
          <p:nvPr/>
        </p:nvSpPr>
        <p:spPr>
          <a:xfrm>
            <a:off x="457200" y="6624828"/>
            <a:ext cx="118872" cy="118872"/>
          </a:xfrm>
          <a:prstGeom prst="ellipse">
            <a:avLst/>
          </a:prstGeom>
          <a:solidFill>
            <a:srgbClr val="0D9488"/>
          </a:solidFill>
          <a:ln/>
        </p:spPr>
      </p:sp>
      <p:sp>
        <p:nvSpPr>
          <p:cNvPr id="27" name="Text 25"/>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28" name="Text 26"/>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29" name="Text 27"/>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VẤN ĐỀ</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5 nỗi đau khiến chăm sóc bị phân mảnh</a:t>
            </a:r>
            <a:endParaRPr lang="en-US" sz="3000" dirty="0"/>
          </a:p>
        </p:txBody>
      </p:sp>
      <p:sp>
        <p:nvSpPr>
          <p:cNvPr id="5" name="Shape 3"/>
          <p:cNvSpPr/>
          <p:nvPr/>
        </p:nvSpPr>
        <p:spPr>
          <a:xfrm>
            <a:off x="640080" y="1920240"/>
            <a:ext cx="2103120" cy="402336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1280160" y="2286000"/>
            <a:ext cx="822960" cy="822960"/>
          </a:xfrm>
          <a:prstGeom prst="ellipse">
            <a:avLst/>
          </a:prstGeom>
          <a:solidFill>
            <a:srgbClr val="FB7185"/>
          </a:solidFill>
          <a:ln/>
        </p:spPr>
      </p:sp>
      <p:pic>
        <p:nvPicPr>
          <p:cNvPr id="7" name="Image 0" descr="preencoded.png">    </p:cNvPr>
          <p:cNvPicPr>
            <a:picLocks noChangeAspect="1"/>
          </p:cNvPicPr>
          <p:nvPr/>
        </p:nvPicPr>
        <p:blipFill>
          <a:blip r:embed="rId1"/>
          <a:stretch>
            <a:fillRect/>
          </a:stretch>
        </p:blipFill>
        <p:spPr>
          <a:xfrm>
            <a:off x="1481328" y="2487168"/>
            <a:ext cx="420624" cy="420624"/>
          </a:xfrm>
          <a:prstGeom prst="rect">
            <a:avLst/>
          </a:prstGeom>
        </p:spPr>
      </p:pic>
      <p:sp>
        <p:nvSpPr>
          <p:cNvPr id="8" name="Text 5"/>
          <p:cNvSpPr/>
          <p:nvPr/>
        </p:nvSpPr>
        <p:spPr>
          <a:xfrm>
            <a:off x="749808" y="3291840"/>
            <a:ext cx="1883664" cy="640080"/>
          </a:xfrm>
          <a:prstGeom prst="rect">
            <a:avLst/>
          </a:prstGeom>
          <a:noFill/>
          <a:ln/>
        </p:spPr>
        <p:txBody>
          <a:bodyPr wrap="square" lIns="0" tIns="0" rIns="0" bIns="0" rtlCol="0" anchor="t"/>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Nỗi sợ té ngã</a:t>
            </a:r>
            <a:endParaRPr lang="en-US" sz="1400" dirty="0"/>
          </a:p>
        </p:txBody>
      </p:sp>
      <p:sp>
        <p:nvSpPr>
          <p:cNvPr id="9" name="Text 6"/>
          <p:cNvSpPr/>
          <p:nvPr/>
        </p:nvSpPr>
        <p:spPr>
          <a:xfrm>
            <a:off x="804672" y="3886200"/>
            <a:ext cx="1773936" cy="1828800"/>
          </a:xfrm>
          <a:prstGeom prst="rect">
            <a:avLst/>
          </a:prstGeom>
          <a:noFill/>
          <a:ln/>
        </p:spPr>
        <p:txBody>
          <a:bodyPr wrap="square" lIns="0" tIns="0" rIns="0" bIns="0" rtlCol="0" anchor="t"/>
          <a:lstStyle/>
          <a:p>
            <a:pPr algn="ctr" indent="0" marL="0">
              <a:lnSpc>
                <a:spcPct val="105000"/>
              </a:lnSpc>
              <a:buNone/>
            </a:pPr>
            <a:r>
              <a:rPr lang="en-US" sz="1100" dirty="0">
                <a:solidFill>
                  <a:srgbClr val="64748B"/>
                </a:solidFill>
                <a:latin typeface="Calibri" pitchFamily="34" charset="0"/>
                <a:ea typeface="Calibri" pitchFamily="34" charset="-122"/>
                <a:cs typeface="Calibri" pitchFamily="34" charset="-120"/>
              </a:rPr>
              <a:t>“Phút vàng” trôi qua khi té ngã ban đêm mà không ai phát hiện kịp.</a:t>
            </a:r>
            <a:endParaRPr lang="en-US" sz="1100" dirty="0"/>
          </a:p>
        </p:txBody>
      </p:sp>
      <p:sp>
        <p:nvSpPr>
          <p:cNvPr id="10" name="Shape 7"/>
          <p:cNvSpPr/>
          <p:nvPr/>
        </p:nvSpPr>
        <p:spPr>
          <a:xfrm>
            <a:off x="2907792" y="1920240"/>
            <a:ext cx="2103120" cy="402336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11" name="Shape 8"/>
          <p:cNvSpPr/>
          <p:nvPr/>
        </p:nvSpPr>
        <p:spPr>
          <a:xfrm>
            <a:off x="3547872" y="2286000"/>
            <a:ext cx="822960" cy="82296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3749040" y="2487168"/>
            <a:ext cx="420624" cy="420624"/>
          </a:xfrm>
          <a:prstGeom prst="rect">
            <a:avLst/>
          </a:prstGeom>
        </p:spPr>
      </p:pic>
      <p:sp>
        <p:nvSpPr>
          <p:cNvPr id="13" name="Text 9"/>
          <p:cNvSpPr/>
          <p:nvPr/>
        </p:nvSpPr>
        <p:spPr>
          <a:xfrm>
            <a:off x="3017520" y="3291840"/>
            <a:ext cx="1883664" cy="640080"/>
          </a:xfrm>
          <a:prstGeom prst="rect">
            <a:avLst/>
          </a:prstGeom>
          <a:noFill/>
          <a:ln/>
        </p:spPr>
        <p:txBody>
          <a:bodyPr wrap="square" lIns="0" tIns="0" rIns="0" bIns="0" rtlCol="0" anchor="t"/>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Bệnh viện quá tải</a:t>
            </a:r>
            <a:endParaRPr lang="en-US" sz="1400" dirty="0"/>
          </a:p>
        </p:txBody>
      </p:sp>
      <p:sp>
        <p:nvSpPr>
          <p:cNvPr id="14" name="Text 10"/>
          <p:cNvSpPr/>
          <p:nvPr/>
        </p:nvSpPr>
        <p:spPr>
          <a:xfrm>
            <a:off x="3072384" y="3886200"/>
            <a:ext cx="1773936" cy="1828800"/>
          </a:xfrm>
          <a:prstGeom prst="rect">
            <a:avLst/>
          </a:prstGeom>
          <a:noFill/>
          <a:ln/>
        </p:spPr>
        <p:txBody>
          <a:bodyPr wrap="square" lIns="0" tIns="0" rIns="0" bIns="0" rtlCol="0" anchor="t"/>
          <a:lstStyle/>
          <a:p>
            <a:pPr algn="ctr" indent="0" marL="0">
              <a:lnSpc>
                <a:spcPct val="105000"/>
              </a:lnSpc>
              <a:buNone/>
            </a:pPr>
            <a:r>
              <a:rPr lang="en-US" sz="1100" dirty="0">
                <a:solidFill>
                  <a:srgbClr val="64748B"/>
                </a:solidFill>
                <a:latin typeface="Calibri" pitchFamily="34" charset="0"/>
                <a:ea typeface="Calibri" pitchFamily="34" charset="-122"/>
                <a:cs typeface="Calibri" pitchFamily="34" charset="-120"/>
              </a:rPr>
              <a:t>Xếp hàng 4–5h sáng, tái khám liên miên cho nhiều bệnh mạn tính.</a:t>
            </a:r>
            <a:endParaRPr lang="en-US" sz="1100" dirty="0"/>
          </a:p>
        </p:txBody>
      </p:sp>
      <p:sp>
        <p:nvSpPr>
          <p:cNvPr id="15" name="Shape 11"/>
          <p:cNvSpPr/>
          <p:nvPr/>
        </p:nvSpPr>
        <p:spPr>
          <a:xfrm>
            <a:off x="5175504" y="1920240"/>
            <a:ext cx="2103120" cy="402336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16" name="Shape 12"/>
          <p:cNvSpPr/>
          <p:nvPr/>
        </p:nvSpPr>
        <p:spPr>
          <a:xfrm>
            <a:off x="5815584" y="2286000"/>
            <a:ext cx="822960" cy="822960"/>
          </a:xfrm>
          <a:prstGeom prst="ellipse">
            <a:avLst/>
          </a:prstGeom>
          <a:solidFill>
            <a:srgbClr val="0F766E"/>
          </a:solidFill>
          <a:ln/>
        </p:spPr>
      </p:sp>
      <p:pic>
        <p:nvPicPr>
          <p:cNvPr id="17" name="Image 2" descr="preencoded.png">    </p:cNvPr>
          <p:cNvPicPr>
            <a:picLocks noChangeAspect="1"/>
          </p:cNvPicPr>
          <p:nvPr/>
        </p:nvPicPr>
        <p:blipFill>
          <a:blip r:embed="rId3"/>
          <a:stretch>
            <a:fillRect/>
          </a:stretch>
        </p:blipFill>
        <p:spPr>
          <a:xfrm>
            <a:off x="6016752" y="2487168"/>
            <a:ext cx="420624" cy="420624"/>
          </a:xfrm>
          <a:prstGeom prst="rect">
            <a:avLst/>
          </a:prstGeom>
        </p:spPr>
      </p:pic>
      <p:sp>
        <p:nvSpPr>
          <p:cNvPr id="18" name="Text 13"/>
          <p:cNvSpPr/>
          <p:nvPr/>
        </p:nvSpPr>
        <p:spPr>
          <a:xfrm>
            <a:off x="5285232" y="3291840"/>
            <a:ext cx="1883664" cy="640080"/>
          </a:xfrm>
          <a:prstGeom prst="rect">
            <a:avLst/>
          </a:prstGeom>
          <a:noFill/>
          <a:ln/>
        </p:spPr>
        <p:txBody>
          <a:bodyPr wrap="square" lIns="0" tIns="0" rIns="0" bIns="0" rtlCol="0" anchor="t"/>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Thiếu điều dưỡng</a:t>
            </a:r>
            <a:endParaRPr lang="en-US" sz="1400" dirty="0"/>
          </a:p>
        </p:txBody>
      </p:sp>
      <p:sp>
        <p:nvSpPr>
          <p:cNvPr id="19" name="Text 14"/>
          <p:cNvSpPr/>
          <p:nvPr/>
        </p:nvSpPr>
        <p:spPr>
          <a:xfrm>
            <a:off x="5340096" y="3886200"/>
            <a:ext cx="1773936" cy="1828800"/>
          </a:xfrm>
          <a:prstGeom prst="rect">
            <a:avLst/>
          </a:prstGeom>
          <a:noFill/>
          <a:ln/>
        </p:spPr>
        <p:txBody>
          <a:bodyPr wrap="square" lIns="0" tIns="0" rIns="0" bIns="0" rtlCol="0" anchor="t"/>
          <a:lstStyle/>
          <a:p>
            <a:pPr algn="ctr" indent="0" marL="0">
              <a:lnSpc>
                <a:spcPct val="105000"/>
              </a:lnSpc>
              <a:buNone/>
            </a:pPr>
            <a:r>
              <a:rPr lang="en-US" sz="1100" dirty="0">
                <a:solidFill>
                  <a:srgbClr val="64748B"/>
                </a:solidFill>
                <a:latin typeface="Calibri" pitchFamily="34" charset="0"/>
                <a:ea typeface="Calibri" pitchFamily="34" charset="-122"/>
                <a:cs typeface="Calibri" pitchFamily="34" charset="-120"/>
              </a:rPr>
              <a:t>Chỉ 11,4 ĐD/10.000 dân; thiếu 40.000–50.000 ĐD tới 2030.</a:t>
            </a:r>
            <a:endParaRPr lang="en-US" sz="1100" dirty="0"/>
          </a:p>
        </p:txBody>
      </p:sp>
      <p:sp>
        <p:nvSpPr>
          <p:cNvPr id="20" name="Shape 15"/>
          <p:cNvSpPr/>
          <p:nvPr/>
        </p:nvSpPr>
        <p:spPr>
          <a:xfrm>
            <a:off x="7443216" y="1920240"/>
            <a:ext cx="2103120" cy="402336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21" name="Shape 16"/>
          <p:cNvSpPr/>
          <p:nvPr/>
        </p:nvSpPr>
        <p:spPr>
          <a:xfrm>
            <a:off x="8083296" y="2286000"/>
            <a:ext cx="822960" cy="822960"/>
          </a:xfrm>
          <a:prstGeom prst="ellipse">
            <a:avLst/>
          </a:prstGeom>
          <a:solidFill>
            <a:srgbClr val="F5A623"/>
          </a:solidFill>
          <a:ln/>
        </p:spPr>
      </p:sp>
      <p:pic>
        <p:nvPicPr>
          <p:cNvPr id="22" name="Image 3" descr="preencoded.png">    </p:cNvPr>
          <p:cNvPicPr>
            <a:picLocks noChangeAspect="1"/>
          </p:cNvPicPr>
          <p:nvPr/>
        </p:nvPicPr>
        <p:blipFill>
          <a:blip r:embed="rId4"/>
          <a:stretch>
            <a:fillRect/>
          </a:stretch>
        </p:blipFill>
        <p:spPr>
          <a:xfrm>
            <a:off x="8284464" y="2487168"/>
            <a:ext cx="420624" cy="420624"/>
          </a:xfrm>
          <a:prstGeom prst="rect">
            <a:avLst/>
          </a:prstGeom>
        </p:spPr>
      </p:pic>
      <p:sp>
        <p:nvSpPr>
          <p:cNvPr id="23" name="Text 17"/>
          <p:cNvSpPr/>
          <p:nvPr/>
        </p:nvSpPr>
        <p:spPr>
          <a:xfrm>
            <a:off x="7552944" y="3291840"/>
            <a:ext cx="1883664" cy="640080"/>
          </a:xfrm>
          <a:prstGeom prst="rect">
            <a:avLst/>
          </a:prstGeom>
          <a:noFill/>
          <a:ln/>
        </p:spPr>
        <p:txBody>
          <a:bodyPr wrap="square" lIns="0" tIns="0" rIns="0" bIns="0" rtlCol="0" anchor="t"/>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Viện dưỡng lão hiếm</a:t>
            </a:r>
            <a:endParaRPr lang="en-US" sz="1400" dirty="0"/>
          </a:p>
        </p:txBody>
      </p:sp>
      <p:sp>
        <p:nvSpPr>
          <p:cNvPr id="24" name="Text 18"/>
          <p:cNvSpPr/>
          <p:nvPr/>
        </p:nvSpPr>
        <p:spPr>
          <a:xfrm>
            <a:off x="7607808" y="3886200"/>
            <a:ext cx="1773936" cy="1828800"/>
          </a:xfrm>
          <a:prstGeom prst="rect">
            <a:avLst/>
          </a:prstGeom>
          <a:noFill/>
          <a:ln/>
        </p:spPr>
        <p:txBody>
          <a:bodyPr wrap="square" lIns="0" tIns="0" rIns="0" bIns="0" rtlCol="0" anchor="t"/>
          <a:lstStyle/>
          <a:p>
            <a:pPr algn="ctr" indent="0" marL="0">
              <a:lnSpc>
                <a:spcPct val="105000"/>
              </a:lnSpc>
              <a:buNone/>
            </a:pPr>
            <a:r>
              <a:rPr lang="en-US" sz="1100" dirty="0">
                <a:solidFill>
                  <a:srgbClr val="64748B"/>
                </a:solidFill>
                <a:latin typeface="Calibri" pitchFamily="34" charset="0"/>
                <a:ea typeface="Calibri" pitchFamily="34" charset="-122"/>
                <a:cs typeface="Calibri" pitchFamily="34" charset="-120"/>
              </a:rPr>
              <a:t>&gt;40 cơ sở cho 14 triệu người già; 7–20 triệu/tháng — ngoài tầm.</a:t>
            </a:r>
            <a:endParaRPr lang="en-US" sz="1100" dirty="0"/>
          </a:p>
        </p:txBody>
      </p:sp>
      <p:sp>
        <p:nvSpPr>
          <p:cNvPr id="25" name="Shape 19"/>
          <p:cNvSpPr/>
          <p:nvPr/>
        </p:nvSpPr>
        <p:spPr>
          <a:xfrm>
            <a:off x="9710928" y="1920240"/>
            <a:ext cx="2103120" cy="402336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26" name="Shape 20"/>
          <p:cNvSpPr/>
          <p:nvPr/>
        </p:nvSpPr>
        <p:spPr>
          <a:xfrm>
            <a:off x="10351008" y="2286000"/>
            <a:ext cx="822960" cy="822960"/>
          </a:xfrm>
          <a:prstGeom prst="ellipse">
            <a:avLst/>
          </a:prstGeom>
          <a:solidFill>
            <a:srgbClr val="134E4A"/>
          </a:solidFill>
          <a:ln/>
        </p:spPr>
      </p:sp>
      <p:pic>
        <p:nvPicPr>
          <p:cNvPr id="27" name="Image 4" descr="preencoded.png">    </p:cNvPr>
          <p:cNvPicPr>
            <a:picLocks noChangeAspect="1"/>
          </p:cNvPicPr>
          <p:nvPr/>
        </p:nvPicPr>
        <p:blipFill>
          <a:blip r:embed="rId5"/>
          <a:stretch>
            <a:fillRect/>
          </a:stretch>
        </p:blipFill>
        <p:spPr>
          <a:xfrm>
            <a:off x="10552176" y="2487168"/>
            <a:ext cx="420624" cy="420624"/>
          </a:xfrm>
          <a:prstGeom prst="rect">
            <a:avLst/>
          </a:prstGeom>
        </p:spPr>
      </p:pic>
      <p:sp>
        <p:nvSpPr>
          <p:cNvPr id="28" name="Text 21"/>
          <p:cNvSpPr/>
          <p:nvPr/>
        </p:nvSpPr>
        <p:spPr>
          <a:xfrm>
            <a:off x="9820656" y="3291840"/>
            <a:ext cx="1883664" cy="640080"/>
          </a:xfrm>
          <a:prstGeom prst="rect">
            <a:avLst/>
          </a:prstGeom>
          <a:noFill/>
          <a:ln/>
        </p:spPr>
        <p:txBody>
          <a:bodyPr wrap="square" lIns="0" tIns="0" rIns="0" bIns="0" rtlCol="0" anchor="t"/>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Chi phí đột ngột</a:t>
            </a:r>
            <a:endParaRPr lang="en-US" sz="1400" dirty="0"/>
          </a:p>
        </p:txBody>
      </p:sp>
      <p:sp>
        <p:nvSpPr>
          <p:cNvPr id="29" name="Text 22"/>
          <p:cNvSpPr/>
          <p:nvPr/>
        </p:nvSpPr>
        <p:spPr>
          <a:xfrm>
            <a:off x="9875520" y="3886200"/>
            <a:ext cx="1773936" cy="1828800"/>
          </a:xfrm>
          <a:prstGeom prst="rect">
            <a:avLst/>
          </a:prstGeom>
          <a:noFill/>
          <a:ln/>
        </p:spPr>
        <p:txBody>
          <a:bodyPr wrap="square" lIns="0" tIns="0" rIns="0" bIns="0" rtlCol="0" anchor="t"/>
          <a:lstStyle/>
          <a:p>
            <a:pPr algn="ctr" indent="0" marL="0">
              <a:lnSpc>
                <a:spcPct val="105000"/>
              </a:lnSpc>
              <a:buNone/>
            </a:pPr>
            <a:r>
              <a:rPr lang="en-US" sz="1100" dirty="0">
                <a:solidFill>
                  <a:srgbClr val="64748B"/>
                </a:solidFill>
                <a:latin typeface="Calibri" pitchFamily="34" charset="0"/>
                <a:ea typeface="Calibri" pitchFamily="34" charset="-122"/>
                <a:cs typeface="Calibri" pitchFamily="34" charset="-120"/>
              </a:rPr>
              <a:t>Mổ khớp háng 28–67 triệu; tự chi 40–45% chi phí y tế.</a:t>
            </a:r>
            <a:endParaRPr lang="en-US" sz="1100" dirty="0"/>
          </a:p>
        </p:txBody>
      </p:sp>
      <p:sp>
        <p:nvSpPr>
          <p:cNvPr id="30" name="Shape 23"/>
          <p:cNvSpPr/>
          <p:nvPr/>
        </p:nvSpPr>
        <p:spPr>
          <a:xfrm>
            <a:off x="0" y="6565392"/>
            <a:ext cx="12191695" cy="292608"/>
          </a:xfrm>
          <a:prstGeom prst="rect">
            <a:avLst/>
          </a:prstGeom>
          <a:solidFill>
            <a:srgbClr val="FFFFFF"/>
          </a:solidFill>
          <a:ln/>
        </p:spPr>
      </p:sp>
      <p:sp>
        <p:nvSpPr>
          <p:cNvPr id="31" name="Shape 24"/>
          <p:cNvSpPr/>
          <p:nvPr/>
        </p:nvSpPr>
        <p:spPr>
          <a:xfrm>
            <a:off x="0" y="6547104"/>
            <a:ext cx="12191695" cy="20117"/>
          </a:xfrm>
          <a:prstGeom prst="rect">
            <a:avLst/>
          </a:prstGeom>
          <a:solidFill>
            <a:srgbClr val="E2E8F0"/>
          </a:solidFill>
          <a:ln/>
        </p:spPr>
      </p:sp>
      <p:sp>
        <p:nvSpPr>
          <p:cNvPr id="32" name="Shape 25"/>
          <p:cNvSpPr/>
          <p:nvPr/>
        </p:nvSpPr>
        <p:spPr>
          <a:xfrm>
            <a:off x="457200" y="6624828"/>
            <a:ext cx="118872" cy="118872"/>
          </a:xfrm>
          <a:prstGeom prst="ellipse">
            <a:avLst/>
          </a:prstGeom>
          <a:solidFill>
            <a:srgbClr val="0D9488"/>
          </a:solidFill>
          <a:ln/>
        </p:spPr>
      </p:sp>
      <p:sp>
        <p:nvSpPr>
          <p:cNvPr id="33" name="Text 26"/>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34" name="Text 27"/>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35" name="Text 28"/>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INSIGHT KHÁCH HÀNG KÉP</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Người trả tiền ≠ người dùng</a:t>
            </a:r>
            <a:endParaRPr lang="en-US" sz="3000" dirty="0"/>
          </a:p>
        </p:txBody>
      </p:sp>
      <p:sp>
        <p:nvSpPr>
          <p:cNvPr id="5" name="Shape 3"/>
          <p:cNvSpPr/>
          <p:nvPr/>
        </p:nvSpPr>
        <p:spPr>
          <a:xfrm>
            <a:off x="640080" y="1783080"/>
            <a:ext cx="5440680" cy="4480560"/>
          </a:xfrm>
          <a:prstGeom prst="roundRect">
            <a:avLst>
              <a:gd name="adj" fmla="val 1633"/>
            </a:avLst>
          </a:prstGeom>
          <a:solidFill>
            <a:srgbClr val="FFFFFF"/>
          </a:solidFill>
          <a:ln/>
          <a:effectLst>
            <a:outerShdw sx="100000" sy="100000" kx="0" ky="0" algn="bl" rotWithShape="0" blurRad="114300" dist="38100" dir="5400000">
              <a:srgbClr val="0F172A">
                <a:alpha val="12000"/>
              </a:srgbClr>
            </a:outerShdw>
          </a:effectLst>
        </p:spPr>
      </p:sp>
      <p:sp>
        <p:nvSpPr>
          <p:cNvPr id="6" name="Shape 4"/>
          <p:cNvSpPr/>
          <p:nvPr/>
        </p:nvSpPr>
        <p:spPr>
          <a:xfrm>
            <a:off x="640080" y="1783080"/>
            <a:ext cx="5440680" cy="82296"/>
          </a:xfrm>
          <a:prstGeom prst="rect">
            <a:avLst/>
          </a:prstGeom>
          <a:solidFill>
            <a:srgbClr val="FB7185"/>
          </a:solidFill>
          <a:ln/>
        </p:spPr>
      </p:sp>
      <p:sp>
        <p:nvSpPr>
          <p:cNvPr id="7" name="Shape 5"/>
          <p:cNvSpPr/>
          <p:nvPr/>
        </p:nvSpPr>
        <p:spPr>
          <a:xfrm>
            <a:off x="1005840" y="2148840"/>
            <a:ext cx="960120" cy="960120"/>
          </a:xfrm>
          <a:prstGeom prst="ellipse">
            <a:avLst/>
          </a:prstGeom>
          <a:solidFill>
            <a:srgbClr val="FB7185"/>
          </a:solidFill>
          <a:ln/>
        </p:spPr>
      </p:sp>
      <p:pic>
        <p:nvPicPr>
          <p:cNvPr id="8" name="Image 0" descr="preencoded.png">    </p:cNvPr>
          <p:cNvPicPr>
            <a:picLocks noChangeAspect="1"/>
          </p:cNvPicPr>
          <p:nvPr/>
        </p:nvPicPr>
        <p:blipFill>
          <a:blip r:embed="rId1"/>
          <a:stretch>
            <a:fillRect/>
          </a:stretch>
        </p:blipFill>
        <p:spPr>
          <a:xfrm>
            <a:off x="1243584" y="2386584"/>
            <a:ext cx="484632" cy="484632"/>
          </a:xfrm>
          <a:prstGeom prst="rect">
            <a:avLst/>
          </a:prstGeom>
        </p:spPr>
      </p:pic>
      <p:sp>
        <p:nvSpPr>
          <p:cNvPr id="9" name="Text 6"/>
          <p:cNvSpPr/>
          <p:nvPr/>
        </p:nvSpPr>
        <p:spPr>
          <a:xfrm>
            <a:off x="2148840" y="2194560"/>
            <a:ext cx="3749040" cy="292608"/>
          </a:xfrm>
          <a:prstGeom prst="rect">
            <a:avLst/>
          </a:prstGeom>
          <a:noFill/>
          <a:ln/>
        </p:spPr>
        <p:txBody>
          <a:bodyPr wrap="square" lIns="0" tIns="0" rIns="0" bIns="0" rtlCol="0" anchor="ctr"/>
          <a:lstStyle/>
          <a:p>
            <a:pPr indent="0" marL="0">
              <a:buNone/>
            </a:pPr>
            <a:r>
              <a:rPr lang="en-US" sz="1100" b="1" spc="100" kern="0" dirty="0">
                <a:solidFill>
                  <a:srgbClr val="FB7185"/>
                </a:solidFill>
                <a:latin typeface="Trebuchet MS" pitchFamily="34" charset="0"/>
                <a:ea typeface="Trebuchet MS" pitchFamily="34" charset="-122"/>
                <a:cs typeface="Trebuchet MS" pitchFamily="34" charset="-120"/>
              </a:rPr>
              <a:t>NGƯỜI DÙNG · BỐ MẸ ≥60</a:t>
            </a:r>
            <a:endParaRPr lang="en-US" sz="1100" dirty="0"/>
          </a:p>
        </p:txBody>
      </p:sp>
      <p:sp>
        <p:nvSpPr>
          <p:cNvPr id="10" name="Text 7"/>
          <p:cNvSpPr/>
          <p:nvPr/>
        </p:nvSpPr>
        <p:spPr>
          <a:xfrm>
            <a:off x="2148840" y="2450592"/>
            <a:ext cx="3749040" cy="45720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Bà Hoa</a:t>
            </a:r>
            <a:endParaRPr lang="en-US" sz="2200" dirty="0"/>
          </a:p>
        </p:txBody>
      </p:sp>
      <p:sp>
        <p:nvSpPr>
          <p:cNvPr id="11" name="Text 8"/>
          <p:cNvSpPr/>
          <p:nvPr/>
        </p:nvSpPr>
        <p:spPr>
          <a:xfrm>
            <a:off x="2148840" y="2907792"/>
            <a:ext cx="374904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72 tuổi · sống một mình · con ở xa</a:t>
            </a:r>
            <a:endParaRPr lang="en-US" sz="1100" dirty="0"/>
          </a:p>
        </p:txBody>
      </p:sp>
      <p:sp>
        <p:nvSpPr>
          <p:cNvPr id="12" name="Text 9"/>
          <p:cNvSpPr/>
          <p:nvPr/>
        </p:nvSpPr>
        <p:spPr>
          <a:xfrm>
            <a:off x="1024128" y="3383280"/>
            <a:ext cx="4709160" cy="1828800"/>
          </a:xfrm>
          <a:prstGeom prst="rect">
            <a:avLst/>
          </a:prstGeom>
          <a:noFill/>
          <a:ln/>
        </p:spPr>
        <p:txBody>
          <a:bodyPr wrap="square" lIns="0" tIns="0" rIns="0" bIns="0" rtlCol="0" anchor="t"/>
          <a:lstStyle/>
          <a:p>
            <a:pPr marL="177800" indent="-177800">
              <a:lnSpc>
                <a:spcPct val="100000"/>
              </a:lnSpc>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Cao huyết áp + tiểu đường type 2 + suy tim nhẹ.</a:t>
            </a:r>
            <a:endParaRPr lang="en-US" sz="1150" dirty="0"/>
          </a:p>
          <a:p>
            <a:pPr marL="177800" indent="-177800">
              <a:lnSpc>
                <a:spcPct val="100000"/>
              </a:lnSpc>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Sợ té ngã ban đêm không ai biết.</a:t>
            </a:r>
            <a:endParaRPr lang="en-US" sz="1150" dirty="0"/>
          </a:p>
          <a:p>
            <a:pPr marL="177800" indent="-177800">
              <a:lnSpc>
                <a:spcPct val="100000"/>
              </a:lnSpc>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Muốn sống tự chủ tại nhà, không vào viện dưỡng lão.</a:t>
            </a:r>
            <a:endParaRPr lang="en-US" sz="1150" dirty="0"/>
          </a:p>
        </p:txBody>
      </p:sp>
      <p:sp>
        <p:nvSpPr>
          <p:cNvPr id="13" name="Shape 10"/>
          <p:cNvSpPr/>
          <p:nvPr/>
        </p:nvSpPr>
        <p:spPr>
          <a:xfrm>
            <a:off x="1024128" y="5440680"/>
            <a:ext cx="4709160" cy="658368"/>
          </a:xfrm>
          <a:prstGeom prst="roundRect">
            <a:avLst>
              <a:gd name="adj" fmla="val 8333"/>
            </a:avLst>
          </a:prstGeom>
          <a:solidFill>
            <a:srgbClr val="F1F5F9"/>
          </a:solidFill>
          <a:ln/>
        </p:spPr>
      </p:sp>
      <p:sp>
        <p:nvSpPr>
          <p:cNvPr id="14" name="Text 11"/>
          <p:cNvSpPr/>
          <p:nvPr/>
        </p:nvSpPr>
        <p:spPr>
          <a:xfrm>
            <a:off x="1188720" y="5468112"/>
            <a:ext cx="4389120" cy="603504"/>
          </a:xfrm>
          <a:prstGeom prst="rect">
            <a:avLst/>
          </a:prstGeom>
          <a:noFill/>
          <a:ln/>
        </p:spPr>
        <p:txBody>
          <a:bodyPr wrap="square" lIns="0" tIns="0" rIns="0" bIns="0" rtlCol="0" anchor="ctr"/>
          <a:lstStyle/>
          <a:p>
            <a:pPr indent="0" marL="0">
              <a:buNone/>
            </a:pPr>
            <a:r>
              <a:rPr lang="en-US" sz="1050" i="1" dirty="0">
                <a:solidFill>
                  <a:srgbClr val="0F766E"/>
                </a:solidFill>
                <a:latin typeface="Calibri" pitchFamily="34" charset="0"/>
                <a:ea typeface="Calibri" pitchFamily="34" charset="-122"/>
                <a:cs typeface="Calibri" pitchFamily="34" charset="-120"/>
              </a:rPr>
              <a:t>“Con cứ yên tâm ở Sài Gòn, mẹ chỉ cần có người chăm và biết khi nào gọi cấp cứu.”</a:t>
            </a:r>
            <a:endParaRPr lang="en-US" sz="1050" dirty="0"/>
          </a:p>
        </p:txBody>
      </p:sp>
      <p:sp>
        <p:nvSpPr>
          <p:cNvPr id="15" name="Shape 12"/>
          <p:cNvSpPr/>
          <p:nvPr/>
        </p:nvSpPr>
        <p:spPr>
          <a:xfrm>
            <a:off x="6263640" y="1783080"/>
            <a:ext cx="5440680" cy="4480560"/>
          </a:xfrm>
          <a:prstGeom prst="roundRect">
            <a:avLst>
              <a:gd name="adj" fmla="val 1633"/>
            </a:avLst>
          </a:prstGeom>
          <a:solidFill>
            <a:srgbClr val="FFFFFF"/>
          </a:solidFill>
          <a:ln/>
          <a:effectLst>
            <a:outerShdw sx="100000" sy="100000" kx="0" ky="0" algn="bl" rotWithShape="0" blurRad="114300" dist="38100" dir="5400000">
              <a:srgbClr val="0F172A">
                <a:alpha val="12000"/>
              </a:srgbClr>
            </a:outerShdw>
          </a:effectLst>
        </p:spPr>
      </p:sp>
      <p:sp>
        <p:nvSpPr>
          <p:cNvPr id="16" name="Shape 13"/>
          <p:cNvSpPr/>
          <p:nvPr/>
        </p:nvSpPr>
        <p:spPr>
          <a:xfrm>
            <a:off x="6263640" y="1783080"/>
            <a:ext cx="5440680" cy="82296"/>
          </a:xfrm>
          <a:prstGeom prst="rect">
            <a:avLst/>
          </a:prstGeom>
          <a:solidFill>
            <a:srgbClr val="0D9488"/>
          </a:solidFill>
          <a:ln/>
        </p:spPr>
      </p:sp>
      <p:sp>
        <p:nvSpPr>
          <p:cNvPr id="17" name="Shape 14"/>
          <p:cNvSpPr/>
          <p:nvPr/>
        </p:nvSpPr>
        <p:spPr>
          <a:xfrm>
            <a:off x="6629400" y="2148840"/>
            <a:ext cx="960120" cy="960120"/>
          </a:xfrm>
          <a:prstGeom prst="ellipse">
            <a:avLst/>
          </a:prstGeom>
          <a:solidFill>
            <a:srgbClr val="0D9488"/>
          </a:solidFill>
          <a:ln/>
        </p:spPr>
      </p:sp>
      <p:pic>
        <p:nvPicPr>
          <p:cNvPr id="18" name="Image 1" descr="preencoded.png">    </p:cNvPr>
          <p:cNvPicPr>
            <a:picLocks noChangeAspect="1"/>
          </p:cNvPicPr>
          <p:nvPr/>
        </p:nvPicPr>
        <p:blipFill>
          <a:blip r:embed="rId2"/>
          <a:stretch>
            <a:fillRect/>
          </a:stretch>
        </p:blipFill>
        <p:spPr>
          <a:xfrm>
            <a:off x="6867144" y="2386584"/>
            <a:ext cx="484632" cy="484632"/>
          </a:xfrm>
          <a:prstGeom prst="rect">
            <a:avLst/>
          </a:prstGeom>
        </p:spPr>
      </p:pic>
      <p:sp>
        <p:nvSpPr>
          <p:cNvPr id="19" name="Text 15"/>
          <p:cNvSpPr/>
          <p:nvPr/>
        </p:nvSpPr>
        <p:spPr>
          <a:xfrm>
            <a:off x="7772400" y="2194560"/>
            <a:ext cx="3749040" cy="292608"/>
          </a:xfrm>
          <a:prstGeom prst="rect">
            <a:avLst/>
          </a:prstGeom>
          <a:noFill/>
          <a:ln/>
        </p:spPr>
        <p:txBody>
          <a:bodyPr wrap="square" lIns="0" tIns="0" rIns="0" bIns="0" rtlCol="0" anchor="ctr"/>
          <a:lstStyle/>
          <a:p>
            <a:pPr indent="0" marL="0">
              <a:buNone/>
            </a:pPr>
            <a:r>
              <a:rPr lang="en-US" sz="1100" b="1" spc="100" kern="0" dirty="0">
                <a:solidFill>
                  <a:srgbClr val="0D9488"/>
                </a:solidFill>
                <a:latin typeface="Trebuchet MS" pitchFamily="34" charset="0"/>
                <a:ea typeface="Trebuchet MS" pitchFamily="34" charset="-122"/>
                <a:cs typeface="Trebuchet MS" pitchFamily="34" charset="-120"/>
              </a:rPr>
              <a:t>NGƯỜI TRẢ TIỀN · CON CÁI 30–50</a:t>
            </a:r>
            <a:endParaRPr lang="en-US" sz="1100" dirty="0"/>
          </a:p>
        </p:txBody>
      </p:sp>
      <p:sp>
        <p:nvSpPr>
          <p:cNvPr id="20" name="Text 16"/>
          <p:cNvSpPr/>
          <p:nvPr/>
        </p:nvSpPr>
        <p:spPr>
          <a:xfrm>
            <a:off x="7772400" y="2450592"/>
            <a:ext cx="3749040" cy="457200"/>
          </a:xfrm>
          <a:prstGeom prst="rect">
            <a:avLst/>
          </a:prstGeom>
          <a:noFill/>
          <a:ln/>
        </p:spPr>
        <p:txBody>
          <a:bodyPr wrap="square" lIns="0" tIns="0" rIns="0" bIns="0" rtlCol="0" anchor="ctr"/>
          <a:lstStyle/>
          <a:p>
            <a:pPr indent="0" marL="0">
              <a:buNone/>
            </a:pPr>
            <a:r>
              <a:rPr lang="en-US" sz="2200" b="1" dirty="0">
                <a:solidFill>
                  <a:srgbClr val="1E293B"/>
                </a:solidFill>
                <a:latin typeface="Trebuchet MS" pitchFamily="34" charset="0"/>
                <a:ea typeface="Trebuchet MS" pitchFamily="34" charset="-122"/>
                <a:cs typeface="Trebuchet MS" pitchFamily="34" charset="-120"/>
              </a:rPr>
              <a:t>Ông Tâm</a:t>
            </a:r>
            <a:endParaRPr lang="en-US" sz="2200" dirty="0"/>
          </a:p>
        </p:txBody>
      </p:sp>
      <p:sp>
        <p:nvSpPr>
          <p:cNvPr id="21" name="Text 17"/>
          <p:cNvSpPr/>
          <p:nvPr/>
        </p:nvSpPr>
        <p:spPr>
          <a:xfrm>
            <a:off x="7772400" y="2907792"/>
            <a:ext cx="374904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38 tuổi · quản lý IT · ở TP.HCM</a:t>
            </a:r>
            <a:endParaRPr lang="en-US" sz="1100" dirty="0"/>
          </a:p>
        </p:txBody>
      </p:sp>
      <p:sp>
        <p:nvSpPr>
          <p:cNvPr id="22" name="Text 18"/>
          <p:cNvSpPr/>
          <p:nvPr/>
        </p:nvSpPr>
        <p:spPr>
          <a:xfrm>
            <a:off x="6647688" y="3383280"/>
            <a:ext cx="4709160" cy="1828800"/>
          </a:xfrm>
          <a:prstGeom prst="rect">
            <a:avLst/>
          </a:prstGeom>
          <a:noFill/>
          <a:ln/>
        </p:spPr>
        <p:txBody>
          <a:bodyPr wrap="square" lIns="0" tIns="0" rIns="0" bIns="0" rtlCol="0" anchor="t"/>
          <a:lstStyle/>
          <a:p>
            <a:pPr marL="177800" indent="-177800">
              <a:lnSpc>
                <a:spcPct val="100000"/>
              </a:lnSpc>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Bố mẹ ở Hà Nội, cách 2 giờ bay, sống một mình.</a:t>
            </a:r>
            <a:endParaRPr lang="en-US" sz="1150" dirty="0"/>
          </a:p>
          <a:p>
            <a:pPr marL="177800" indent="-177800">
              <a:lnSpc>
                <a:spcPct val="100000"/>
              </a:lnSpc>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Nơm nớp lo té ngã; mỗi tháng bay về 1–2 lần đưa khám.</a:t>
            </a:r>
            <a:endParaRPr lang="en-US" sz="1150" dirty="0"/>
          </a:p>
          <a:p>
            <a:pPr marL="177800" indent="-177800">
              <a:lnSpc>
                <a:spcPct val="100000"/>
              </a:lnSpc>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Sẵn sàng chi 300–500k/tháng để biết bố mẹ an toàn.</a:t>
            </a:r>
            <a:endParaRPr lang="en-US" sz="1150" dirty="0"/>
          </a:p>
        </p:txBody>
      </p:sp>
      <p:sp>
        <p:nvSpPr>
          <p:cNvPr id="23" name="Shape 19"/>
          <p:cNvSpPr/>
          <p:nvPr/>
        </p:nvSpPr>
        <p:spPr>
          <a:xfrm>
            <a:off x="6647688" y="5440680"/>
            <a:ext cx="4709160" cy="658368"/>
          </a:xfrm>
          <a:prstGeom prst="roundRect">
            <a:avLst>
              <a:gd name="adj" fmla="val 8333"/>
            </a:avLst>
          </a:prstGeom>
          <a:solidFill>
            <a:srgbClr val="F1F5F9"/>
          </a:solidFill>
          <a:ln/>
        </p:spPr>
      </p:sp>
      <p:sp>
        <p:nvSpPr>
          <p:cNvPr id="24" name="Text 20"/>
          <p:cNvSpPr/>
          <p:nvPr/>
        </p:nvSpPr>
        <p:spPr>
          <a:xfrm>
            <a:off x="6812280" y="5468112"/>
            <a:ext cx="4389120" cy="603504"/>
          </a:xfrm>
          <a:prstGeom prst="rect">
            <a:avLst/>
          </a:prstGeom>
          <a:noFill/>
          <a:ln/>
        </p:spPr>
        <p:txBody>
          <a:bodyPr wrap="square" lIns="0" tIns="0" rIns="0" bIns="0" rtlCol="0" anchor="ctr"/>
          <a:lstStyle/>
          <a:p>
            <a:pPr indent="0" marL="0">
              <a:buNone/>
            </a:pPr>
            <a:r>
              <a:rPr lang="en-US" sz="1050" i="1" dirty="0">
                <a:solidFill>
                  <a:srgbClr val="0F766E"/>
                </a:solidFill>
                <a:latin typeface="Calibri" pitchFamily="34" charset="0"/>
                <a:ea typeface="Calibri" pitchFamily="34" charset="-122"/>
                <a:cs typeface="Calibri" pitchFamily="34" charset="-120"/>
              </a:rPr>
              <a:t>“Tôi cần biết bố mẹ ổn không mỗi lúc. Điều dưỡng tốt — đáng tiền.”</a:t>
            </a:r>
            <a:endParaRPr lang="en-US" sz="1050" dirty="0"/>
          </a:p>
        </p:txBody>
      </p:sp>
      <p:sp>
        <p:nvSpPr>
          <p:cNvPr id="25" name="Shape 21"/>
          <p:cNvSpPr/>
          <p:nvPr/>
        </p:nvSpPr>
        <p:spPr>
          <a:xfrm>
            <a:off x="0" y="6565392"/>
            <a:ext cx="12191695" cy="292608"/>
          </a:xfrm>
          <a:prstGeom prst="rect">
            <a:avLst/>
          </a:prstGeom>
          <a:solidFill>
            <a:srgbClr val="FFFFFF"/>
          </a:solidFill>
          <a:ln/>
        </p:spPr>
      </p:sp>
      <p:sp>
        <p:nvSpPr>
          <p:cNvPr id="26" name="Shape 22"/>
          <p:cNvSpPr/>
          <p:nvPr/>
        </p:nvSpPr>
        <p:spPr>
          <a:xfrm>
            <a:off x="0" y="6547104"/>
            <a:ext cx="12191695" cy="20117"/>
          </a:xfrm>
          <a:prstGeom prst="rect">
            <a:avLst/>
          </a:prstGeom>
          <a:solidFill>
            <a:srgbClr val="E2E8F0"/>
          </a:solidFill>
          <a:ln/>
        </p:spPr>
      </p:sp>
      <p:sp>
        <p:nvSpPr>
          <p:cNvPr id="27" name="Shape 23"/>
          <p:cNvSpPr/>
          <p:nvPr/>
        </p:nvSpPr>
        <p:spPr>
          <a:xfrm>
            <a:off x="457200" y="6624828"/>
            <a:ext cx="118872" cy="118872"/>
          </a:xfrm>
          <a:prstGeom prst="ellipse">
            <a:avLst/>
          </a:prstGeom>
          <a:solidFill>
            <a:srgbClr val="0D9488"/>
          </a:solidFill>
          <a:ln/>
        </p:spPr>
      </p:sp>
      <p:sp>
        <p:nvSpPr>
          <p:cNvPr id="28" name="Text 24"/>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29" name="Text 25"/>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30" name="Text 26"/>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GIẢI PHÁP</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Một super-app — 5 trụ cột chăm sóc</a:t>
            </a:r>
            <a:endParaRPr lang="en-US" sz="3000" dirty="0"/>
          </a:p>
        </p:txBody>
      </p:sp>
      <p:sp>
        <p:nvSpPr>
          <p:cNvPr id="5" name="Shape 3"/>
          <p:cNvSpPr/>
          <p:nvPr/>
        </p:nvSpPr>
        <p:spPr>
          <a:xfrm>
            <a:off x="640080" y="1874520"/>
            <a:ext cx="2103120" cy="301752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874520"/>
            <a:ext cx="2103120" cy="64008"/>
          </a:xfrm>
          <a:prstGeom prst="rect">
            <a:avLst/>
          </a:prstGeom>
          <a:solidFill>
            <a:srgbClr val="0D9488"/>
          </a:solidFill>
          <a:ln/>
        </p:spPr>
      </p:sp>
      <p:sp>
        <p:nvSpPr>
          <p:cNvPr id="7" name="Shape 5"/>
          <p:cNvSpPr/>
          <p:nvPr/>
        </p:nvSpPr>
        <p:spPr>
          <a:xfrm>
            <a:off x="1271016" y="2221992"/>
            <a:ext cx="841248" cy="841248"/>
          </a:xfrm>
          <a:prstGeom prst="ellipse">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1481328" y="2432304"/>
            <a:ext cx="420624" cy="420624"/>
          </a:xfrm>
          <a:prstGeom prst="rect">
            <a:avLst/>
          </a:prstGeom>
        </p:spPr>
      </p:pic>
      <p:sp>
        <p:nvSpPr>
          <p:cNvPr id="9" name="Text 6"/>
          <p:cNvSpPr/>
          <p:nvPr/>
        </p:nvSpPr>
        <p:spPr>
          <a:xfrm>
            <a:off x="731520" y="3200400"/>
            <a:ext cx="1920240" cy="365760"/>
          </a:xfrm>
          <a:prstGeom prst="rect">
            <a:avLst/>
          </a:prstGeom>
          <a:noFill/>
          <a:ln/>
        </p:spPr>
        <p:txBody>
          <a:bodyPr wrap="square" lIns="0" tIns="0" rIns="0" bIns="0" rtlCol="0" anchor="ctr"/>
          <a:lstStyle/>
          <a:p>
            <a:pPr algn="ctr" indent="0" marL="0">
              <a:buNone/>
            </a:pPr>
            <a:r>
              <a:rPr lang="en-US" sz="1450" b="1" dirty="0">
                <a:solidFill>
                  <a:srgbClr val="1E293B"/>
                </a:solidFill>
                <a:latin typeface="Trebuchet MS" pitchFamily="34" charset="0"/>
                <a:ea typeface="Trebuchet MS" pitchFamily="34" charset="-122"/>
                <a:cs typeface="Trebuchet MS" pitchFamily="34" charset="-120"/>
              </a:rPr>
              <a:t>CareConnect</a:t>
            </a:r>
            <a:endParaRPr lang="en-US" sz="1450" dirty="0"/>
          </a:p>
        </p:txBody>
      </p:sp>
      <p:sp>
        <p:nvSpPr>
          <p:cNvPr id="10" name="Text 7"/>
          <p:cNvSpPr/>
          <p:nvPr/>
        </p:nvSpPr>
        <p:spPr>
          <a:xfrm>
            <a:off x="786384" y="3593592"/>
            <a:ext cx="1810512" cy="1188720"/>
          </a:xfrm>
          <a:prstGeom prst="rect">
            <a:avLst/>
          </a:prstGeom>
          <a:noFill/>
          <a:ln/>
        </p:spPr>
        <p:txBody>
          <a:bodyPr wrap="square" lIns="0" tIns="0" rIns="0" bIns="0" rtlCol="0" anchor="t"/>
          <a:lstStyle/>
          <a:p>
            <a:pPr algn="ctr" indent="0" marL="0">
              <a:lnSpc>
                <a:spcPct val="105000"/>
              </a:lnSpc>
              <a:buNone/>
            </a:pPr>
            <a:r>
              <a:rPr lang="en-US" sz="1050" dirty="0">
                <a:solidFill>
                  <a:srgbClr val="64748B"/>
                </a:solidFill>
                <a:latin typeface="Calibri" pitchFamily="34" charset="0"/>
                <a:ea typeface="Calibri" pitchFamily="34" charset="-122"/>
                <a:cs typeface="Calibri" pitchFamily="34" charset="-120"/>
              </a:rPr>
              <a:t>Marketplace điều dưỡng tại nhà đã xác minh, đặt theo giờ/gói.</a:t>
            </a:r>
            <a:endParaRPr lang="en-US" sz="1050" dirty="0"/>
          </a:p>
        </p:txBody>
      </p:sp>
      <p:sp>
        <p:nvSpPr>
          <p:cNvPr id="11" name="Shape 8"/>
          <p:cNvSpPr/>
          <p:nvPr/>
        </p:nvSpPr>
        <p:spPr>
          <a:xfrm>
            <a:off x="2907792" y="1874520"/>
            <a:ext cx="2103120" cy="301752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12" name="Shape 9"/>
          <p:cNvSpPr/>
          <p:nvPr/>
        </p:nvSpPr>
        <p:spPr>
          <a:xfrm>
            <a:off x="2907792" y="1874520"/>
            <a:ext cx="2103120" cy="64008"/>
          </a:xfrm>
          <a:prstGeom prst="rect">
            <a:avLst/>
          </a:prstGeom>
          <a:solidFill>
            <a:srgbClr val="0F766E"/>
          </a:solidFill>
          <a:ln/>
        </p:spPr>
      </p:sp>
      <p:sp>
        <p:nvSpPr>
          <p:cNvPr id="13" name="Shape 10"/>
          <p:cNvSpPr/>
          <p:nvPr/>
        </p:nvSpPr>
        <p:spPr>
          <a:xfrm>
            <a:off x="3538728" y="2221992"/>
            <a:ext cx="841248" cy="841248"/>
          </a:xfrm>
          <a:prstGeom prst="ellipse">
            <a:avLst/>
          </a:prstGeom>
          <a:solidFill>
            <a:srgbClr val="0F766E"/>
          </a:solidFill>
          <a:ln/>
        </p:spPr>
      </p:sp>
      <p:pic>
        <p:nvPicPr>
          <p:cNvPr id="14" name="Image 1" descr="preencoded.png">    </p:cNvPr>
          <p:cNvPicPr>
            <a:picLocks noChangeAspect="1"/>
          </p:cNvPicPr>
          <p:nvPr/>
        </p:nvPicPr>
        <p:blipFill>
          <a:blip r:embed="rId2"/>
          <a:stretch>
            <a:fillRect/>
          </a:stretch>
        </p:blipFill>
        <p:spPr>
          <a:xfrm>
            <a:off x="3749040" y="2432304"/>
            <a:ext cx="420624" cy="420624"/>
          </a:xfrm>
          <a:prstGeom prst="rect">
            <a:avLst/>
          </a:prstGeom>
        </p:spPr>
      </p:pic>
      <p:sp>
        <p:nvSpPr>
          <p:cNvPr id="15" name="Text 11"/>
          <p:cNvSpPr/>
          <p:nvPr/>
        </p:nvSpPr>
        <p:spPr>
          <a:xfrm>
            <a:off x="2999232" y="3200400"/>
            <a:ext cx="1920240" cy="365760"/>
          </a:xfrm>
          <a:prstGeom prst="rect">
            <a:avLst/>
          </a:prstGeom>
          <a:noFill/>
          <a:ln/>
        </p:spPr>
        <p:txBody>
          <a:bodyPr wrap="square" lIns="0" tIns="0" rIns="0" bIns="0" rtlCol="0" anchor="ctr"/>
          <a:lstStyle/>
          <a:p>
            <a:pPr algn="ctr" indent="0" marL="0">
              <a:buNone/>
            </a:pPr>
            <a:r>
              <a:rPr lang="en-US" sz="1450" b="1" dirty="0">
                <a:solidFill>
                  <a:srgbClr val="1E293B"/>
                </a:solidFill>
                <a:latin typeface="Trebuchet MS" pitchFamily="34" charset="0"/>
                <a:ea typeface="Trebuchet MS" pitchFamily="34" charset="-122"/>
                <a:cs typeface="Trebuchet MS" pitchFamily="34" charset="-120"/>
              </a:rPr>
              <a:t>SmartBooking</a:t>
            </a:r>
            <a:endParaRPr lang="en-US" sz="1450" dirty="0"/>
          </a:p>
        </p:txBody>
      </p:sp>
      <p:sp>
        <p:nvSpPr>
          <p:cNvPr id="16" name="Text 12"/>
          <p:cNvSpPr/>
          <p:nvPr/>
        </p:nvSpPr>
        <p:spPr>
          <a:xfrm>
            <a:off x="3054096" y="3593592"/>
            <a:ext cx="1810512" cy="1188720"/>
          </a:xfrm>
          <a:prstGeom prst="rect">
            <a:avLst/>
          </a:prstGeom>
          <a:noFill/>
          <a:ln/>
        </p:spPr>
        <p:txBody>
          <a:bodyPr wrap="square" lIns="0" tIns="0" rIns="0" bIns="0" rtlCol="0" anchor="t"/>
          <a:lstStyle/>
          <a:p>
            <a:pPr algn="ctr" indent="0" marL="0">
              <a:lnSpc>
                <a:spcPct val="105000"/>
              </a:lnSpc>
              <a:buNone/>
            </a:pPr>
            <a:r>
              <a:rPr lang="en-US" sz="1050" dirty="0">
                <a:solidFill>
                  <a:srgbClr val="64748B"/>
                </a:solidFill>
                <a:latin typeface="Calibri" pitchFamily="34" charset="0"/>
                <a:ea typeface="Calibri" pitchFamily="34" charset="-122"/>
                <a:cs typeface="Calibri" pitchFamily="34" charset="-120"/>
              </a:rPr>
              <a:t>AI triage + đặt khám, điều phối bệnh viện &amp; xe đưa đón.</a:t>
            </a:r>
            <a:endParaRPr lang="en-US" sz="1050" dirty="0"/>
          </a:p>
        </p:txBody>
      </p:sp>
      <p:sp>
        <p:nvSpPr>
          <p:cNvPr id="17" name="Shape 13"/>
          <p:cNvSpPr/>
          <p:nvPr/>
        </p:nvSpPr>
        <p:spPr>
          <a:xfrm>
            <a:off x="5175504" y="1874520"/>
            <a:ext cx="2103120" cy="301752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18" name="Shape 14"/>
          <p:cNvSpPr/>
          <p:nvPr/>
        </p:nvSpPr>
        <p:spPr>
          <a:xfrm>
            <a:off x="5175504" y="1874520"/>
            <a:ext cx="2103120" cy="64008"/>
          </a:xfrm>
          <a:prstGeom prst="rect">
            <a:avLst/>
          </a:prstGeom>
          <a:solidFill>
            <a:srgbClr val="2DD4BF"/>
          </a:solidFill>
          <a:ln/>
        </p:spPr>
      </p:sp>
      <p:sp>
        <p:nvSpPr>
          <p:cNvPr id="19" name="Shape 15"/>
          <p:cNvSpPr/>
          <p:nvPr/>
        </p:nvSpPr>
        <p:spPr>
          <a:xfrm>
            <a:off x="5806440" y="2221992"/>
            <a:ext cx="841248" cy="841248"/>
          </a:xfrm>
          <a:prstGeom prst="ellipse">
            <a:avLst/>
          </a:prstGeom>
          <a:solidFill>
            <a:srgbClr val="2DD4BF"/>
          </a:solidFill>
          <a:ln/>
        </p:spPr>
      </p:sp>
      <p:pic>
        <p:nvPicPr>
          <p:cNvPr id="20" name="Image 2" descr="preencoded.png">    </p:cNvPr>
          <p:cNvPicPr>
            <a:picLocks noChangeAspect="1"/>
          </p:cNvPicPr>
          <p:nvPr/>
        </p:nvPicPr>
        <p:blipFill>
          <a:blip r:embed="rId3"/>
          <a:stretch>
            <a:fillRect/>
          </a:stretch>
        </p:blipFill>
        <p:spPr>
          <a:xfrm>
            <a:off x="6016752" y="2432304"/>
            <a:ext cx="420624" cy="420624"/>
          </a:xfrm>
          <a:prstGeom prst="rect">
            <a:avLst/>
          </a:prstGeom>
        </p:spPr>
      </p:pic>
      <p:sp>
        <p:nvSpPr>
          <p:cNvPr id="21" name="Text 16"/>
          <p:cNvSpPr/>
          <p:nvPr/>
        </p:nvSpPr>
        <p:spPr>
          <a:xfrm>
            <a:off x="5266944" y="3200400"/>
            <a:ext cx="1920240" cy="365760"/>
          </a:xfrm>
          <a:prstGeom prst="rect">
            <a:avLst/>
          </a:prstGeom>
          <a:noFill/>
          <a:ln/>
        </p:spPr>
        <p:txBody>
          <a:bodyPr wrap="square" lIns="0" tIns="0" rIns="0" bIns="0" rtlCol="0" anchor="ctr"/>
          <a:lstStyle/>
          <a:p>
            <a:pPr algn="ctr" indent="0" marL="0">
              <a:buNone/>
            </a:pPr>
            <a:r>
              <a:rPr lang="en-US" sz="1450" b="1" dirty="0">
                <a:solidFill>
                  <a:srgbClr val="1E293B"/>
                </a:solidFill>
                <a:latin typeface="Trebuchet MS" pitchFamily="34" charset="0"/>
                <a:ea typeface="Trebuchet MS" pitchFamily="34" charset="-122"/>
                <a:cs typeface="Trebuchet MS" pitchFamily="34" charset="-120"/>
              </a:rPr>
              <a:t>TeleSpecialist</a:t>
            </a:r>
            <a:endParaRPr lang="en-US" sz="1450" dirty="0"/>
          </a:p>
        </p:txBody>
      </p:sp>
      <p:sp>
        <p:nvSpPr>
          <p:cNvPr id="22" name="Text 17"/>
          <p:cNvSpPr/>
          <p:nvPr/>
        </p:nvSpPr>
        <p:spPr>
          <a:xfrm>
            <a:off x="5321808" y="3593592"/>
            <a:ext cx="1810512" cy="1188720"/>
          </a:xfrm>
          <a:prstGeom prst="rect">
            <a:avLst/>
          </a:prstGeom>
          <a:noFill/>
          <a:ln/>
        </p:spPr>
        <p:txBody>
          <a:bodyPr wrap="square" lIns="0" tIns="0" rIns="0" bIns="0" rtlCol="0" anchor="t"/>
          <a:lstStyle/>
          <a:p>
            <a:pPr algn="ctr" indent="0" marL="0">
              <a:lnSpc>
                <a:spcPct val="105000"/>
              </a:lnSpc>
              <a:buNone/>
            </a:pPr>
            <a:r>
              <a:rPr lang="en-US" sz="1050" dirty="0">
                <a:solidFill>
                  <a:srgbClr val="64748B"/>
                </a:solidFill>
                <a:latin typeface="Calibri" pitchFamily="34" charset="0"/>
                <a:ea typeface="Calibri" pitchFamily="34" charset="-122"/>
                <a:cs typeface="Calibri" pitchFamily="34" charset="-120"/>
              </a:rPr>
              <a:t>Khám video chuyên khoa lão khoa, tim mạch, nội tiết.</a:t>
            </a:r>
            <a:endParaRPr lang="en-US" sz="1050" dirty="0"/>
          </a:p>
        </p:txBody>
      </p:sp>
      <p:sp>
        <p:nvSpPr>
          <p:cNvPr id="23" name="Shape 18"/>
          <p:cNvSpPr/>
          <p:nvPr/>
        </p:nvSpPr>
        <p:spPr>
          <a:xfrm>
            <a:off x="7443216" y="1874520"/>
            <a:ext cx="2103120" cy="301752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24" name="Shape 19"/>
          <p:cNvSpPr/>
          <p:nvPr/>
        </p:nvSpPr>
        <p:spPr>
          <a:xfrm>
            <a:off x="7443216" y="1874520"/>
            <a:ext cx="2103120" cy="64008"/>
          </a:xfrm>
          <a:prstGeom prst="rect">
            <a:avLst/>
          </a:prstGeom>
          <a:solidFill>
            <a:srgbClr val="F5A623"/>
          </a:solidFill>
          <a:ln/>
        </p:spPr>
      </p:sp>
      <p:sp>
        <p:nvSpPr>
          <p:cNvPr id="25" name="Shape 20"/>
          <p:cNvSpPr/>
          <p:nvPr/>
        </p:nvSpPr>
        <p:spPr>
          <a:xfrm>
            <a:off x="8074152" y="2221992"/>
            <a:ext cx="841248" cy="841248"/>
          </a:xfrm>
          <a:prstGeom prst="ellipse">
            <a:avLst/>
          </a:prstGeom>
          <a:solidFill>
            <a:srgbClr val="F5A623"/>
          </a:solidFill>
          <a:ln/>
        </p:spPr>
      </p:sp>
      <p:pic>
        <p:nvPicPr>
          <p:cNvPr id="26" name="Image 3" descr="preencoded.png">    </p:cNvPr>
          <p:cNvPicPr>
            <a:picLocks noChangeAspect="1"/>
          </p:cNvPicPr>
          <p:nvPr/>
        </p:nvPicPr>
        <p:blipFill>
          <a:blip r:embed="rId4"/>
          <a:stretch>
            <a:fillRect/>
          </a:stretch>
        </p:blipFill>
        <p:spPr>
          <a:xfrm>
            <a:off x="8284464" y="2432304"/>
            <a:ext cx="420624" cy="420624"/>
          </a:xfrm>
          <a:prstGeom prst="rect">
            <a:avLst/>
          </a:prstGeom>
        </p:spPr>
      </p:pic>
      <p:sp>
        <p:nvSpPr>
          <p:cNvPr id="27" name="Text 21"/>
          <p:cNvSpPr/>
          <p:nvPr/>
        </p:nvSpPr>
        <p:spPr>
          <a:xfrm>
            <a:off x="7534656" y="3200400"/>
            <a:ext cx="1920240" cy="365760"/>
          </a:xfrm>
          <a:prstGeom prst="rect">
            <a:avLst/>
          </a:prstGeom>
          <a:noFill/>
          <a:ln/>
        </p:spPr>
        <p:txBody>
          <a:bodyPr wrap="square" lIns="0" tIns="0" rIns="0" bIns="0" rtlCol="0" anchor="ctr"/>
          <a:lstStyle/>
          <a:p>
            <a:pPr algn="ctr" indent="0" marL="0">
              <a:buNone/>
            </a:pPr>
            <a:r>
              <a:rPr lang="en-US" sz="1450" b="1" dirty="0">
                <a:solidFill>
                  <a:srgbClr val="1E293B"/>
                </a:solidFill>
                <a:latin typeface="Trebuchet MS" pitchFamily="34" charset="0"/>
                <a:ea typeface="Trebuchet MS" pitchFamily="34" charset="-122"/>
                <a:cs typeface="Trebuchet MS" pitchFamily="34" charset="-120"/>
              </a:rPr>
              <a:t>MedFin</a:t>
            </a:r>
            <a:endParaRPr lang="en-US" sz="1450" dirty="0"/>
          </a:p>
        </p:txBody>
      </p:sp>
      <p:sp>
        <p:nvSpPr>
          <p:cNvPr id="28" name="Text 22"/>
          <p:cNvSpPr/>
          <p:nvPr/>
        </p:nvSpPr>
        <p:spPr>
          <a:xfrm>
            <a:off x="7589520" y="3593592"/>
            <a:ext cx="1810512" cy="1188720"/>
          </a:xfrm>
          <a:prstGeom prst="rect">
            <a:avLst/>
          </a:prstGeom>
          <a:noFill/>
          <a:ln/>
        </p:spPr>
        <p:txBody>
          <a:bodyPr wrap="square" lIns="0" tIns="0" rIns="0" bIns="0" rtlCol="0" anchor="t"/>
          <a:lstStyle/>
          <a:p>
            <a:pPr algn="ctr" indent="0" marL="0">
              <a:lnSpc>
                <a:spcPct val="105000"/>
              </a:lnSpc>
              <a:buNone/>
            </a:pPr>
            <a:r>
              <a:rPr lang="en-US" sz="1050" dirty="0">
                <a:solidFill>
                  <a:srgbClr val="64748B"/>
                </a:solidFill>
                <a:latin typeface="Calibri" pitchFamily="34" charset="0"/>
                <a:ea typeface="Calibri" pitchFamily="34" charset="-122"/>
                <a:cs typeface="Calibri" pitchFamily="34" charset="-120"/>
              </a:rPr>
              <a:t>Trả góp ca mổ, gói trả trước &amp; bảo hiểm bổ sung.</a:t>
            </a:r>
            <a:endParaRPr lang="en-US" sz="1050" dirty="0"/>
          </a:p>
        </p:txBody>
      </p:sp>
      <p:sp>
        <p:nvSpPr>
          <p:cNvPr id="29" name="Shape 23"/>
          <p:cNvSpPr/>
          <p:nvPr/>
        </p:nvSpPr>
        <p:spPr>
          <a:xfrm>
            <a:off x="9710928" y="1874520"/>
            <a:ext cx="2103120" cy="301752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30" name="Shape 24"/>
          <p:cNvSpPr/>
          <p:nvPr/>
        </p:nvSpPr>
        <p:spPr>
          <a:xfrm>
            <a:off x="9710928" y="1874520"/>
            <a:ext cx="2103120" cy="64008"/>
          </a:xfrm>
          <a:prstGeom prst="rect">
            <a:avLst/>
          </a:prstGeom>
          <a:solidFill>
            <a:srgbClr val="FB7185"/>
          </a:solidFill>
          <a:ln/>
        </p:spPr>
      </p:sp>
      <p:sp>
        <p:nvSpPr>
          <p:cNvPr id="31" name="Shape 25"/>
          <p:cNvSpPr/>
          <p:nvPr/>
        </p:nvSpPr>
        <p:spPr>
          <a:xfrm>
            <a:off x="10341864" y="2221992"/>
            <a:ext cx="841248" cy="841248"/>
          </a:xfrm>
          <a:prstGeom prst="ellipse">
            <a:avLst/>
          </a:prstGeom>
          <a:solidFill>
            <a:srgbClr val="FB7185"/>
          </a:solidFill>
          <a:ln/>
        </p:spPr>
      </p:sp>
      <p:pic>
        <p:nvPicPr>
          <p:cNvPr id="32" name="Image 4" descr="preencoded.png">    </p:cNvPr>
          <p:cNvPicPr>
            <a:picLocks noChangeAspect="1"/>
          </p:cNvPicPr>
          <p:nvPr/>
        </p:nvPicPr>
        <p:blipFill>
          <a:blip r:embed="rId5"/>
          <a:stretch>
            <a:fillRect/>
          </a:stretch>
        </p:blipFill>
        <p:spPr>
          <a:xfrm>
            <a:off x="10552176" y="2432304"/>
            <a:ext cx="420624" cy="420624"/>
          </a:xfrm>
          <a:prstGeom prst="rect">
            <a:avLst/>
          </a:prstGeom>
        </p:spPr>
      </p:pic>
      <p:sp>
        <p:nvSpPr>
          <p:cNvPr id="33" name="Text 26"/>
          <p:cNvSpPr/>
          <p:nvPr/>
        </p:nvSpPr>
        <p:spPr>
          <a:xfrm>
            <a:off x="9802368" y="3200400"/>
            <a:ext cx="1920240" cy="365760"/>
          </a:xfrm>
          <a:prstGeom prst="rect">
            <a:avLst/>
          </a:prstGeom>
          <a:noFill/>
          <a:ln/>
        </p:spPr>
        <p:txBody>
          <a:bodyPr wrap="square" lIns="0" tIns="0" rIns="0" bIns="0" rtlCol="0" anchor="ctr"/>
          <a:lstStyle/>
          <a:p>
            <a:pPr algn="ctr" indent="0" marL="0">
              <a:buNone/>
            </a:pPr>
            <a:r>
              <a:rPr lang="en-US" sz="1450" b="1" dirty="0">
                <a:solidFill>
                  <a:srgbClr val="1E293B"/>
                </a:solidFill>
                <a:latin typeface="Trebuchet MS" pitchFamily="34" charset="0"/>
                <a:ea typeface="Trebuchet MS" pitchFamily="34" charset="-122"/>
                <a:cs typeface="Trebuchet MS" pitchFamily="34" charset="-120"/>
              </a:rPr>
              <a:t>CareSense</a:t>
            </a:r>
            <a:endParaRPr lang="en-US" sz="1450" dirty="0"/>
          </a:p>
        </p:txBody>
      </p:sp>
      <p:sp>
        <p:nvSpPr>
          <p:cNvPr id="34" name="Text 27"/>
          <p:cNvSpPr/>
          <p:nvPr/>
        </p:nvSpPr>
        <p:spPr>
          <a:xfrm>
            <a:off x="9857232" y="3593592"/>
            <a:ext cx="1810512" cy="1188720"/>
          </a:xfrm>
          <a:prstGeom prst="rect">
            <a:avLst/>
          </a:prstGeom>
          <a:noFill/>
          <a:ln/>
        </p:spPr>
        <p:txBody>
          <a:bodyPr wrap="square" lIns="0" tIns="0" rIns="0" bIns="0" rtlCol="0" anchor="t"/>
          <a:lstStyle/>
          <a:p>
            <a:pPr algn="ctr" indent="0" marL="0">
              <a:lnSpc>
                <a:spcPct val="105000"/>
              </a:lnSpc>
              <a:buNone/>
            </a:pPr>
            <a:r>
              <a:rPr lang="en-US" sz="1050" dirty="0">
                <a:solidFill>
                  <a:srgbClr val="64748B"/>
                </a:solidFill>
                <a:latin typeface="Calibri" pitchFamily="34" charset="0"/>
                <a:ea typeface="Calibri" pitchFamily="34" charset="-122"/>
                <a:cs typeface="Calibri" pitchFamily="34" charset="-120"/>
              </a:rPr>
              <a:t>Camera AI té ngã + wearable + dược/thiết bị.</a:t>
            </a:r>
            <a:endParaRPr lang="en-US" sz="1050" dirty="0"/>
          </a:p>
        </p:txBody>
      </p:sp>
      <p:sp>
        <p:nvSpPr>
          <p:cNvPr id="35" name="Shape 28"/>
          <p:cNvSpPr/>
          <p:nvPr/>
        </p:nvSpPr>
        <p:spPr>
          <a:xfrm>
            <a:off x="640080" y="5166360"/>
            <a:ext cx="10908792" cy="960120"/>
          </a:xfrm>
          <a:prstGeom prst="roundRect">
            <a:avLst>
              <a:gd name="adj" fmla="val 7619"/>
            </a:avLst>
          </a:prstGeom>
          <a:solidFill>
            <a:srgbClr val="134E4A"/>
          </a:solidFill>
          <a:ln/>
        </p:spPr>
      </p:sp>
      <p:pic>
        <p:nvPicPr>
          <p:cNvPr id="36" name="Image 5" descr="preencoded.png">    </p:cNvPr>
          <p:cNvPicPr>
            <a:picLocks noChangeAspect="1"/>
          </p:cNvPicPr>
          <p:nvPr/>
        </p:nvPicPr>
        <p:blipFill>
          <a:blip r:embed="rId6"/>
          <a:stretch>
            <a:fillRect/>
          </a:stretch>
        </p:blipFill>
        <p:spPr>
          <a:xfrm>
            <a:off x="960120" y="5458968"/>
            <a:ext cx="384048" cy="384048"/>
          </a:xfrm>
          <a:prstGeom prst="rect">
            <a:avLst/>
          </a:prstGeom>
        </p:spPr>
      </p:pic>
      <p:sp>
        <p:nvSpPr>
          <p:cNvPr id="37" name="Text 29"/>
          <p:cNvSpPr/>
          <p:nvPr/>
        </p:nvSpPr>
        <p:spPr>
          <a:xfrm>
            <a:off x="1508760" y="5166360"/>
            <a:ext cx="9875520" cy="9601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Lớp dữ liệu sức khỏe chung &amp; bảo mật  </a:t>
            </a:r>
            <a:pPr indent="0" marL="0">
              <a:buNone/>
            </a:pPr>
            <a:r>
              <a:rPr lang="en-US" sz="1200" dirty="0">
                <a:solidFill>
                  <a:srgbClr val="2DD4BF"/>
                </a:solidFill>
                <a:latin typeface="Calibri" pitchFamily="34" charset="0"/>
                <a:ea typeface="Calibri" pitchFamily="34" charset="-122"/>
                <a:cs typeface="Calibri" pitchFamily="34" charset="-120"/>
              </a:rPr>
              <a:t>— mã hóa đầu-cuối, phân quyền con cái · người già · bác sĩ · caregiver, tuân thủ Nghị định 13/2023.</a:t>
            </a:r>
            <a:endParaRPr lang="en-US" sz="1400" dirty="0"/>
          </a:p>
        </p:txBody>
      </p:sp>
      <p:sp>
        <p:nvSpPr>
          <p:cNvPr id="38" name="Shape 30"/>
          <p:cNvSpPr/>
          <p:nvPr/>
        </p:nvSpPr>
        <p:spPr>
          <a:xfrm>
            <a:off x="0" y="6565392"/>
            <a:ext cx="12191695" cy="292608"/>
          </a:xfrm>
          <a:prstGeom prst="rect">
            <a:avLst/>
          </a:prstGeom>
          <a:solidFill>
            <a:srgbClr val="FFFFFF"/>
          </a:solidFill>
          <a:ln/>
        </p:spPr>
      </p:sp>
      <p:sp>
        <p:nvSpPr>
          <p:cNvPr id="39" name="Shape 31"/>
          <p:cNvSpPr/>
          <p:nvPr/>
        </p:nvSpPr>
        <p:spPr>
          <a:xfrm>
            <a:off x="0" y="6547104"/>
            <a:ext cx="12191695" cy="20117"/>
          </a:xfrm>
          <a:prstGeom prst="rect">
            <a:avLst/>
          </a:prstGeom>
          <a:solidFill>
            <a:srgbClr val="E2E8F0"/>
          </a:solidFill>
          <a:ln/>
        </p:spPr>
      </p:sp>
      <p:sp>
        <p:nvSpPr>
          <p:cNvPr id="40" name="Shape 32"/>
          <p:cNvSpPr/>
          <p:nvPr/>
        </p:nvSpPr>
        <p:spPr>
          <a:xfrm>
            <a:off x="457200" y="6624828"/>
            <a:ext cx="118872" cy="118872"/>
          </a:xfrm>
          <a:prstGeom prst="ellipse">
            <a:avLst/>
          </a:prstGeom>
          <a:solidFill>
            <a:srgbClr val="0D9488"/>
          </a:solidFill>
          <a:ln/>
        </p:spPr>
      </p:sp>
      <p:sp>
        <p:nvSpPr>
          <p:cNvPr id="41" name="Text 33"/>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42" name="Text 34"/>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43" name="Text 35"/>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4E4A"/>
        </a:solidFill>
      </p:bgPr>
    </p:bg>
    <p:spTree>
      <p:nvGrpSpPr>
        <p:cNvPr id="1" name=""/>
        <p:cNvGrpSpPr/>
        <p:nvPr/>
      </p:nvGrpSpPr>
      <p:grpSpPr>
        <a:xfrm>
          <a:off x="0" y="0"/>
          <a:ext cx="0" cy="0"/>
          <a:chOff x="0" y="0"/>
          <a:chExt cx="0" cy="0"/>
        </a:xfrm>
      </p:grpSpPr>
      <p:sp>
        <p:nvSpPr>
          <p:cNvPr id="2" name="Shape 0"/>
          <p:cNvSpPr/>
          <p:nvPr/>
        </p:nvSpPr>
        <p:spPr>
          <a:xfrm>
            <a:off x="8961120" y="-1645920"/>
            <a:ext cx="5029200" cy="5029200"/>
          </a:xfrm>
          <a:prstGeom prst="ellipse">
            <a:avLst/>
          </a:prstGeom>
          <a:solidFill>
            <a:srgbClr val="0F766E">
              <a:alpha val="55000"/>
            </a:srgbClr>
          </a:solidFill>
          <a:ln/>
        </p:spPr>
      </p:sp>
      <p:sp>
        <p:nvSpPr>
          <p:cNvPr id="3" name="Shape 1"/>
          <p:cNvSpPr/>
          <p:nvPr/>
        </p:nvSpPr>
        <p:spPr>
          <a:xfrm>
            <a:off x="640080" y="457200"/>
            <a:ext cx="292608" cy="109728"/>
          </a:xfrm>
          <a:prstGeom prst="rect">
            <a:avLst/>
          </a:prstGeom>
          <a:solidFill>
            <a:srgbClr val="FB7185"/>
          </a:solidFill>
          <a:ln/>
        </p:spPr>
      </p:sp>
      <p:sp>
        <p:nvSpPr>
          <p:cNvPr id="4" name="Text 2"/>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Trebuchet MS" pitchFamily="34" charset="0"/>
                <a:ea typeface="Trebuchet MS" pitchFamily="34" charset="-122"/>
                <a:cs typeface="Trebuchet MS" pitchFamily="34" charset="-120"/>
              </a:rPr>
              <a:t>TRỤ CỘT NỔI BẬT · CARESENSE</a:t>
            </a:r>
            <a:endParaRPr lang="en-US" sz="1200" dirty="0"/>
          </a:p>
        </p:txBody>
      </p:sp>
      <p:sp>
        <p:nvSpPr>
          <p:cNvPr id="5" name="Text 3"/>
          <p:cNvSpPr/>
          <p:nvPr/>
        </p:nvSpPr>
        <p:spPr>
          <a:xfrm>
            <a:off x="621792" y="713232"/>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Cảnh báo té ngã trong “phút vàng”</a:t>
            </a:r>
            <a:endParaRPr lang="en-US" sz="3000" dirty="0"/>
          </a:p>
        </p:txBody>
      </p:sp>
      <p:sp>
        <p:nvSpPr>
          <p:cNvPr id="6" name="Shape 4"/>
          <p:cNvSpPr/>
          <p:nvPr/>
        </p:nvSpPr>
        <p:spPr>
          <a:xfrm>
            <a:off x="640080" y="1828800"/>
            <a:ext cx="6492240" cy="1234440"/>
          </a:xfrm>
          <a:prstGeom prst="roundRect">
            <a:avLst>
              <a:gd name="adj" fmla="val 5926"/>
            </a:avLst>
          </a:prstGeom>
          <a:solidFill>
            <a:srgbClr val="0F766E"/>
          </a:solidFill>
          <a:ln/>
        </p:spPr>
      </p:sp>
      <p:sp>
        <p:nvSpPr>
          <p:cNvPr id="7" name="Shape 5"/>
          <p:cNvSpPr/>
          <p:nvPr/>
        </p:nvSpPr>
        <p:spPr>
          <a:xfrm>
            <a:off x="914400" y="2157984"/>
            <a:ext cx="566928" cy="566928"/>
          </a:xfrm>
          <a:prstGeom prst="ellipse">
            <a:avLst/>
          </a:prstGeom>
          <a:solidFill>
            <a:srgbClr val="2DD4BF"/>
          </a:solidFill>
          <a:ln/>
        </p:spPr>
      </p:sp>
      <p:pic>
        <p:nvPicPr>
          <p:cNvPr id="8" name="Image 0" descr="preencoded.png">    </p:cNvPr>
          <p:cNvPicPr>
            <a:picLocks noChangeAspect="1"/>
          </p:cNvPicPr>
          <p:nvPr/>
        </p:nvPicPr>
        <p:blipFill>
          <a:blip r:embed="rId1"/>
          <a:stretch>
            <a:fillRect/>
          </a:stretch>
        </p:blipFill>
        <p:spPr>
          <a:xfrm>
            <a:off x="1060704" y="2304288"/>
            <a:ext cx="274320" cy="274320"/>
          </a:xfrm>
          <a:prstGeom prst="rect">
            <a:avLst/>
          </a:prstGeom>
        </p:spPr>
      </p:pic>
      <p:sp>
        <p:nvSpPr>
          <p:cNvPr id="9" name="Text 6"/>
          <p:cNvSpPr/>
          <p:nvPr/>
        </p:nvSpPr>
        <p:spPr>
          <a:xfrm>
            <a:off x="1691640" y="1920240"/>
            <a:ext cx="5257800" cy="1051560"/>
          </a:xfrm>
          <a:prstGeom prst="rect">
            <a:avLst/>
          </a:prstGeom>
          <a:noFill/>
          <a:ln/>
        </p:spPr>
        <p:txBody>
          <a:bodyPr wrap="square" lIns="0" tIns="0" rIns="0" bIns="0" rtlCol="0" anchor="ctr"/>
          <a:lstStyle/>
          <a:p>
            <a:pPr indent="0" marL="0">
              <a:lnSpc>
                <a:spcPct val="105000"/>
              </a:lnSpc>
              <a:buNone/>
            </a:pPr>
            <a:r>
              <a:rPr lang="en-US" sz="1300" dirty="0">
                <a:solidFill>
                  <a:srgbClr val="FFFFFF"/>
                </a:solidFill>
                <a:latin typeface="Calibri" pitchFamily="34" charset="0"/>
                <a:ea typeface="Calibri" pitchFamily="34" charset="-122"/>
                <a:cs typeface="Calibri" pitchFamily="34" charset="-120"/>
              </a:rPr>
              <a:t>Camera AI computer vision phát hiện chuyển động bất thường / té ngã / bất động &gt; 5 phút.</a:t>
            </a:r>
            <a:endParaRPr lang="en-US" sz="1300" dirty="0"/>
          </a:p>
        </p:txBody>
      </p:sp>
      <p:sp>
        <p:nvSpPr>
          <p:cNvPr id="10" name="Shape 7"/>
          <p:cNvSpPr/>
          <p:nvPr/>
        </p:nvSpPr>
        <p:spPr>
          <a:xfrm>
            <a:off x="640080" y="3246120"/>
            <a:ext cx="6492240" cy="1234440"/>
          </a:xfrm>
          <a:prstGeom prst="roundRect">
            <a:avLst>
              <a:gd name="adj" fmla="val 5926"/>
            </a:avLst>
          </a:prstGeom>
          <a:solidFill>
            <a:srgbClr val="0F766E"/>
          </a:solidFill>
          <a:ln/>
        </p:spPr>
      </p:sp>
      <p:sp>
        <p:nvSpPr>
          <p:cNvPr id="11" name="Shape 8"/>
          <p:cNvSpPr/>
          <p:nvPr/>
        </p:nvSpPr>
        <p:spPr>
          <a:xfrm>
            <a:off x="914400" y="3575304"/>
            <a:ext cx="566928" cy="566928"/>
          </a:xfrm>
          <a:prstGeom prst="ellipse">
            <a:avLst/>
          </a:prstGeom>
          <a:solidFill>
            <a:srgbClr val="2DD4BF"/>
          </a:solidFill>
          <a:ln/>
        </p:spPr>
      </p:sp>
      <p:pic>
        <p:nvPicPr>
          <p:cNvPr id="12" name="Image 1" descr="preencoded.png">    </p:cNvPr>
          <p:cNvPicPr>
            <a:picLocks noChangeAspect="1"/>
          </p:cNvPicPr>
          <p:nvPr/>
        </p:nvPicPr>
        <p:blipFill>
          <a:blip r:embed="rId2"/>
          <a:stretch>
            <a:fillRect/>
          </a:stretch>
        </p:blipFill>
        <p:spPr>
          <a:xfrm>
            <a:off x="1060704" y="3721608"/>
            <a:ext cx="274320" cy="274320"/>
          </a:xfrm>
          <a:prstGeom prst="rect">
            <a:avLst/>
          </a:prstGeom>
        </p:spPr>
      </p:pic>
      <p:sp>
        <p:nvSpPr>
          <p:cNvPr id="13" name="Text 9"/>
          <p:cNvSpPr/>
          <p:nvPr/>
        </p:nvSpPr>
        <p:spPr>
          <a:xfrm>
            <a:off x="1691640" y="3337560"/>
            <a:ext cx="5257800" cy="1051560"/>
          </a:xfrm>
          <a:prstGeom prst="rect">
            <a:avLst/>
          </a:prstGeom>
          <a:noFill/>
          <a:ln/>
        </p:spPr>
        <p:txBody>
          <a:bodyPr wrap="square" lIns="0" tIns="0" rIns="0" bIns="0" rtlCol="0" anchor="ctr"/>
          <a:lstStyle/>
          <a:p>
            <a:pPr indent="0" marL="0">
              <a:lnSpc>
                <a:spcPct val="105000"/>
              </a:lnSpc>
              <a:buNone/>
            </a:pPr>
            <a:r>
              <a:rPr lang="en-US" sz="1300" dirty="0">
                <a:solidFill>
                  <a:srgbClr val="FFFFFF"/>
                </a:solidFill>
                <a:latin typeface="Calibri" pitchFamily="34" charset="0"/>
                <a:ea typeface="Calibri" pitchFamily="34" charset="-122"/>
                <a:cs typeface="Calibri" pitchFamily="34" charset="-120"/>
              </a:rPr>
              <a:t>Wearable đo nhịp tim, SpO₂, huyết áp liên tục — phát hiện sinh hiệu nguy hiểm.</a:t>
            </a:r>
            <a:endParaRPr lang="en-US" sz="1300" dirty="0"/>
          </a:p>
        </p:txBody>
      </p:sp>
      <p:sp>
        <p:nvSpPr>
          <p:cNvPr id="14" name="Shape 10"/>
          <p:cNvSpPr/>
          <p:nvPr/>
        </p:nvSpPr>
        <p:spPr>
          <a:xfrm>
            <a:off x="640080" y="4663440"/>
            <a:ext cx="6492240" cy="1234440"/>
          </a:xfrm>
          <a:prstGeom prst="roundRect">
            <a:avLst>
              <a:gd name="adj" fmla="val 5926"/>
            </a:avLst>
          </a:prstGeom>
          <a:solidFill>
            <a:srgbClr val="0F766E"/>
          </a:solidFill>
          <a:ln/>
        </p:spPr>
      </p:sp>
      <p:sp>
        <p:nvSpPr>
          <p:cNvPr id="15" name="Shape 11"/>
          <p:cNvSpPr/>
          <p:nvPr/>
        </p:nvSpPr>
        <p:spPr>
          <a:xfrm>
            <a:off x="914400" y="4992624"/>
            <a:ext cx="566928" cy="566928"/>
          </a:xfrm>
          <a:prstGeom prst="ellipse">
            <a:avLst/>
          </a:prstGeom>
          <a:solidFill>
            <a:srgbClr val="2DD4BF"/>
          </a:solidFill>
          <a:ln/>
        </p:spPr>
      </p:sp>
      <p:pic>
        <p:nvPicPr>
          <p:cNvPr id="16" name="Image 2" descr="preencoded.png">    </p:cNvPr>
          <p:cNvPicPr>
            <a:picLocks noChangeAspect="1"/>
          </p:cNvPicPr>
          <p:nvPr/>
        </p:nvPicPr>
        <p:blipFill>
          <a:blip r:embed="rId3"/>
          <a:stretch>
            <a:fillRect/>
          </a:stretch>
        </p:blipFill>
        <p:spPr>
          <a:xfrm>
            <a:off x="1060704" y="5138928"/>
            <a:ext cx="274320" cy="274320"/>
          </a:xfrm>
          <a:prstGeom prst="rect">
            <a:avLst/>
          </a:prstGeom>
        </p:spPr>
      </p:pic>
      <p:sp>
        <p:nvSpPr>
          <p:cNvPr id="17" name="Text 12"/>
          <p:cNvSpPr/>
          <p:nvPr/>
        </p:nvSpPr>
        <p:spPr>
          <a:xfrm>
            <a:off x="1691640" y="4754880"/>
            <a:ext cx="5257800" cy="1051560"/>
          </a:xfrm>
          <a:prstGeom prst="rect">
            <a:avLst/>
          </a:prstGeom>
          <a:noFill/>
          <a:ln/>
        </p:spPr>
        <p:txBody>
          <a:bodyPr wrap="square" lIns="0" tIns="0" rIns="0" bIns="0" rtlCol="0" anchor="ctr"/>
          <a:lstStyle/>
          <a:p>
            <a:pPr indent="0" marL="0">
              <a:lnSpc>
                <a:spcPct val="105000"/>
              </a:lnSpc>
              <a:buNone/>
            </a:pPr>
            <a:r>
              <a:rPr lang="en-US" sz="1300" dirty="0">
                <a:solidFill>
                  <a:srgbClr val="FFFFFF"/>
                </a:solidFill>
                <a:latin typeface="Calibri" pitchFamily="34" charset="0"/>
                <a:ea typeface="Calibri" pitchFamily="34" charset="-122"/>
                <a:cs typeface="Calibri" pitchFamily="34" charset="-120"/>
              </a:rPr>
              <a:t>Cảnh báo tức thì tới con cái + tổng đài; gợi ý hành động &amp; gọi cấp cứu.</a:t>
            </a:r>
            <a:endParaRPr lang="en-US" sz="1300" dirty="0"/>
          </a:p>
        </p:txBody>
      </p:sp>
      <p:sp>
        <p:nvSpPr>
          <p:cNvPr id="18" name="Shape 13"/>
          <p:cNvSpPr/>
          <p:nvPr/>
        </p:nvSpPr>
        <p:spPr>
          <a:xfrm>
            <a:off x="7406640" y="1828800"/>
            <a:ext cx="4142232" cy="4069080"/>
          </a:xfrm>
          <a:prstGeom prst="roundRect">
            <a:avLst>
              <a:gd name="adj" fmla="val 2247"/>
            </a:avLst>
          </a:prstGeom>
          <a:solidFill>
            <a:srgbClr val="FFFFFF"/>
          </a:solidFill>
          <a:ln/>
          <a:effectLst>
            <a:outerShdw sx="100000" sy="100000" kx="0" ky="0" algn="bl" rotWithShape="0" blurRad="114300" dist="38100" dir="5400000">
              <a:srgbClr val="0F172A">
                <a:alpha val="12000"/>
              </a:srgbClr>
            </a:outerShdw>
          </a:effectLst>
        </p:spPr>
      </p:sp>
      <p:sp>
        <p:nvSpPr>
          <p:cNvPr id="19" name="Text 14"/>
          <p:cNvSpPr/>
          <p:nvPr/>
        </p:nvSpPr>
        <p:spPr>
          <a:xfrm>
            <a:off x="7635240" y="2057400"/>
            <a:ext cx="3749040" cy="41148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Ngưỡng cảnh báo CareSense</a:t>
            </a:r>
            <a:endParaRPr lang="en-US" sz="1500" dirty="0"/>
          </a:p>
        </p:txBody>
      </p:sp>
      <p:sp>
        <p:nvSpPr>
          <p:cNvPr id="20" name="Shape 15"/>
          <p:cNvSpPr/>
          <p:nvPr/>
        </p:nvSpPr>
        <p:spPr>
          <a:xfrm>
            <a:off x="7635240" y="2642616"/>
            <a:ext cx="82296" cy="658368"/>
          </a:xfrm>
          <a:prstGeom prst="rect">
            <a:avLst/>
          </a:prstGeom>
          <a:solidFill>
            <a:srgbClr val="FB7185"/>
          </a:solidFill>
          <a:ln/>
        </p:spPr>
      </p:sp>
      <p:sp>
        <p:nvSpPr>
          <p:cNvPr id="21" name="Text 16"/>
          <p:cNvSpPr/>
          <p:nvPr/>
        </p:nvSpPr>
        <p:spPr>
          <a:xfrm>
            <a:off x="7818120" y="2606040"/>
            <a:ext cx="3566160" cy="292608"/>
          </a:xfrm>
          <a:prstGeom prst="rect">
            <a:avLst/>
          </a:prstGeom>
          <a:noFill/>
          <a:ln/>
        </p:spPr>
        <p:txBody>
          <a:bodyPr wrap="square" lIns="0" tIns="0" rIns="0" bIns="0" rtlCol="0" anchor="ctr"/>
          <a:lstStyle/>
          <a:p>
            <a:pPr indent="0" marL="0">
              <a:buNone/>
            </a:pPr>
            <a:r>
              <a:rPr lang="en-US" sz="1250" b="1" dirty="0">
                <a:solidFill>
                  <a:srgbClr val="FB7185"/>
                </a:solidFill>
                <a:latin typeface="Trebuchet MS" pitchFamily="34" charset="0"/>
                <a:ea typeface="Trebuchet MS" pitchFamily="34" charset="-122"/>
                <a:cs typeface="Trebuchet MS" pitchFamily="34" charset="-120"/>
              </a:rPr>
              <a:t>Té ngã</a:t>
            </a:r>
            <a:endParaRPr lang="en-US" sz="1250" dirty="0"/>
          </a:p>
        </p:txBody>
      </p:sp>
      <p:sp>
        <p:nvSpPr>
          <p:cNvPr id="22" name="Text 17"/>
          <p:cNvSpPr/>
          <p:nvPr/>
        </p:nvSpPr>
        <p:spPr>
          <a:xfrm>
            <a:off x="7818120" y="2898648"/>
            <a:ext cx="3520440" cy="45720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Chuyển động bất thường → gọi con + tổng đài tự động</a:t>
            </a:r>
            <a:endParaRPr lang="en-US" sz="1050" dirty="0"/>
          </a:p>
        </p:txBody>
      </p:sp>
      <p:sp>
        <p:nvSpPr>
          <p:cNvPr id="23" name="Shape 18"/>
          <p:cNvSpPr/>
          <p:nvPr/>
        </p:nvSpPr>
        <p:spPr>
          <a:xfrm>
            <a:off x="7635240" y="3429000"/>
            <a:ext cx="82296" cy="658368"/>
          </a:xfrm>
          <a:prstGeom prst="rect">
            <a:avLst/>
          </a:prstGeom>
          <a:solidFill>
            <a:srgbClr val="F5A623"/>
          </a:solidFill>
          <a:ln/>
        </p:spPr>
      </p:sp>
      <p:sp>
        <p:nvSpPr>
          <p:cNvPr id="24" name="Text 19"/>
          <p:cNvSpPr/>
          <p:nvPr/>
        </p:nvSpPr>
        <p:spPr>
          <a:xfrm>
            <a:off x="7818120" y="3392424"/>
            <a:ext cx="3566160" cy="292608"/>
          </a:xfrm>
          <a:prstGeom prst="rect">
            <a:avLst/>
          </a:prstGeom>
          <a:noFill/>
          <a:ln/>
        </p:spPr>
        <p:txBody>
          <a:bodyPr wrap="square" lIns="0" tIns="0" rIns="0" bIns="0" rtlCol="0" anchor="ctr"/>
          <a:lstStyle/>
          <a:p>
            <a:pPr indent="0" marL="0">
              <a:buNone/>
            </a:pPr>
            <a:r>
              <a:rPr lang="en-US" sz="1250" b="1" dirty="0">
                <a:solidFill>
                  <a:srgbClr val="F5A623"/>
                </a:solidFill>
                <a:latin typeface="Trebuchet MS" pitchFamily="34" charset="0"/>
                <a:ea typeface="Trebuchet MS" pitchFamily="34" charset="-122"/>
                <a:cs typeface="Trebuchet MS" pitchFamily="34" charset="-120"/>
              </a:rPr>
              <a:t>Huyết áp tụt</a:t>
            </a:r>
            <a:endParaRPr lang="en-US" sz="1250" dirty="0"/>
          </a:p>
        </p:txBody>
      </p:sp>
      <p:sp>
        <p:nvSpPr>
          <p:cNvPr id="25" name="Text 20"/>
          <p:cNvSpPr/>
          <p:nvPr/>
        </p:nvSpPr>
        <p:spPr>
          <a:xfrm>
            <a:off x="7818120" y="3685032"/>
            <a:ext cx="3520440" cy="45720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Tâm thu &lt; 90 mmHg → cảnh báo, đề xuất nằm lại</a:t>
            </a:r>
            <a:endParaRPr lang="en-US" sz="1050" dirty="0"/>
          </a:p>
        </p:txBody>
      </p:sp>
      <p:sp>
        <p:nvSpPr>
          <p:cNvPr id="26" name="Shape 21"/>
          <p:cNvSpPr/>
          <p:nvPr/>
        </p:nvSpPr>
        <p:spPr>
          <a:xfrm>
            <a:off x="7635240" y="4215384"/>
            <a:ext cx="82296" cy="658368"/>
          </a:xfrm>
          <a:prstGeom prst="rect">
            <a:avLst/>
          </a:prstGeom>
          <a:solidFill>
            <a:srgbClr val="0D9488"/>
          </a:solidFill>
          <a:ln/>
        </p:spPr>
      </p:sp>
      <p:sp>
        <p:nvSpPr>
          <p:cNvPr id="27" name="Text 22"/>
          <p:cNvSpPr/>
          <p:nvPr/>
        </p:nvSpPr>
        <p:spPr>
          <a:xfrm>
            <a:off x="7818120" y="4178808"/>
            <a:ext cx="3566160" cy="292608"/>
          </a:xfrm>
          <a:prstGeom prst="rect">
            <a:avLst/>
          </a:prstGeom>
          <a:noFill/>
          <a:ln/>
        </p:spPr>
        <p:txBody>
          <a:bodyPr wrap="square" lIns="0" tIns="0" rIns="0" bIns="0" rtlCol="0" anchor="ctr"/>
          <a:lstStyle/>
          <a:p>
            <a:pPr indent="0" marL="0">
              <a:buNone/>
            </a:pPr>
            <a:r>
              <a:rPr lang="en-US" sz="1250" b="1" dirty="0">
                <a:solidFill>
                  <a:srgbClr val="0D9488"/>
                </a:solidFill>
                <a:latin typeface="Trebuchet MS" pitchFamily="34" charset="0"/>
                <a:ea typeface="Trebuchet MS" pitchFamily="34" charset="-122"/>
                <a:cs typeface="Trebuchet MS" pitchFamily="34" charset="-120"/>
              </a:rPr>
              <a:t>SpO₂ thấp</a:t>
            </a:r>
            <a:endParaRPr lang="en-US" sz="1250" dirty="0"/>
          </a:p>
        </p:txBody>
      </p:sp>
      <p:sp>
        <p:nvSpPr>
          <p:cNvPr id="28" name="Text 23"/>
          <p:cNvSpPr/>
          <p:nvPr/>
        </p:nvSpPr>
        <p:spPr>
          <a:xfrm>
            <a:off x="7818120" y="4471416"/>
            <a:ext cx="3520440" cy="45720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&lt; 92% → gợi ý liên hệ bác sĩ TeleSpecialist</a:t>
            </a:r>
            <a:endParaRPr lang="en-US" sz="1050" dirty="0"/>
          </a:p>
        </p:txBody>
      </p:sp>
      <p:sp>
        <p:nvSpPr>
          <p:cNvPr id="29" name="Shape 24"/>
          <p:cNvSpPr/>
          <p:nvPr/>
        </p:nvSpPr>
        <p:spPr>
          <a:xfrm>
            <a:off x="7635240" y="5001768"/>
            <a:ext cx="82296" cy="658368"/>
          </a:xfrm>
          <a:prstGeom prst="rect">
            <a:avLst/>
          </a:prstGeom>
          <a:solidFill>
            <a:srgbClr val="0F766E"/>
          </a:solidFill>
          <a:ln/>
        </p:spPr>
      </p:sp>
      <p:sp>
        <p:nvSpPr>
          <p:cNvPr id="30" name="Text 25"/>
          <p:cNvSpPr/>
          <p:nvPr/>
        </p:nvSpPr>
        <p:spPr>
          <a:xfrm>
            <a:off x="7818120" y="4965192"/>
            <a:ext cx="3566160" cy="292608"/>
          </a:xfrm>
          <a:prstGeom prst="rect">
            <a:avLst/>
          </a:prstGeom>
          <a:noFill/>
          <a:ln/>
        </p:spPr>
        <p:txBody>
          <a:bodyPr wrap="square" lIns="0" tIns="0" rIns="0" bIns="0" rtlCol="0" anchor="ctr"/>
          <a:lstStyle/>
          <a:p>
            <a:pPr indent="0" marL="0">
              <a:buNone/>
            </a:pPr>
            <a:r>
              <a:rPr lang="en-US" sz="1250" b="1" dirty="0">
                <a:solidFill>
                  <a:srgbClr val="0F766E"/>
                </a:solidFill>
                <a:latin typeface="Trebuchet MS" pitchFamily="34" charset="0"/>
                <a:ea typeface="Trebuchet MS" pitchFamily="34" charset="-122"/>
                <a:cs typeface="Trebuchet MS" pitchFamily="34" charset="-120"/>
              </a:rPr>
              <a:t>Đi lạc</a:t>
            </a:r>
            <a:endParaRPr lang="en-US" sz="1250" dirty="0"/>
          </a:p>
        </p:txBody>
      </p:sp>
      <p:sp>
        <p:nvSpPr>
          <p:cNvPr id="31" name="Text 26"/>
          <p:cNvSpPr/>
          <p:nvPr/>
        </p:nvSpPr>
        <p:spPr>
          <a:xfrm>
            <a:off x="7818120" y="5257800"/>
            <a:ext cx="3520440" cy="45720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Bất động &gt; 5 phút / ra ngoài bán kính 500m → cảnh báo</a:t>
            </a:r>
            <a:endParaRPr lang="en-US" sz="1050" dirty="0"/>
          </a:p>
        </p:txBody>
      </p:sp>
      <p:sp>
        <p:nvSpPr>
          <p:cNvPr id="32" name="Shape 27"/>
          <p:cNvSpPr/>
          <p:nvPr/>
        </p:nvSpPr>
        <p:spPr>
          <a:xfrm>
            <a:off x="0" y="6565392"/>
            <a:ext cx="12191695" cy="292608"/>
          </a:xfrm>
          <a:prstGeom prst="rect">
            <a:avLst/>
          </a:prstGeom>
          <a:solidFill>
            <a:srgbClr val="FFFFFF"/>
          </a:solidFill>
          <a:ln/>
        </p:spPr>
      </p:sp>
      <p:sp>
        <p:nvSpPr>
          <p:cNvPr id="33" name="Shape 28"/>
          <p:cNvSpPr/>
          <p:nvPr/>
        </p:nvSpPr>
        <p:spPr>
          <a:xfrm>
            <a:off x="0" y="6547104"/>
            <a:ext cx="12191695" cy="20117"/>
          </a:xfrm>
          <a:prstGeom prst="rect">
            <a:avLst/>
          </a:prstGeom>
          <a:solidFill>
            <a:srgbClr val="E2E8F0"/>
          </a:solidFill>
          <a:ln/>
        </p:spPr>
      </p:sp>
      <p:sp>
        <p:nvSpPr>
          <p:cNvPr id="34" name="Shape 29"/>
          <p:cNvSpPr/>
          <p:nvPr/>
        </p:nvSpPr>
        <p:spPr>
          <a:xfrm>
            <a:off x="457200" y="6624828"/>
            <a:ext cx="118872" cy="118872"/>
          </a:xfrm>
          <a:prstGeom prst="ellipse">
            <a:avLst/>
          </a:prstGeom>
          <a:solidFill>
            <a:srgbClr val="0D9488"/>
          </a:solidFill>
          <a:ln/>
        </p:spPr>
      </p:sp>
      <p:sp>
        <p:nvSpPr>
          <p:cNvPr id="35" name="Text 30"/>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36" name="Text 31"/>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37" name="Text 32"/>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ĐI SÂU GIẢI PHÁP</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Điều dưỡng tại nhà + đặt khám thông minh</a:t>
            </a:r>
            <a:endParaRPr lang="en-US" sz="3000" dirty="0"/>
          </a:p>
        </p:txBody>
      </p:sp>
      <p:sp>
        <p:nvSpPr>
          <p:cNvPr id="5" name="Shape 3"/>
          <p:cNvSpPr/>
          <p:nvPr/>
        </p:nvSpPr>
        <p:spPr>
          <a:xfrm>
            <a:off x="640080" y="1783080"/>
            <a:ext cx="5440680" cy="4297680"/>
          </a:xfrm>
          <a:prstGeom prst="roundRect">
            <a:avLst>
              <a:gd name="adj" fmla="val 1702"/>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896112" y="2020824"/>
            <a:ext cx="566928" cy="566928"/>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1024128" y="2148840"/>
            <a:ext cx="310896" cy="310896"/>
          </a:xfrm>
          <a:prstGeom prst="rect">
            <a:avLst/>
          </a:prstGeom>
        </p:spPr>
      </p:pic>
      <p:sp>
        <p:nvSpPr>
          <p:cNvPr id="8" name="Text 5"/>
          <p:cNvSpPr/>
          <p:nvPr/>
        </p:nvSpPr>
        <p:spPr>
          <a:xfrm>
            <a:off x="896112" y="2679192"/>
            <a:ext cx="4983480" cy="347472"/>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CareConnect — Điều dưỡng tại nhà</a:t>
            </a:r>
            <a:endParaRPr lang="en-US" sz="1400" dirty="0"/>
          </a:p>
        </p:txBody>
      </p:sp>
      <p:sp>
        <p:nvSpPr>
          <p:cNvPr id="9" name="Text 6"/>
          <p:cNvSpPr/>
          <p:nvPr/>
        </p:nvSpPr>
        <p:spPr>
          <a:xfrm>
            <a:off x="896112" y="3008376"/>
            <a:ext cx="4983480" cy="292608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Marketplace điều dưỡng &amp; người chăm sóc đã xác minh, đặt theo giờ / ngày / gói tháng.</a:t>
            </a:r>
            <a:endParaRPr lang="en-US" sz="1050" dirty="0"/>
          </a:p>
        </p:txBody>
      </p:sp>
      <p:sp>
        <p:nvSpPr>
          <p:cNvPr id="10" name="Text 7"/>
          <p:cNvSpPr/>
          <p:nvPr/>
        </p:nvSpPr>
        <p:spPr>
          <a:xfrm>
            <a:off x="914400" y="3246120"/>
            <a:ext cx="4937760" cy="265176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200" dirty="0">
                <a:solidFill>
                  <a:srgbClr val="1E293B"/>
                </a:solidFill>
                <a:latin typeface="Calibri" pitchFamily="34" charset="0"/>
                <a:ea typeface="Calibri" pitchFamily="34" charset="-122"/>
                <a:cs typeface="Calibri" pitchFamily="34" charset="-120"/>
              </a:rPr>
              <a:t>Giá 80–150k/giờ · hoa hồng 20% GMV · gross margin ~85%.</a:t>
            </a:r>
            <a:endParaRPr lang="en-US" sz="1200" dirty="0"/>
          </a:p>
          <a:p>
            <a:pPr marL="342900" indent="-342900">
              <a:lnSpc>
                <a:spcPct val="102000"/>
              </a:lnSpc>
              <a:spcAft>
                <a:spcPts val="700"/>
              </a:spcAft>
              <a:buSzPct val="100000"/>
              <a:buChar char="•"/>
            </a:pPr>
            <a:r>
              <a:rPr lang="en-US" sz="1200" dirty="0">
                <a:solidFill>
                  <a:srgbClr val="1E293B"/>
                </a:solidFill>
                <a:latin typeface="Calibri" pitchFamily="34" charset="0"/>
                <a:ea typeface="Calibri" pitchFamily="34" charset="-122"/>
                <a:cs typeface="Calibri" pitchFamily="34" charset="-120"/>
              </a:rPr>
              <a:t>Matching theo địa lý &amp; kỹ năng: chăm bệnh nền, vật lý trị liệu, chăm sau mổ.</a:t>
            </a:r>
            <a:endParaRPr lang="en-US" sz="1200" dirty="0"/>
          </a:p>
          <a:p>
            <a:pPr marL="342900" indent="-342900">
              <a:lnSpc>
                <a:spcPct val="102000"/>
              </a:lnSpc>
              <a:spcAft>
                <a:spcPts val="700"/>
              </a:spcAft>
              <a:buSzPct val="100000"/>
              <a:buChar char="•"/>
            </a:pPr>
            <a:r>
              <a:rPr lang="en-US" sz="1200" dirty="0">
                <a:solidFill>
                  <a:srgbClr val="1E293B"/>
                </a:solidFill>
                <a:latin typeface="Calibri" pitchFamily="34" charset="0"/>
                <a:ea typeface="Calibri" pitchFamily="34" charset="-122"/>
                <a:cs typeface="Calibri" pitchFamily="34" charset="-120"/>
              </a:rPr>
              <a:t>App giám sát realtime: check-in/out định vị, nhật ký, ảnh báo cáo.</a:t>
            </a:r>
            <a:endParaRPr lang="en-US" sz="1200" dirty="0"/>
          </a:p>
          <a:p>
            <a:pPr marL="342900" indent="-342900">
              <a:lnSpc>
                <a:spcPct val="102000"/>
              </a:lnSpc>
              <a:buSzPct val="100000"/>
              <a:buChar char="•"/>
            </a:pPr>
            <a:r>
              <a:rPr lang="en-US" sz="1200" dirty="0">
                <a:solidFill>
                  <a:srgbClr val="1E293B"/>
                </a:solidFill>
                <a:latin typeface="Calibri" pitchFamily="34" charset="0"/>
                <a:ea typeface="Calibri" pitchFamily="34" charset="-122"/>
                <a:cs typeface="Calibri" pitchFamily="34" charset="-120"/>
              </a:rPr>
              <a:t>Chuẩn hóa &amp; đào tạo caregiver đạt chuẩn 5★.</a:t>
            </a:r>
            <a:endParaRPr lang="en-US" sz="1200" dirty="0"/>
          </a:p>
        </p:txBody>
      </p:sp>
      <p:sp>
        <p:nvSpPr>
          <p:cNvPr id="11" name="Shape 8"/>
          <p:cNvSpPr/>
          <p:nvPr/>
        </p:nvSpPr>
        <p:spPr>
          <a:xfrm>
            <a:off x="6263640" y="1783080"/>
            <a:ext cx="5285232" cy="4297680"/>
          </a:xfrm>
          <a:prstGeom prst="roundRect">
            <a:avLst>
              <a:gd name="adj" fmla="val 1702"/>
            </a:avLst>
          </a:prstGeom>
          <a:solidFill>
            <a:srgbClr val="FFFFFF"/>
          </a:solidFill>
          <a:ln/>
          <a:effectLst>
            <a:outerShdw sx="100000" sy="100000" kx="0" ky="0" algn="bl" rotWithShape="0" blurRad="63500" dist="25400" dir="5400000">
              <a:srgbClr val="0F172A">
                <a:alpha val="10000"/>
              </a:srgbClr>
            </a:outerShdw>
          </a:effectLst>
        </p:spPr>
      </p:sp>
      <p:sp>
        <p:nvSpPr>
          <p:cNvPr id="12" name="Shape 9"/>
          <p:cNvSpPr/>
          <p:nvPr/>
        </p:nvSpPr>
        <p:spPr>
          <a:xfrm>
            <a:off x="6519672" y="2020824"/>
            <a:ext cx="566928" cy="566928"/>
          </a:xfrm>
          <a:prstGeom prst="ellipse">
            <a:avLst/>
          </a:prstGeom>
          <a:solidFill>
            <a:srgbClr val="0F766E"/>
          </a:solidFill>
          <a:ln/>
        </p:spPr>
      </p:sp>
      <p:pic>
        <p:nvPicPr>
          <p:cNvPr id="13" name="Image 1" descr="preencoded.png">    </p:cNvPr>
          <p:cNvPicPr>
            <a:picLocks noChangeAspect="1"/>
          </p:cNvPicPr>
          <p:nvPr/>
        </p:nvPicPr>
        <p:blipFill>
          <a:blip r:embed="rId2"/>
          <a:stretch>
            <a:fillRect/>
          </a:stretch>
        </p:blipFill>
        <p:spPr>
          <a:xfrm>
            <a:off x="6647688" y="2148840"/>
            <a:ext cx="310896" cy="310896"/>
          </a:xfrm>
          <a:prstGeom prst="rect">
            <a:avLst/>
          </a:prstGeom>
        </p:spPr>
      </p:pic>
      <p:sp>
        <p:nvSpPr>
          <p:cNvPr id="14" name="Text 10"/>
          <p:cNvSpPr/>
          <p:nvPr/>
        </p:nvSpPr>
        <p:spPr>
          <a:xfrm>
            <a:off x="6519672" y="2679192"/>
            <a:ext cx="4828032" cy="347472"/>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SmartBooking — Đặt khám &amp; điều phối AI</a:t>
            </a:r>
            <a:endParaRPr lang="en-US" sz="1400" dirty="0"/>
          </a:p>
        </p:txBody>
      </p:sp>
      <p:sp>
        <p:nvSpPr>
          <p:cNvPr id="15" name="Text 11"/>
          <p:cNvSpPr/>
          <p:nvPr/>
        </p:nvSpPr>
        <p:spPr>
          <a:xfrm>
            <a:off x="6519672" y="3008376"/>
            <a:ext cx="4828032" cy="292608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AI triage hỏi triệu chứng, định tuyến bệnh viện đối tác, đặt lịch &amp; xe đưa đón.</a:t>
            </a:r>
            <a:endParaRPr lang="en-US" sz="1050" dirty="0"/>
          </a:p>
        </p:txBody>
      </p:sp>
      <p:sp>
        <p:nvSpPr>
          <p:cNvPr id="16" name="Text 12"/>
          <p:cNvSpPr/>
          <p:nvPr/>
        </p:nvSpPr>
        <p:spPr>
          <a:xfrm>
            <a:off x="6537960" y="3246120"/>
            <a:ext cx="4800600" cy="265176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200" dirty="0">
                <a:solidFill>
                  <a:srgbClr val="1E293B"/>
                </a:solidFill>
                <a:latin typeface="Calibri" pitchFamily="34" charset="0"/>
                <a:ea typeface="Calibri" pitchFamily="34" charset="-122"/>
                <a:cs typeface="Calibri" pitchFamily="34" charset="-120"/>
              </a:rPr>
              <a:t>Gói 299–599k/tháng · giữ ~40% phí khám · gross margin ~60%.</a:t>
            </a:r>
            <a:endParaRPr lang="en-US" sz="1200" dirty="0"/>
          </a:p>
          <a:p>
            <a:pPr marL="342900" indent="-342900">
              <a:lnSpc>
                <a:spcPct val="102000"/>
              </a:lnSpc>
              <a:spcAft>
                <a:spcPts val="700"/>
              </a:spcAft>
              <a:buSzPct val="100000"/>
              <a:buChar char="•"/>
            </a:pPr>
            <a:r>
              <a:rPr lang="en-US" sz="1200" dirty="0">
                <a:solidFill>
                  <a:srgbClr val="1E293B"/>
                </a:solidFill>
                <a:latin typeface="Calibri" pitchFamily="34" charset="0"/>
                <a:ea typeface="Calibri" pitchFamily="34" charset="-122"/>
                <a:cs typeface="Calibri" pitchFamily="34" charset="-120"/>
              </a:rPr>
              <a:t>Chatbot AI triage + tích hợp API lịch khám bệnh viện.</a:t>
            </a:r>
            <a:endParaRPr lang="en-US" sz="1200" dirty="0"/>
          </a:p>
          <a:p>
            <a:pPr marL="342900" indent="-342900">
              <a:lnSpc>
                <a:spcPct val="102000"/>
              </a:lnSpc>
              <a:spcAft>
                <a:spcPts val="700"/>
              </a:spcAft>
              <a:buSzPct val="100000"/>
              <a:buChar char="•"/>
            </a:pPr>
            <a:r>
              <a:rPr lang="en-US" sz="1200" dirty="0">
                <a:solidFill>
                  <a:srgbClr val="1E293B"/>
                </a:solidFill>
                <a:latin typeface="Calibri" pitchFamily="34" charset="0"/>
                <a:ea typeface="Calibri" pitchFamily="34" charset="-122"/>
                <a:cs typeface="Calibri" pitchFamily="34" charset="-120"/>
              </a:rPr>
              <a:t>Đồng bộ tái khám định kỳ cho ≥3 bệnh mạn tính.</a:t>
            </a:r>
            <a:endParaRPr lang="en-US" sz="1200" dirty="0"/>
          </a:p>
          <a:p>
            <a:pPr marL="342900" indent="-342900">
              <a:lnSpc>
                <a:spcPct val="102000"/>
              </a:lnSpc>
              <a:buSzPct val="100000"/>
              <a:buChar char="•"/>
            </a:pPr>
            <a:r>
              <a:rPr lang="en-US" sz="1200" dirty="0">
                <a:solidFill>
                  <a:srgbClr val="1E293B"/>
                </a:solidFill>
                <a:latin typeface="Calibri" pitchFamily="34" charset="0"/>
                <a:ea typeface="Calibri" pitchFamily="34" charset="-122"/>
                <a:cs typeface="Calibri" pitchFamily="34" charset="-120"/>
              </a:rPr>
              <a:t>Kênh affiliate bệnh viện — nguồn khách &amp; doanh thu kép.</a:t>
            </a:r>
            <a:endParaRPr lang="en-US" sz="1200" dirty="0"/>
          </a:p>
        </p:txBody>
      </p:sp>
      <p:sp>
        <p:nvSpPr>
          <p:cNvPr id="17" name="Shape 13"/>
          <p:cNvSpPr/>
          <p:nvPr/>
        </p:nvSpPr>
        <p:spPr>
          <a:xfrm>
            <a:off x="0" y="6565392"/>
            <a:ext cx="12191695" cy="292608"/>
          </a:xfrm>
          <a:prstGeom prst="rect">
            <a:avLst/>
          </a:prstGeom>
          <a:solidFill>
            <a:srgbClr val="FFFFFF"/>
          </a:solidFill>
          <a:ln/>
        </p:spPr>
      </p:sp>
      <p:sp>
        <p:nvSpPr>
          <p:cNvPr id="18" name="Shape 14"/>
          <p:cNvSpPr/>
          <p:nvPr/>
        </p:nvSpPr>
        <p:spPr>
          <a:xfrm>
            <a:off x="0" y="6547104"/>
            <a:ext cx="12191695" cy="20117"/>
          </a:xfrm>
          <a:prstGeom prst="rect">
            <a:avLst/>
          </a:prstGeom>
          <a:solidFill>
            <a:srgbClr val="E2E8F0"/>
          </a:solidFill>
          <a:ln/>
        </p:spPr>
      </p:sp>
      <p:sp>
        <p:nvSpPr>
          <p:cNvPr id="19" name="Shape 15"/>
          <p:cNvSpPr/>
          <p:nvPr/>
        </p:nvSpPr>
        <p:spPr>
          <a:xfrm>
            <a:off x="457200" y="6624828"/>
            <a:ext cx="118872" cy="118872"/>
          </a:xfrm>
          <a:prstGeom prst="ellipse">
            <a:avLst/>
          </a:prstGeom>
          <a:solidFill>
            <a:srgbClr val="0D9488"/>
          </a:solidFill>
          <a:ln/>
        </p:spPr>
      </p:sp>
      <p:sp>
        <p:nvSpPr>
          <p:cNvPr id="20" name="Text 16"/>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21" name="Text 17"/>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22" name="Text 18"/>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ĐI SÂU GIẢI PHÁP</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Telehealth chuyên khoa + tài chính y tế</a:t>
            </a:r>
            <a:endParaRPr lang="en-US" sz="3000" dirty="0"/>
          </a:p>
        </p:txBody>
      </p:sp>
      <p:sp>
        <p:nvSpPr>
          <p:cNvPr id="5" name="Shape 3"/>
          <p:cNvSpPr/>
          <p:nvPr/>
        </p:nvSpPr>
        <p:spPr>
          <a:xfrm>
            <a:off x="640080" y="1783080"/>
            <a:ext cx="5440680" cy="4297680"/>
          </a:xfrm>
          <a:prstGeom prst="roundRect">
            <a:avLst>
              <a:gd name="adj" fmla="val 1702"/>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896112" y="2020824"/>
            <a:ext cx="566928" cy="566928"/>
          </a:xfrm>
          <a:prstGeom prst="ellipse">
            <a:avLst/>
          </a:prstGeom>
          <a:solidFill>
            <a:srgbClr val="2DD4BF"/>
          </a:solidFill>
          <a:ln/>
        </p:spPr>
      </p:sp>
      <p:pic>
        <p:nvPicPr>
          <p:cNvPr id="7" name="Image 0" descr="preencoded.png">    </p:cNvPr>
          <p:cNvPicPr>
            <a:picLocks noChangeAspect="1"/>
          </p:cNvPicPr>
          <p:nvPr/>
        </p:nvPicPr>
        <p:blipFill>
          <a:blip r:embed="rId1"/>
          <a:stretch>
            <a:fillRect/>
          </a:stretch>
        </p:blipFill>
        <p:spPr>
          <a:xfrm>
            <a:off x="1024128" y="2148840"/>
            <a:ext cx="310896" cy="310896"/>
          </a:xfrm>
          <a:prstGeom prst="rect">
            <a:avLst/>
          </a:prstGeom>
        </p:spPr>
      </p:pic>
      <p:sp>
        <p:nvSpPr>
          <p:cNvPr id="8" name="Text 5"/>
          <p:cNvSpPr/>
          <p:nvPr/>
        </p:nvSpPr>
        <p:spPr>
          <a:xfrm>
            <a:off x="896112" y="2679192"/>
            <a:ext cx="4983480" cy="347472"/>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TeleSpecialist — Telehealth lão khoa</a:t>
            </a:r>
            <a:endParaRPr lang="en-US" sz="1400" dirty="0"/>
          </a:p>
        </p:txBody>
      </p:sp>
      <p:sp>
        <p:nvSpPr>
          <p:cNvPr id="9" name="Text 6"/>
          <p:cNvSpPr/>
          <p:nvPr/>
        </p:nvSpPr>
        <p:spPr>
          <a:xfrm>
            <a:off x="896112" y="3008376"/>
            <a:ext cx="4983480" cy="292608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Khám video chuyên khoa (lão khoa, tim mạch, tiểu đường, nội tiết) &amp; tái khám tại nhà.</a:t>
            </a:r>
            <a:endParaRPr lang="en-US" sz="1050" dirty="0"/>
          </a:p>
        </p:txBody>
      </p:sp>
      <p:sp>
        <p:nvSpPr>
          <p:cNvPr id="10" name="Text 7"/>
          <p:cNvSpPr/>
          <p:nvPr/>
        </p:nvSpPr>
        <p:spPr>
          <a:xfrm>
            <a:off x="914400" y="3246120"/>
            <a:ext cx="4937760" cy="265176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200" dirty="0">
                <a:solidFill>
                  <a:srgbClr val="1E293B"/>
                </a:solidFill>
                <a:latin typeface="Calibri" pitchFamily="34" charset="0"/>
                <a:ea typeface="Calibri" pitchFamily="34" charset="-122"/>
                <a:cs typeface="Calibri" pitchFamily="34" charset="-120"/>
              </a:rPr>
              <a:t>Gói 299–599k/tháng · giữ ~40% phí khám · gross margin ~60%.</a:t>
            </a:r>
            <a:endParaRPr lang="en-US" sz="1200" dirty="0"/>
          </a:p>
          <a:p>
            <a:pPr marL="342900" indent="-342900">
              <a:lnSpc>
                <a:spcPct val="102000"/>
              </a:lnSpc>
              <a:spcAft>
                <a:spcPts val="700"/>
              </a:spcAft>
              <a:buSzPct val="100000"/>
              <a:buChar char="•"/>
            </a:pPr>
            <a:r>
              <a:rPr lang="en-US" sz="1200" dirty="0">
                <a:solidFill>
                  <a:srgbClr val="1E293B"/>
                </a:solidFill>
                <a:latin typeface="Calibri" pitchFamily="34" charset="0"/>
                <a:ea typeface="Calibri" pitchFamily="34" charset="-122"/>
                <a:cs typeface="Calibri" pitchFamily="34" charset="-120"/>
              </a:rPr>
              <a:t>Video mã hóa + hồ sơ điện tử (EHR) + đơn thuốc số.</a:t>
            </a:r>
            <a:endParaRPr lang="en-US" sz="1200" dirty="0"/>
          </a:p>
          <a:p>
            <a:pPr marL="342900" indent="-342900">
              <a:lnSpc>
                <a:spcPct val="102000"/>
              </a:lnSpc>
              <a:spcAft>
                <a:spcPts val="700"/>
              </a:spcAft>
              <a:buSzPct val="100000"/>
              <a:buChar char="•"/>
            </a:pPr>
            <a:r>
              <a:rPr lang="en-US" sz="1200" dirty="0">
                <a:solidFill>
                  <a:srgbClr val="1E293B"/>
                </a:solidFill>
                <a:latin typeface="Calibri" pitchFamily="34" charset="0"/>
                <a:ea typeface="Calibri" pitchFamily="34" charset="-122"/>
                <a:cs typeface="Calibri" pitchFamily="34" charset="-120"/>
              </a:rPr>
              <a:t>AI tóm tắt triệu chứng &amp; sinh hiệu từ wearable cho bác sĩ.</a:t>
            </a:r>
            <a:endParaRPr lang="en-US" sz="1200" dirty="0"/>
          </a:p>
          <a:p>
            <a:pPr marL="342900" indent="-342900">
              <a:lnSpc>
                <a:spcPct val="102000"/>
              </a:lnSpc>
              <a:buSzPct val="100000"/>
              <a:buChar char="•"/>
            </a:pPr>
            <a:r>
              <a:rPr lang="en-US" sz="1200" dirty="0">
                <a:solidFill>
                  <a:srgbClr val="1E293B"/>
                </a:solidFill>
                <a:latin typeface="Calibri" pitchFamily="34" charset="0"/>
                <a:ea typeface="Calibri" pitchFamily="34" charset="-122"/>
                <a:cs typeface="Calibri" pitchFamily="34" charset="-120"/>
              </a:rPr>
              <a:t>Mạng lưới bác sĩ chuyên khoa được xác minh.</a:t>
            </a:r>
            <a:endParaRPr lang="en-US" sz="1200" dirty="0"/>
          </a:p>
        </p:txBody>
      </p:sp>
      <p:sp>
        <p:nvSpPr>
          <p:cNvPr id="11" name="Shape 8"/>
          <p:cNvSpPr/>
          <p:nvPr/>
        </p:nvSpPr>
        <p:spPr>
          <a:xfrm>
            <a:off x="6263640" y="1783080"/>
            <a:ext cx="5285232" cy="4297680"/>
          </a:xfrm>
          <a:prstGeom prst="roundRect">
            <a:avLst>
              <a:gd name="adj" fmla="val 1702"/>
            </a:avLst>
          </a:prstGeom>
          <a:solidFill>
            <a:srgbClr val="FFFFFF"/>
          </a:solidFill>
          <a:ln/>
          <a:effectLst>
            <a:outerShdw sx="100000" sy="100000" kx="0" ky="0" algn="bl" rotWithShape="0" blurRad="63500" dist="25400" dir="5400000">
              <a:srgbClr val="0F172A">
                <a:alpha val="10000"/>
              </a:srgbClr>
            </a:outerShdw>
          </a:effectLst>
        </p:spPr>
      </p:sp>
      <p:sp>
        <p:nvSpPr>
          <p:cNvPr id="12" name="Shape 9"/>
          <p:cNvSpPr/>
          <p:nvPr/>
        </p:nvSpPr>
        <p:spPr>
          <a:xfrm>
            <a:off x="6519672" y="2020824"/>
            <a:ext cx="566928" cy="566928"/>
          </a:xfrm>
          <a:prstGeom prst="ellipse">
            <a:avLst/>
          </a:prstGeom>
          <a:solidFill>
            <a:srgbClr val="F5A623"/>
          </a:solidFill>
          <a:ln/>
        </p:spPr>
      </p:sp>
      <p:pic>
        <p:nvPicPr>
          <p:cNvPr id="13" name="Image 1" descr="preencoded.png">    </p:cNvPr>
          <p:cNvPicPr>
            <a:picLocks noChangeAspect="1"/>
          </p:cNvPicPr>
          <p:nvPr/>
        </p:nvPicPr>
        <p:blipFill>
          <a:blip r:embed="rId2"/>
          <a:stretch>
            <a:fillRect/>
          </a:stretch>
        </p:blipFill>
        <p:spPr>
          <a:xfrm>
            <a:off x="6647688" y="2148840"/>
            <a:ext cx="310896" cy="310896"/>
          </a:xfrm>
          <a:prstGeom prst="rect">
            <a:avLst/>
          </a:prstGeom>
        </p:spPr>
      </p:pic>
      <p:sp>
        <p:nvSpPr>
          <p:cNvPr id="14" name="Text 10"/>
          <p:cNvSpPr/>
          <p:nvPr/>
        </p:nvSpPr>
        <p:spPr>
          <a:xfrm>
            <a:off x="6519672" y="2679192"/>
            <a:ext cx="4828032" cy="347472"/>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MedFin — Tài chính y tế</a:t>
            </a:r>
            <a:endParaRPr lang="en-US" sz="1400" dirty="0"/>
          </a:p>
        </p:txBody>
      </p:sp>
      <p:sp>
        <p:nvSpPr>
          <p:cNvPr id="15" name="Text 11"/>
          <p:cNvSpPr/>
          <p:nvPr/>
        </p:nvSpPr>
        <p:spPr>
          <a:xfrm>
            <a:off x="6519672" y="3008376"/>
            <a:ext cx="4828032" cy="292608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Trả góp ca mổ/điều trị, gói chăm sóc trả trước &amp; bảo hiểm bổ sung.</a:t>
            </a:r>
            <a:endParaRPr lang="en-US" sz="1050" dirty="0"/>
          </a:p>
        </p:txBody>
      </p:sp>
      <p:sp>
        <p:nvSpPr>
          <p:cNvPr id="16" name="Text 12"/>
          <p:cNvSpPr/>
          <p:nvPr/>
        </p:nvSpPr>
        <p:spPr>
          <a:xfrm>
            <a:off x="6537960" y="3246120"/>
            <a:ext cx="4800600" cy="265176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200" dirty="0">
                <a:solidFill>
                  <a:srgbClr val="1E293B"/>
                </a:solidFill>
                <a:latin typeface="Calibri" pitchFamily="34" charset="0"/>
                <a:ea typeface="Calibri" pitchFamily="34" charset="-122"/>
                <a:cs typeface="Calibri" pitchFamily="34" charset="-120"/>
              </a:rPr>
              <a:t>Mổ khớp háng 28–67 triệu → trả góp 12 tháng, 0% hoặc lãi thấp.</a:t>
            </a:r>
            <a:endParaRPr lang="en-US" sz="1200" dirty="0"/>
          </a:p>
          <a:p>
            <a:pPr marL="342900" indent="-342900">
              <a:lnSpc>
                <a:spcPct val="102000"/>
              </a:lnSpc>
              <a:spcAft>
                <a:spcPts val="700"/>
              </a:spcAft>
              <a:buSzPct val="100000"/>
              <a:buChar char="•"/>
            </a:pPr>
            <a:r>
              <a:rPr lang="en-US" sz="1200" dirty="0">
                <a:solidFill>
                  <a:srgbClr val="1E293B"/>
                </a:solidFill>
                <a:latin typeface="Calibri" pitchFamily="34" charset="0"/>
                <a:ea typeface="Calibri" pitchFamily="34" charset="-122"/>
                <a:cs typeface="Calibri" pitchFamily="34" charset="-120"/>
              </a:rPr>
              <a:t>NIM 6–9%/năm · hoa hồng bảo hiểm 10–25% · gross margin ~55%.</a:t>
            </a:r>
            <a:endParaRPr lang="en-US" sz="1200" dirty="0"/>
          </a:p>
          <a:p>
            <a:pPr marL="342900" indent="-342900">
              <a:lnSpc>
                <a:spcPct val="102000"/>
              </a:lnSpc>
              <a:spcAft>
                <a:spcPts val="700"/>
              </a:spcAft>
              <a:buSzPct val="100000"/>
              <a:buChar char="•"/>
            </a:pPr>
            <a:r>
              <a:rPr lang="en-US" sz="1200" dirty="0">
                <a:solidFill>
                  <a:srgbClr val="1E293B"/>
                </a:solidFill>
                <a:latin typeface="Calibri" pitchFamily="34" charset="0"/>
                <a:ea typeface="Calibri" pitchFamily="34" charset="-122"/>
                <a:cs typeface="Calibri" pitchFamily="34" charset="-120"/>
              </a:rPr>
              <a:t>AI chấm điểm tín dụng từ hồ sơ sức khỏe &amp; chi tiêu y tế.</a:t>
            </a:r>
            <a:endParaRPr lang="en-US" sz="1200" dirty="0"/>
          </a:p>
          <a:p>
            <a:pPr marL="342900" indent="-342900">
              <a:lnSpc>
                <a:spcPct val="102000"/>
              </a:lnSpc>
              <a:buSzPct val="100000"/>
              <a:buChar char="•"/>
            </a:pPr>
            <a:r>
              <a:rPr lang="en-US" sz="1200" dirty="0">
                <a:solidFill>
                  <a:srgbClr val="1E293B"/>
                </a:solidFill>
                <a:latin typeface="Calibri" pitchFamily="34" charset="0"/>
                <a:ea typeface="Calibri" pitchFamily="34" charset="-122"/>
                <a:cs typeface="Calibri" pitchFamily="34" charset="-120"/>
              </a:rPr>
              <a:t>Mô hình “originate-to-distribute” — hợp tác ngân hàng cấp vốn.</a:t>
            </a:r>
            <a:endParaRPr lang="en-US" sz="1200" dirty="0"/>
          </a:p>
        </p:txBody>
      </p:sp>
      <p:sp>
        <p:nvSpPr>
          <p:cNvPr id="17" name="Shape 13"/>
          <p:cNvSpPr/>
          <p:nvPr/>
        </p:nvSpPr>
        <p:spPr>
          <a:xfrm>
            <a:off x="0" y="6565392"/>
            <a:ext cx="12191695" cy="292608"/>
          </a:xfrm>
          <a:prstGeom prst="rect">
            <a:avLst/>
          </a:prstGeom>
          <a:solidFill>
            <a:srgbClr val="FFFFFF"/>
          </a:solidFill>
          <a:ln/>
        </p:spPr>
      </p:sp>
      <p:sp>
        <p:nvSpPr>
          <p:cNvPr id="18" name="Shape 14"/>
          <p:cNvSpPr/>
          <p:nvPr/>
        </p:nvSpPr>
        <p:spPr>
          <a:xfrm>
            <a:off x="0" y="6547104"/>
            <a:ext cx="12191695" cy="20117"/>
          </a:xfrm>
          <a:prstGeom prst="rect">
            <a:avLst/>
          </a:prstGeom>
          <a:solidFill>
            <a:srgbClr val="E2E8F0"/>
          </a:solidFill>
          <a:ln/>
        </p:spPr>
      </p:sp>
      <p:sp>
        <p:nvSpPr>
          <p:cNvPr id="19" name="Shape 15"/>
          <p:cNvSpPr/>
          <p:nvPr/>
        </p:nvSpPr>
        <p:spPr>
          <a:xfrm>
            <a:off x="457200" y="6624828"/>
            <a:ext cx="118872" cy="118872"/>
          </a:xfrm>
          <a:prstGeom prst="ellipse">
            <a:avLst/>
          </a:prstGeom>
          <a:solidFill>
            <a:srgbClr val="0D9488"/>
          </a:solidFill>
          <a:ln/>
        </p:spPr>
      </p:sp>
      <p:sp>
        <p:nvSpPr>
          <p:cNvPr id="20" name="Text 16"/>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21" name="Text 17"/>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22" name="Text 18"/>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DEMO SẢN PHẨM</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App clickable — đã build &amp; deploy</a:t>
            </a:r>
            <a:endParaRPr lang="en-US" sz="3000" dirty="0"/>
          </a:p>
        </p:txBody>
      </p:sp>
      <p:sp>
        <p:nvSpPr>
          <p:cNvPr id="5" name="Shape 3"/>
          <p:cNvSpPr/>
          <p:nvPr/>
        </p:nvSpPr>
        <p:spPr>
          <a:xfrm>
            <a:off x="640080" y="1783080"/>
            <a:ext cx="3529584" cy="1828800"/>
          </a:xfrm>
          <a:prstGeom prst="roundRect">
            <a:avLst>
              <a:gd name="adj" fmla="val 4000"/>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896112" y="20574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1024128" y="2185416"/>
            <a:ext cx="292608" cy="292608"/>
          </a:xfrm>
          <a:prstGeom prst="rect">
            <a:avLst/>
          </a:prstGeom>
        </p:spPr>
      </p:pic>
      <p:sp>
        <p:nvSpPr>
          <p:cNvPr id="8" name="Text 5"/>
          <p:cNvSpPr/>
          <p:nvPr/>
        </p:nvSpPr>
        <p:spPr>
          <a:xfrm>
            <a:off x="1600200" y="2057400"/>
            <a:ext cx="2386584" cy="5486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Persona switch</a:t>
            </a:r>
            <a:endParaRPr lang="en-US" sz="1400" dirty="0"/>
          </a:p>
        </p:txBody>
      </p:sp>
      <p:sp>
        <p:nvSpPr>
          <p:cNvPr id="9" name="Text 6"/>
          <p:cNvSpPr/>
          <p:nvPr/>
        </p:nvSpPr>
        <p:spPr>
          <a:xfrm>
            <a:off x="914400" y="2697480"/>
            <a:ext cx="3026664" cy="822960"/>
          </a:xfrm>
          <a:prstGeom prst="rect">
            <a:avLst/>
          </a:prstGeom>
          <a:noFill/>
          <a:ln/>
        </p:spPr>
        <p:txBody>
          <a:bodyPr wrap="square" lIns="0" tIns="0" rIns="0" bIns="0" rtlCol="0" anchor="t"/>
          <a:lstStyle/>
          <a:p>
            <a:pPr indent="0" marL="0">
              <a:lnSpc>
                <a:spcPct val="102000"/>
              </a:lnSpc>
              <a:buNone/>
            </a:pPr>
            <a:r>
              <a:rPr lang="en-US" sz="1100" dirty="0">
                <a:solidFill>
                  <a:srgbClr val="64748B"/>
                </a:solidFill>
                <a:latin typeface="Calibri" pitchFamily="34" charset="0"/>
                <a:ea typeface="Calibri" pitchFamily="34" charset="-122"/>
                <a:cs typeface="Calibri" pitchFamily="34" charset="-120"/>
              </a:rPr>
              <a:t>1 app, 2 giao diện: dashboard an tâm cho con cái · chữ to, menu đơn giản cho bố mẹ.</a:t>
            </a:r>
            <a:endParaRPr lang="en-US" sz="1100" dirty="0"/>
          </a:p>
        </p:txBody>
      </p:sp>
      <p:sp>
        <p:nvSpPr>
          <p:cNvPr id="10" name="Shape 7"/>
          <p:cNvSpPr/>
          <p:nvPr/>
        </p:nvSpPr>
        <p:spPr>
          <a:xfrm>
            <a:off x="4334256" y="1783080"/>
            <a:ext cx="3529584" cy="1828800"/>
          </a:xfrm>
          <a:prstGeom prst="roundRect">
            <a:avLst>
              <a:gd name="adj" fmla="val 4000"/>
            </a:avLst>
          </a:prstGeom>
          <a:solidFill>
            <a:srgbClr val="FFFFFF"/>
          </a:solidFill>
          <a:ln/>
          <a:effectLst>
            <a:outerShdw sx="100000" sy="100000" kx="0" ky="0" algn="bl" rotWithShape="0" blurRad="63500" dist="25400" dir="5400000">
              <a:srgbClr val="0F172A">
                <a:alpha val="10000"/>
              </a:srgbClr>
            </a:outerShdw>
          </a:effectLst>
        </p:spPr>
      </p:sp>
      <p:sp>
        <p:nvSpPr>
          <p:cNvPr id="11" name="Shape 8"/>
          <p:cNvSpPr/>
          <p:nvPr/>
        </p:nvSpPr>
        <p:spPr>
          <a:xfrm>
            <a:off x="4590288" y="2057400"/>
            <a:ext cx="548640" cy="548640"/>
          </a:xfrm>
          <a:prstGeom prst="ellipse">
            <a:avLst/>
          </a:prstGeom>
          <a:solidFill>
            <a:srgbClr val="FB7185"/>
          </a:solidFill>
          <a:ln/>
        </p:spPr>
      </p:sp>
      <p:pic>
        <p:nvPicPr>
          <p:cNvPr id="12" name="Image 1" descr="preencoded.png">    </p:cNvPr>
          <p:cNvPicPr>
            <a:picLocks noChangeAspect="1"/>
          </p:cNvPicPr>
          <p:nvPr/>
        </p:nvPicPr>
        <p:blipFill>
          <a:blip r:embed="rId2"/>
          <a:stretch>
            <a:fillRect/>
          </a:stretch>
        </p:blipFill>
        <p:spPr>
          <a:xfrm>
            <a:off x="4718304" y="2185416"/>
            <a:ext cx="292608" cy="292608"/>
          </a:xfrm>
          <a:prstGeom prst="rect">
            <a:avLst/>
          </a:prstGeom>
        </p:spPr>
      </p:pic>
      <p:sp>
        <p:nvSpPr>
          <p:cNvPr id="13" name="Text 9"/>
          <p:cNvSpPr/>
          <p:nvPr/>
        </p:nvSpPr>
        <p:spPr>
          <a:xfrm>
            <a:off x="5294376" y="2057400"/>
            <a:ext cx="2386584" cy="5486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Ngưỡng CareSense</a:t>
            </a:r>
            <a:endParaRPr lang="en-US" sz="1400" dirty="0"/>
          </a:p>
        </p:txBody>
      </p:sp>
      <p:sp>
        <p:nvSpPr>
          <p:cNvPr id="14" name="Text 10"/>
          <p:cNvSpPr/>
          <p:nvPr/>
        </p:nvSpPr>
        <p:spPr>
          <a:xfrm>
            <a:off x="4608576" y="2697480"/>
            <a:ext cx="3026664" cy="822960"/>
          </a:xfrm>
          <a:prstGeom prst="rect">
            <a:avLst/>
          </a:prstGeom>
          <a:noFill/>
          <a:ln/>
        </p:spPr>
        <p:txBody>
          <a:bodyPr wrap="square" lIns="0" tIns="0" rIns="0" bIns="0" rtlCol="0" anchor="t"/>
          <a:lstStyle/>
          <a:p>
            <a:pPr indent="0" marL="0">
              <a:lnSpc>
                <a:spcPct val="102000"/>
              </a:lnSpc>
              <a:buNone/>
            </a:pPr>
            <a:r>
              <a:rPr lang="en-US" sz="1100" dirty="0">
                <a:solidFill>
                  <a:srgbClr val="64748B"/>
                </a:solidFill>
                <a:latin typeface="Calibri" pitchFamily="34" charset="0"/>
                <a:ea typeface="Calibri" pitchFamily="34" charset="-122"/>
                <a:cs typeface="Calibri" pitchFamily="34" charset="-120"/>
              </a:rPr>
              <a:t>Té ngã, huyết áp tụt, SpO₂ thấp → cảnh báo theo từng ngưỡng cấu hình.</a:t>
            </a:r>
            <a:endParaRPr lang="en-US" sz="1100" dirty="0"/>
          </a:p>
        </p:txBody>
      </p:sp>
      <p:sp>
        <p:nvSpPr>
          <p:cNvPr id="15" name="Shape 11"/>
          <p:cNvSpPr/>
          <p:nvPr/>
        </p:nvSpPr>
        <p:spPr>
          <a:xfrm>
            <a:off x="8028432" y="1783080"/>
            <a:ext cx="3529584" cy="1828800"/>
          </a:xfrm>
          <a:prstGeom prst="roundRect">
            <a:avLst>
              <a:gd name="adj" fmla="val 4000"/>
            </a:avLst>
          </a:prstGeom>
          <a:solidFill>
            <a:srgbClr val="FFFFFF"/>
          </a:solidFill>
          <a:ln/>
          <a:effectLst>
            <a:outerShdw sx="100000" sy="100000" kx="0" ky="0" algn="bl" rotWithShape="0" blurRad="63500" dist="25400" dir="5400000">
              <a:srgbClr val="0F172A">
                <a:alpha val="10000"/>
              </a:srgbClr>
            </a:outerShdw>
          </a:effectLst>
        </p:spPr>
      </p:sp>
      <p:sp>
        <p:nvSpPr>
          <p:cNvPr id="16" name="Shape 12"/>
          <p:cNvSpPr/>
          <p:nvPr/>
        </p:nvSpPr>
        <p:spPr>
          <a:xfrm>
            <a:off x="8284464" y="2057400"/>
            <a:ext cx="548640" cy="548640"/>
          </a:xfrm>
          <a:prstGeom prst="ellipse">
            <a:avLst/>
          </a:prstGeom>
          <a:solidFill>
            <a:srgbClr val="0F766E"/>
          </a:solidFill>
          <a:ln/>
        </p:spPr>
      </p:sp>
      <p:pic>
        <p:nvPicPr>
          <p:cNvPr id="17" name="Image 2" descr="preencoded.png">    </p:cNvPr>
          <p:cNvPicPr>
            <a:picLocks noChangeAspect="1"/>
          </p:cNvPicPr>
          <p:nvPr/>
        </p:nvPicPr>
        <p:blipFill>
          <a:blip r:embed="rId3"/>
          <a:stretch>
            <a:fillRect/>
          </a:stretch>
        </p:blipFill>
        <p:spPr>
          <a:xfrm>
            <a:off x="8412480" y="2185416"/>
            <a:ext cx="292608" cy="292608"/>
          </a:xfrm>
          <a:prstGeom prst="rect">
            <a:avLst/>
          </a:prstGeom>
        </p:spPr>
      </p:pic>
      <p:sp>
        <p:nvSpPr>
          <p:cNvPr id="18" name="Text 13"/>
          <p:cNvSpPr/>
          <p:nvPr/>
        </p:nvSpPr>
        <p:spPr>
          <a:xfrm>
            <a:off x="8988552" y="2057400"/>
            <a:ext cx="2386584" cy="5486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AI matching điều dưỡng</a:t>
            </a:r>
            <a:endParaRPr lang="en-US" sz="1400" dirty="0"/>
          </a:p>
        </p:txBody>
      </p:sp>
      <p:sp>
        <p:nvSpPr>
          <p:cNvPr id="19" name="Text 14"/>
          <p:cNvSpPr/>
          <p:nvPr/>
        </p:nvSpPr>
        <p:spPr>
          <a:xfrm>
            <a:off x="8302752" y="2697480"/>
            <a:ext cx="3026664" cy="822960"/>
          </a:xfrm>
          <a:prstGeom prst="rect">
            <a:avLst/>
          </a:prstGeom>
          <a:noFill/>
          <a:ln/>
        </p:spPr>
        <p:txBody>
          <a:bodyPr wrap="square" lIns="0" tIns="0" rIns="0" bIns="0" rtlCol="0" anchor="t"/>
          <a:lstStyle/>
          <a:p>
            <a:pPr indent="0" marL="0">
              <a:lnSpc>
                <a:spcPct val="102000"/>
              </a:lnSpc>
              <a:buNone/>
            </a:pPr>
            <a:r>
              <a:rPr lang="en-US" sz="1100" dirty="0">
                <a:solidFill>
                  <a:srgbClr val="64748B"/>
                </a:solidFill>
                <a:latin typeface="Calibri" pitchFamily="34" charset="0"/>
                <a:ea typeface="Calibri" pitchFamily="34" charset="-122"/>
                <a:cs typeface="Calibri" pitchFamily="34" charset="-120"/>
              </a:rPr>
              <a:t>Gợi ý ĐD xác minh 4.8★, 95k/giờ, cách nhà 2 phút theo bệnh nền &amp; lịch.</a:t>
            </a:r>
            <a:endParaRPr lang="en-US" sz="1100" dirty="0"/>
          </a:p>
        </p:txBody>
      </p:sp>
      <p:sp>
        <p:nvSpPr>
          <p:cNvPr id="20" name="Shape 15"/>
          <p:cNvSpPr/>
          <p:nvPr/>
        </p:nvSpPr>
        <p:spPr>
          <a:xfrm>
            <a:off x="640080" y="3794760"/>
            <a:ext cx="3529584" cy="1828800"/>
          </a:xfrm>
          <a:prstGeom prst="roundRect">
            <a:avLst>
              <a:gd name="adj" fmla="val 4000"/>
            </a:avLst>
          </a:prstGeom>
          <a:solidFill>
            <a:srgbClr val="FFFFFF"/>
          </a:solidFill>
          <a:ln/>
          <a:effectLst>
            <a:outerShdw sx="100000" sy="100000" kx="0" ky="0" algn="bl" rotWithShape="0" blurRad="63500" dist="25400" dir="5400000">
              <a:srgbClr val="0F172A">
                <a:alpha val="10000"/>
              </a:srgbClr>
            </a:outerShdw>
          </a:effectLst>
        </p:spPr>
      </p:sp>
      <p:sp>
        <p:nvSpPr>
          <p:cNvPr id="21" name="Shape 16"/>
          <p:cNvSpPr/>
          <p:nvPr/>
        </p:nvSpPr>
        <p:spPr>
          <a:xfrm>
            <a:off x="896112" y="4069080"/>
            <a:ext cx="548640" cy="548640"/>
          </a:xfrm>
          <a:prstGeom prst="ellipse">
            <a:avLst/>
          </a:prstGeom>
          <a:solidFill>
            <a:srgbClr val="F5A623"/>
          </a:solidFill>
          <a:ln/>
        </p:spPr>
      </p:sp>
      <p:pic>
        <p:nvPicPr>
          <p:cNvPr id="22" name="Image 3" descr="preencoded.png">    </p:cNvPr>
          <p:cNvPicPr>
            <a:picLocks noChangeAspect="1"/>
          </p:cNvPicPr>
          <p:nvPr/>
        </p:nvPicPr>
        <p:blipFill>
          <a:blip r:embed="rId4"/>
          <a:stretch>
            <a:fillRect/>
          </a:stretch>
        </p:blipFill>
        <p:spPr>
          <a:xfrm>
            <a:off x="1024128" y="4197096"/>
            <a:ext cx="292608" cy="292608"/>
          </a:xfrm>
          <a:prstGeom prst="rect">
            <a:avLst/>
          </a:prstGeom>
        </p:spPr>
      </p:pic>
      <p:sp>
        <p:nvSpPr>
          <p:cNvPr id="23" name="Text 17"/>
          <p:cNvSpPr/>
          <p:nvPr/>
        </p:nvSpPr>
        <p:spPr>
          <a:xfrm>
            <a:off x="1600200" y="4069080"/>
            <a:ext cx="2386584" cy="5486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MedFin trả góp</a:t>
            </a:r>
            <a:endParaRPr lang="en-US" sz="1400" dirty="0"/>
          </a:p>
        </p:txBody>
      </p:sp>
      <p:sp>
        <p:nvSpPr>
          <p:cNvPr id="24" name="Text 18"/>
          <p:cNvSpPr/>
          <p:nvPr/>
        </p:nvSpPr>
        <p:spPr>
          <a:xfrm>
            <a:off x="914400" y="4709160"/>
            <a:ext cx="3026664" cy="822960"/>
          </a:xfrm>
          <a:prstGeom prst="rect">
            <a:avLst/>
          </a:prstGeom>
          <a:noFill/>
          <a:ln/>
        </p:spPr>
        <p:txBody>
          <a:bodyPr wrap="square" lIns="0" tIns="0" rIns="0" bIns="0" rtlCol="0" anchor="t"/>
          <a:lstStyle/>
          <a:p>
            <a:pPr indent="0" marL="0">
              <a:lnSpc>
                <a:spcPct val="102000"/>
              </a:lnSpc>
              <a:buNone/>
            </a:pPr>
            <a:r>
              <a:rPr lang="en-US" sz="1100" dirty="0">
                <a:solidFill>
                  <a:srgbClr val="64748B"/>
                </a:solidFill>
                <a:latin typeface="Calibri" pitchFamily="34" charset="0"/>
                <a:ea typeface="Calibri" pitchFamily="34" charset="-122"/>
                <a:cs typeface="Calibri" pitchFamily="34" charset="-120"/>
              </a:rPr>
              <a:t>Mổ khớp háng 45tr → chấm điểm tín dụng → trả góp 12 tháng 0% / 3,5%.</a:t>
            </a:r>
            <a:endParaRPr lang="en-US" sz="1100" dirty="0"/>
          </a:p>
        </p:txBody>
      </p:sp>
      <p:sp>
        <p:nvSpPr>
          <p:cNvPr id="25" name="Shape 19"/>
          <p:cNvSpPr/>
          <p:nvPr/>
        </p:nvSpPr>
        <p:spPr>
          <a:xfrm>
            <a:off x="4334256" y="3794760"/>
            <a:ext cx="3529584" cy="1828800"/>
          </a:xfrm>
          <a:prstGeom prst="roundRect">
            <a:avLst>
              <a:gd name="adj" fmla="val 4000"/>
            </a:avLst>
          </a:prstGeom>
          <a:solidFill>
            <a:srgbClr val="FFFFFF"/>
          </a:solidFill>
          <a:ln/>
          <a:effectLst>
            <a:outerShdw sx="100000" sy="100000" kx="0" ky="0" algn="bl" rotWithShape="0" blurRad="63500" dist="25400" dir="5400000">
              <a:srgbClr val="0F172A">
                <a:alpha val="10000"/>
              </a:srgbClr>
            </a:outerShdw>
          </a:effectLst>
        </p:spPr>
      </p:sp>
      <p:sp>
        <p:nvSpPr>
          <p:cNvPr id="26" name="Shape 20"/>
          <p:cNvSpPr/>
          <p:nvPr/>
        </p:nvSpPr>
        <p:spPr>
          <a:xfrm>
            <a:off x="4590288" y="4069080"/>
            <a:ext cx="548640" cy="548640"/>
          </a:xfrm>
          <a:prstGeom prst="ellipse">
            <a:avLst/>
          </a:prstGeom>
          <a:solidFill>
            <a:srgbClr val="2DD4BF"/>
          </a:solidFill>
          <a:ln/>
        </p:spPr>
      </p:sp>
      <p:pic>
        <p:nvPicPr>
          <p:cNvPr id="27" name="Image 4" descr="preencoded.png">    </p:cNvPr>
          <p:cNvPicPr>
            <a:picLocks noChangeAspect="1"/>
          </p:cNvPicPr>
          <p:nvPr/>
        </p:nvPicPr>
        <p:blipFill>
          <a:blip r:embed="rId5"/>
          <a:stretch>
            <a:fillRect/>
          </a:stretch>
        </p:blipFill>
        <p:spPr>
          <a:xfrm>
            <a:off x="4718304" y="4197096"/>
            <a:ext cx="292608" cy="292608"/>
          </a:xfrm>
          <a:prstGeom prst="rect">
            <a:avLst/>
          </a:prstGeom>
        </p:spPr>
      </p:pic>
      <p:sp>
        <p:nvSpPr>
          <p:cNvPr id="28" name="Text 21"/>
          <p:cNvSpPr/>
          <p:nvPr/>
        </p:nvSpPr>
        <p:spPr>
          <a:xfrm>
            <a:off x="5294376" y="4069080"/>
            <a:ext cx="2386584" cy="5486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Xác thực thuốc</a:t>
            </a:r>
            <a:endParaRPr lang="en-US" sz="1400" dirty="0"/>
          </a:p>
        </p:txBody>
      </p:sp>
      <p:sp>
        <p:nvSpPr>
          <p:cNvPr id="29" name="Text 22"/>
          <p:cNvSpPr/>
          <p:nvPr/>
        </p:nvSpPr>
        <p:spPr>
          <a:xfrm>
            <a:off x="4608576" y="4709160"/>
            <a:ext cx="3026664" cy="822960"/>
          </a:xfrm>
          <a:prstGeom prst="rect">
            <a:avLst/>
          </a:prstGeom>
          <a:noFill/>
          <a:ln/>
        </p:spPr>
        <p:txBody>
          <a:bodyPr wrap="square" lIns="0" tIns="0" rIns="0" bIns="0" rtlCol="0" anchor="t"/>
          <a:lstStyle/>
          <a:p>
            <a:pPr indent="0" marL="0">
              <a:lnSpc>
                <a:spcPct val="102000"/>
              </a:lnSpc>
              <a:buNone/>
            </a:pPr>
            <a:r>
              <a:rPr lang="en-US" sz="1100" dirty="0">
                <a:solidFill>
                  <a:srgbClr val="64748B"/>
                </a:solidFill>
                <a:latin typeface="Calibri" pitchFamily="34" charset="0"/>
                <a:ea typeface="Calibri" pitchFamily="34" charset="-122"/>
                <a:cs typeface="Calibri" pitchFamily="34" charset="-120"/>
              </a:rPr>
              <a:t>Scan QR từng vỉ → chống thuốc giả + lịch sử đơn từ TeleSpecialist.</a:t>
            </a:r>
            <a:endParaRPr lang="en-US" sz="1100" dirty="0"/>
          </a:p>
        </p:txBody>
      </p:sp>
      <p:sp>
        <p:nvSpPr>
          <p:cNvPr id="30" name="Shape 23"/>
          <p:cNvSpPr/>
          <p:nvPr/>
        </p:nvSpPr>
        <p:spPr>
          <a:xfrm>
            <a:off x="8028432" y="3794760"/>
            <a:ext cx="3529584" cy="1828800"/>
          </a:xfrm>
          <a:prstGeom prst="roundRect">
            <a:avLst>
              <a:gd name="adj" fmla="val 4000"/>
            </a:avLst>
          </a:prstGeom>
          <a:solidFill>
            <a:srgbClr val="FFFFFF"/>
          </a:solidFill>
          <a:ln/>
          <a:effectLst>
            <a:outerShdw sx="100000" sy="100000" kx="0" ky="0" algn="bl" rotWithShape="0" blurRad="63500" dist="25400" dir="5400000">
              <a:srgbClr val="0F172A">
                <a:alpha val="10000"/>
              </a:srgbClr>
            </a:outerShdw>
          </a:effectLst>
        </p:spPr>
      </p:sp>
      <p:sp>
        <p:nvSpPr>
          <p:cNvPr id="31" name="Shape 24"/>
          <p:cNvSpPr/>
          <p:nvPr/>
        </p:nvSpPr>
        <p:spPr>
          <a:xfrm>
            <a:off x="8284464" y="4069080"/>
            <a:ext cx="548640" cy="548640"/>
          </a:xfrm>
          <a:prstGeom prst="ellipse">
            <a:avLst/>
          </a:prstGeom>
          <a:solidFill>
            <a:srgbClr val="134E4A"/>
          </a:solidFill>
          <a:ln/>
        </p:spPr>
      </p:sp>
      <p:pic>
        <p:nvPicPr>
          <p:cNvPr id="32" name="Image 5" descr="preencoded.png">    </p:cNvPr>
          <p:cNvPicPr>
            <a:picLocks noChangeAspect="1"/>
          </p:cNvPicPr>
          <p:nvPr/>
        </p:nvPicPr>
        <p:blipFill>
          <a:blip r:embed="rId6"/>
          <a:stretch>
            <a:fillRect/>
          </a:stretch>
        </p:blipFill>
        <p:spPr>
          <a:xfrm>
            <a:off x="8412480" y="4197096"/>
            <a:ext cx="292608" cy="292608"/>
          </a:xfrm>
          <a:prstGeom prst="rect">
            <a:avLst/>
          </a:prstGeom>
        </p:spPr>
      </p:pic>
      <p:sp>
        <p:nvSpPr>
          <p:cNvPr id="33" name="Text 25"/>
          <p:cNvSpPr/>
          <p:nvPr/>
        </p:nvSpPr>
        <p:spPr>
          <a:xfrm>
            <a:off x="8988552" y="4069080"/>
            <a:ext cx="2386584" cy="5486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Té ngã &amp; đi lạc</a:t>
            </a:r>
            <a:endParaRPr lang="en-US" sz="1400" dirty="0"/>
          </a:p>
        </p:txBody>
      </p:sp>
      <p:sp>
        <p:nvSpPr>
          <p:cNvPr id="34" name="Text 26"/>
          <p:cNvSpPr/>
          <p:nvPr/>
        </p:nvSpPr>
        <p:spPr>
          <a:xfrm>
            <a:off x="8302752" y="4709160"/>
            <a:ext cx="3026664" cy="822960"/>
          </a:xfrm>
          <a:prstGeom prst="rect">
            <a:avLst/>
          </a:prstGeom>
          <a:noFill/>
          <a:ln/>
        </p:spPr>
        <p:txBody>
          <a:bodyPr wrap="square" lIns="0" tIns="0" rIns="0" bIns="0" rtlCol="0" anchor="t"/>
          <a:lstStyle/>
          <a:p>
            <a:pPr indent="0" marL="0">
              <a:lnSpc>
                <a:spcPct val="102000"/>
              </a:lnSpc>
              <a:buNone/>
            </a:pPr>
            <a:r>
              <a:rPr lang="en-US" sz="1100" dirty="0">
                <a:solidFill>
                  <a:srgbClr val="64748B"/>
                </a:solidFill>
                <a:latin typeface="Calibri" pitchFamily="34" charset="0"/>
                <a:ea typeface="Calibri" pitchFamily="34" charset="-122"/>
                <a:cs typeface="Calibri" pitchFamily="34" charset="-120"/>
              </a:rPr>
              <a:t>Bất động &gt; 5 phút → cảnh báo; GPS tùy chọn trong bán kính 500m nhà.</a:t>
            </a:r>
            <a:endParaRPr lang="en-US" sz="1100" dirty="0"/>
          </a:p>
        </p:txBody>
      </p:sp>
      <p:sp>
        <p:nvSpPr>
          <p:cNvPr id="35" name="Shape 27"/>
          <p:cNvSpPr/>
          <p:nvPr/>
        </p:nvSpPr>
        <p:spPr>
          <a:xfrm>
            <a:off x="640080" y="5760720"/>
            <a:ext cx="10908792" cy="502920"/>
          </a:xfrm>
          <a:prstGeom prst="roundRect">
            <a:avLst>
              <a:gd name="adj" fmla="val 49091"/>
            </a:avLst>
          </a:prstGeom>
          <a:solidFill>
            <a:srgbClr val="134E4A"/>
          </a:solidFill>
          <a:ln/>
        </p:spPr>
      </p:sp>
      <p:sp>
        <p:nvSpPr>
          <p:cNvPr id="36" name="Text 28"/>
          <p:cNvSpPr/>
          <p:nvPr/>
        </p:nvSpPr>
        <p:spPr>
          <a:xfrm>
            <a:off x="640080" y="5760720"/>
            <a:ext cx="10908792" cy="502920"/>
          </a:xfrm>
          <a:prstGeom prst="rect">
            <a:avLst/>
          </a:prstGeom>
          <a:noFill/>
          <a:ln/>
        </p:spPr>
        <p:txBody>
          <a:bodyPr wrap="square" lIns="0" tIns="0" rIns="0" bIns="0" rtlCol="0" anchor="ctr"/>
          <a:lstStyle/>
          <a:p>
            <a:pPr algn="ctr" indent="0" marL="0">
              <a:buNone/>
            </a:pPr>
            <a:r>
              <a:rPr lang="en-US" sz="1250" dirty="0">
                <a:solidFill>
                  <a:srgbClr val="2DD4BF"/>
                </a:solidFill>
                <a:latin typeface="Calibri" pitchFamily="34" charset="0"/>
                <a:ea typeface="Calibri" pitchFamily="34" charset="-122"/>
                <a:cs typeface="Calibri" pitchFamily="34" charset="-120"/>
              </a:rPr>
              <a:t>Trải nghiệm bản demo: </a:t>
            </a:r>
            <a:pPr algn="ctr" indent="0" marL="0">
              <a:buNone/>
            </a:pPr>
            <a:r>
              <a:rPr lang="en-US" sz="1300" b="1" dirty="0">
                <a:solidFill>
                  <a:srgbClr val="FFFFFF"/>
                </a:solidFill>
                <a:latin typeface="Calibri" pitchFamily="34" charset="0"/>
                <a:ea typeface="Calibri" pitchFamily="34" charset="-122"/>
                <a:cs typeface="Calibri" pitchFamily="34" charset="-120"/>
              </a:rPr>
              <a:t>startup.sem40hn.asia/eldercare-app</a:t>
            </a:r>
            <a:endParaRPr lang="en-US" sz="1250" dirty="0"/>
          </a:p>
        </p:txBody>
      </p:sp>
      <p:sp>
        <p:nvSpPr>
          <p:cNvPr id="37" name="Shape 29"/>
          <p:cNvSpPr/>
          <p:nvPr/>
        </p:nvSpPr>
        <p:spPr>
          <a:xfrm>
            <a:off x="0" y="6565392"/>
            <a:ext cx="12191695" cy="292608"/>
          </a:xfrm>
          <a:prstGeom prst="rect">
            <a:avLst/>
          </a:prstGeom>
          <a:solidFill>
            <a:srgbClr val="FFFFFF"/>
          </a:solidFill>
          <a:ln/>
        </p:spPr>
      </p:sp>
      <p:sp>
        <p:nvSpPr>
          <p:cNvPr id="38" name="Shape 30"/>
          <p:cNvSpPr/>
          <p:nvPr/>
        </p:nvSpPr>
        <p:spPr>
          <a:xfrm>
            <a:off x="0" y="6547104"/>
            <a:ext cx="12191695" cy="20117"/>
          </a:xfrm>
          <a:prstGeom prst="rect">
            <a:avLst/>
          </a:prstGeom>
          <a:solidFill>
            <a:srgbClr val="E2E8F0"/>
          </a:solidFill>
          <a:ln/>
        </p:spPr>
      </p:sp>
      <p:sp>
        <p:nvSpPr>
          <p:cNvPr id="39" name="Shape 31"/>
          <p:cNvSpPr/>
          <p:nvPr/>
        </p:nvSpPr>
        <p:spPr>
          <a:xfrm>
            <a:off x="457200" y="6624828"/>
            <a:ext cx="118872" cy="118872"/>
          </a:xfrm>
          <a:prstGeom prst="ellipse">
            <a:avLst/>
          </a:prstGeom>
          <a:solidFill>
            <a:srgbClr val="0D9488"/>
          </a:solidFill>
          <a:ln/>
        </p:spPr>
      </p:sp>
      <p:sp>
        <p:nvSpPr>
          <p:cNvPr id="40" name="Text 32"/>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41" name="Text 33"/>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42" name="Text 34"/>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QUY MÔ THỊ TRƯỜNG</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TAM / SAM / SOM — cơ hội tỉ đô</a:t>
            </a:r>
            <a:endParaRPr lang="en-US" sz="3000" dirty="0"/>
          </a:p>
        </p:txBody>
      </p:sp>
      <p:sp>
        <p:nvSpPr>
          <p:cNvPr id="5" name="Shape 3"/>
          <p:cNvSpPr/>
          <p:nvPr/>
        </p:nvSpPr>
        <p:spPr>
          <a:xfrm>
            <a:off x="641452" y="1920240"/>
            <a:ext cx="10908792" cy="1143000"/>
          </a:xfrm>
          <a:prstGeom prst="roundRect">
            <a:avLst>
              <a:gd name="adj" fmla="val 8000"/>
            </a:avLst>
          </a:prstGeom>
          <a:solidFill>
            <a:srgbClr val="2DD4BF"/>
          </a:solidFill>
          <a:ln/>
          <a:effectLst>
            <a:outerShdw sx="100000" sy="100000" kx="0" ky="0" algn="bl" rotWithShape="0" blurRad="63500" dist="25400" dir="5400000">
              <a:srgbClr val="0F172A">
                <a:alpha val="10000"/>
              </a:srgbClr>
            </a:outerShdw>
          </a:effectLst>
        </p:spPr>
      </p:sp>
      <p:sp>
        <p:nvSpPr>
          <p:cNvPr id="6" name="Text 4"/>
          <p:cNvSpPr/>
          <p:nvPr/>
        </p:nvSpPr>
        <p:spPr>
          <a:xfrm>
            <a:off x="961492" y="1920240"/>
            <a:ext cx="1463040" cy="11430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TAM</a:t>
            </a:r>
            <a:endParaRPr lang="en-US" sz="2200" dirty="0"/>
          </a:p>
        </p:txBody>
      </p:sp>
      <p:sp>
        <p:nvSpPr>
          <p:cNvPr id="7" name="Text 5"/>
          <p:cNvSpPr/>
          <p:nvPr/>
        </p:nvSpPr>
        <p:spPr>
          <a:xfrm>
            <a:off x="2378812" y="2084832"/>
            <a:ext cx="8897112"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~115.000 tỷ VNĐ/năm</a:t>
            </a:r>
            <a:endParaRPr lang="en-US" sz="2400" dirty="0"/>
          </a:p>
        </p:txBody>
      </p:sp>
      <p:sp>
        <p:nvSpPr>
          <p:cNvPr id="8" name="Text 6"/>
          <p:cNvSpPr/>
          <p:nvPr/>
        </p:nvSpPr>
        <p:spPr>
          <a:xfrm>
            <a:off x="2397100" y="2578608"/>
            <a:ext cx="8805672" cy="411480"/>
          </a:xfrm>
          <a:prstGeom prst="rect">
            <a:avLst/>
          </a:prstGeom>
          <a:noFill/>
          <a:ln/>
        </p:spPr>
        <p:txBody>
          <a:bodyPr wrap="square" lIns="0" tIns="0" rIns="0" bIns="0" rtlCol="0" anchor="t"/>
          <a:lstStyle/>
          <a:p>
            <a:pPr indent="0" marL="0">
              <a:buNone/>
            </a:pPr>
            <a:r>
              <a:rPr lang="en-US" sz="1150" dirty="0">
                <a:solidFill>
                  <a:srgbClr val="ECFEFF"/>
                </a:solidFill>
                <a:latin typeface="Calibri" pitchFamily="34" charset="0"/>
                <a:ea typeface="Calibri" pitchFamily="34" charset="-122"/>
                <a:cs typeface="Calibri" pitchFamily="34" charset="-120"/>
              </a:rPr>
              <a:t>Toàn bộ thị trường chăm sóc người cao tuổi VN (~4,79 tỷ USD, 2031)</a:t>
            </a:r>
            <a:endParaRPr lang="en-US" sz="1150" dirty="0"/>
          </a:p>
        </p:txBody>
      </p:sp>
      <p:sp>
        <p:nvSpPr>
          <p:cNvPr id="9" name="Shape 7"/>
          <p:cNvSpPr/>
          <p:nvPr/>
        </p:nvSpPr>
        <p:spPr>
          <a:xfrm>
            <a:off x="1981048" y="3246120"/>
            <a:ext cx="8229600" cy="1143000"/>
          </a:xfrm>
          <a:prstGeom prst="roundRect">
            <a:avLst>
              <a:gd name="adj" fmla="val 8000"/>
            </a:avLst>
          </a:prstGeom>
          <a:solidFill>
            <a:srgbClr val="0D9488"/>
          </a:solidFill>
          <a:ln/>
          <a:effectLst>
            <a:outerShdw sx="100000" sy="100000" kx="0" ky="0" algn="bl" rotWithShape="0" blurRad="63500" dist="25400" dir="5400000">
              <a:srgbClr val="0F172A">
                <a:alpha val="10000"/>
              </a:srgbClr>
            </a:outerShdw>
          </a:effectLst>
        </p:spPr>
      </p:sp>
      <p:sp>
        <p:nvSpPr>
          <p:cNvPr id="10" name="Text 8"/>
          <p:cNvSpPr/>
          <p:nvPr/>
        </p:nvSpPr>
        <p:spPr>
          <a:xfrm>
            <a:off x="2301088" y="3246120"/>
            <a:ext cx="1463040" cy="11430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SAM</a:t>
            </a:r>
            <a:endParaRPr lang="en-US" sz="2200" dirty="0"/>
          </a:p>
        </p:txBody>
      </p:sp>
      <p:sp>
        <p:nvSpPr>
          <p:cNvPr id="11" name="Text 9"/>
          <p:cNvSpPr/>
          <p:nvPr/>
        </p:nvSpPr>
        <p:spPr>
          <a:xfrm>
            <a:off x="3718408" y="3410712"/>
            <a:ext cx="621792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~18.000 tỷ VNĐ/năm</a:t>
            </a:r>
            <a:endParaRPr lang="en-US" sz="2400" dirty="0"/>
          </a:p>
        </p:txBody>
      </p:sp>
      <p:sp>
        <p:nvSpPr>
          <p:cNvPr id="12" name="Text 10"/>
          <p:cNvSpPr/>
          <p:nvPr/>
        </p:nvSpPr>
        <p:spPr>
          <a:xfrm>
            <a:off x="3736696" y="3904488"/>
            <a:ext cx="6126480" cy="411480"/>
          </a:xfrm>
          <a:prstGeom prst="rect">
            <a:avLst/>
          </a:prstGeom>
          <a:noFill/>
          <a:ln/>
        </p:spPr>
        <p:txBody>
          <a:bodyPr wrap="square" lIns="0" tIns="0" rIns="0" bIns="0" rtlCol="0" anchor="t"/>
          <a:lstStyle/>
          <a:p>
            <a:pPr indent="0" marL="0">
              <a:buNone/>
            </a:pPr>
            <a:r>
              <a:rPr lang="en-US" sz="1150" dirty="0">
                <a:solidFill>
                  <a:srgbClr val="ECFEFF"/>
                </a:solidFill>
                <a:latin typeface="Calibri" pitchFamily="34" charset="0"/>
                <a:ea typeface="Calibri" pitchFamily="34" charset="-122"/>
                <a:cs typeface="Calibri" pitchFamily="34" charset="-120"/>
              </a:rPr>
              <a:t>Hộ gia đình thành thị có bố mẹ già, rành smartphone, sẵn sàng chi</a:t>
            </a:r>
            <a:endParaRPr lang="en-US" sz="1150" dirty="0"/>
          </a:p>
        </p:txBody>
      </p:sp>
      <p:sp>
        <p:nvSpPr>
          <p:cNvPr id="13" name="Shape 11"/>
          <p:cNvSpPr/>
          <p:nvPr/>
        </p:nvSpPr>
        <p:spPr>
          <a:xfrm>
            <a:off x="3352648" y="4572000"/>
            <a:ext cx="5486400" cy="1143000"/>
          </a:xfrm>
          <a:prstGeom prst="roundRect">
            <a:avLst>
              <a:gd name="adj" fmla="val 8000"/>
            </a:avLst>
          </a:prstGeom>
          <a:solidFill>
            <a:srgbClr val="0F766E"/>
          </a:solidFill>
          <a:ln/>
          <a:effectLst>
            <a:outerShdw sx="100000" sy="100000" kx="0" ky="0" algn="bl" rotWithShape="0" blurRad="63500" dist="25400" dir="5400000">
              <a:srgbClr val="0F172A">
                <a:alpha val="10000"/>
              </a:srgbClr>
            </a:outerShdw>
          </a:effectLst>
        </p:spPr>
      </p:sp>
      <p:sp>
        <p:nvSpPr>
          <p:cNvPr id="14" name="Text 12"/>
          <p:cNvSpPr/>
          <p:nvPr/>
        </p:nvSpPr>
        <p:spPr>
          <a:xfrm>
            <a:off x="3672688" y="4572000"/>
            <a:ext cx="1463040" cy="11430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SOM</a:t>
            </a:r>
            <a:endParaRPr lang="en-US" sz="2200" dirty="0"/>
          </a:p>
        </p:txBody>
      </p:sp>
      <p:sp>
        <p:nvSpPr>
          <p:cNvPr id="15" name="Text 13"/>
          <p:cNvSpPr/>
          <p:nvPr/>
        </p:nvSpPr>
        <p:spPr>
          <a:xfrm>
            <a:off x="5090008" y="4736592"/>
            <a:ext cx="347472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~900 tỷ VNĐ/năm</a:t>
            </a:r>
            <a:endParaRPr lang="en-US" sz="2400" dirty="0"/>
          </a:p>
        </p:txBody>
      </p:sp>
      <p:sp>
        <p:nvSpPr>
          <p:cNvPr id="16" name="Text 14"/>
          <p:cNvSpPr/>
          <p:nvPr/>
        </p:nvSpPr>
        <p:spPr>
          <a:xfrm>
            <a:off x="5108296" y="5230368"/>
            <a:ext cx="3383280" cy="411480"/>
          </a:xfrm>
          <a:prstGeom prst="rect">
            <a:avLst/>
          </a:prstGeom>
          <a:noFill/>
          <a:ln/>
        </p:spPr>
        <p:txBody>
          <a:bodyPr wrap="square" lIns="0" tIns="0" rIns="0" bIns="0" rtlCol="0" anchor="t"/>
          <a:lstStyle/>
          <a:p>
            <a:pPr indent="0" marL="0">
              <a:buNone/>
            </a:pPr>
            <a:r>
              <a:rPr lang="en-US" sz="1150" dirty="0">
                <a:solidFill>
                  <a:srgbClr val="ECFEFF"/>
                </a:solidFill>
                <a:latin typeface="Calibri" pitchFamily="34" charset="0"/>
                <a:ea typeface="Calibri" pitchFamily="34" charset="-122"/>
                <a:cs typeface="Calibri" pitchFamily="34" charset="-120"/>
              </a:rPr>
              <a:t>Mục tiêu Năm 5 (~5% SAM) khi phủ các đô thị lớn</a:t>
            </a:r>
            <a:endParaRPr lang="en-US" sz="1150" dirty="0"/>
          </a:p>
        </p:txBody>
      </p:sp>
      <p:sp>
        <p:nvSpPr>
          <p:cNvPr id="17" name="Text 15"/>
          <p:cNvSpPr/>
          <p:nvPr/>
        </p:nvSpPr>
        <p:spPr>
          <a:xfrm>
            <a:off x="640080" y="5943600"/>
            <a:ext cx="10881360" cy="274320"/>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Nguồn: tổng hợp &amp; ước tính nội bộ từ business plan ElderCare VN.</a:t>
            </a:r>
            <a:endParaRPr lang="en-US" sz="950" dirty="0"/>
          </a:p>
        </p:txBody>
      </p:sp>
      <p:sp>
        <p:nvSpPr>
          <p:cNvPr id="18" name="Shape 16"/>
          <p:cNvSpPr/>
          <p:nvPr/>
        </p:nvSpPr>
        <p:spPr>
          <a:xfrm>
            <a:off x="0" y="6565392"/>
            <a:ext cx="12191695" cy="292608"/>
          </a:xfrm>
          <a:prstGeom prst="rect">
            <a:avLst/>
          </a:prstGeom>
          <a:solidFill>
            <a:srgbClr val="FFFFFF"/>
          </a:solidFill>
          <a:ln/>
        </p:spPr>
      </p:sp>
      <p:sp>
        <p:nvSpPr>
          <p:cNvPr id="19" name="Shape 17"/>
          <p:cNvSpPr/>
          <p:nvPr/>
        </p:nvSpPr>
        <p:spPr>
          <a:xfrm>
            <a:off x="0" y="6547104"/>
            <a:ext cx="12191695" cy="20117"/>
          </a:xfrm>
          <a:prstGeom prst="rect">
            <a:avLst/>
          </a:prstGeom>
          <a:solidFill>
            <a:srgbClr val="E2E8F0"/>
          </a:solidFill>
          <a:ln/>
        </p:spPr>
      </p:sp>
      <p:sp>
        <p:nvSpPr>
          <p:cNvPr id="20" name="Shape 18"/>
          <p:cNvSpPr/>
          <p:nvPr/>
        </p:nvSpPr>
        <p:spPr>
          <a:xfrm>
            <a:off x="457200" y="6624828"/>
            <a:ext cx="118872" cy="118872"/>
          </a:xfrm>
          <a:prstGeom prst="ellipse">
            <a:avLst/>
          </a:prstGeom>
          <a:solidFill>
            <a:srgbClr val="0D9488"/>
          </a:solidFill>
          <a:ln/>
        </p:spPr>
      </p:sp>
      <p:sp>
        <p:nvSpPr>
          <p:cNvPr id="21" name="Text 19"/>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22" name="Text 20"/>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23" name="Text 21"/>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MÔ HÌNH KINH DOANH</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5 dòng doanh thu trên một tệp khách hàng</a:t>
            </a:r>
            <a:endParaRPr lang="en-US" sz="3000" dirty="0"/>
          </a:p>
        </p:txBody>
      </p:sp>
      <p:sp>
        <p:nvSpPr>
          <p:cNvPr id="5" name="Shape 3"/>
          <p:cNvSpPr/>
          <p:nvPr/>
        </p:nvSpPr>
        <p:spPr>
          <a:xfrm>
            <a:off x="640080" y="1719072"/>
            <a:ext cx="10908792" cy="731520"/>
          </a:xfrm>
          <a:prstGeom prst="roundRect">
            <a:avLst>
              <a:gd name="adj" fmla="val 8750"/>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868680" y="1865376"/>
            <a:ext cx="438912" cy="438912"/>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978408" y="1975104"/>
            <a:ext cx="219456" cy="219456"/>
          </a:xfrm>
          <a:prstGeom prst="rect">
            <a:avLst/>
          </a:prstGeom>
        </p:spPr>
      </p:pic>
      <p:sp>
        <p:nvSpPr>
          <p:cNvPr id="8" name="Text 5"/>
          <p:cNvSpPr/>
          <p:nvPr/>
        </p:nvSpPr>
        <p:spPr>
          <a:xfrm>
            <a:off x="1508760" y="1719072"/>
            <a:ext cx="3017520" cy="731520"/>
          </a:xfrm>
          <a:prstGeom prst="rect">
            <a:avLst/>
          </a:prstGeom>
          <a:noFill/>
          <a:ln/>
        </p:spPr>
        <p:txBody>
          <a:bodyPr wrap="square" lIns="0" tIns="0" rIns="0" bIns="0" rtlCol="0" anchor="ctr"/>
          <a:lstStyle/>
          <a:p>
            <a:pPr indent="0" marL="0">
              <a:buNone/>
            </a:pPr>
            <a:r>
              <a:rPr lang="en-US" sz="1450" b="1" dirty="0">
                <a:solidFill>
                  <a:srgbClr val="1E293B"/>
                </a:solidFill>
                <a:latin typeface="Trebuchet MS" pitchFamily="34" charset="0"/>
                <a:ea typeface="Trebuchet MS" pitchFamily="34" charset="-122"/>
                <a:cs typeface="Trebuchet MS" pitchFamily="34" charset="-120"/>
              </a:rPr>
              <a:t>CareConnect</a:t>
            </a:r>
            <a:endParaRPr lang="en-US" sz="1450" dirty="0"/>
          </a:p>
        </p:txBody>
      </p:sp>
      <p:sp>
        <p:nvSpPr>
          <p:cNvPr id="9" name="Text 6"/>
          <p:cNvSpPr/>
          <p:nvPr/>
        </p:nvSpPr>
        <p:spPr>
          <a:xfrm>
            <a:off x="4572000" y="1719072"/>
            <a:ext cx="5120640" cy="7315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Hoa hồng 20% GMV điều dưỡng</a:t>
            </a:r>
            <a:endParaRPr lang="en-US" sz="1250" dirty="0"/>
          </a:p>
        </p:txBody>
      </p:sp>
      <p:sp>
        <p:nvSpPr>
          <p:cNvPr id="10" name="Shape 7"/>
          <p:cNvSpPr/>
          <p:nvPr/>
        </p:nvSpPr>
        <p:spPr>
          <a:xfrm>
            <a:off x="10149840" y="1883664"/>
            <a:ext cx="1234440" cy="402336"/>
          </a:xfrm>
          <a:prstGeom prst="roundRect">
            <a:avLst>
              <a:gd name="adj" fmla="val 50000"/>
            </a:avLst>
          </a:prstGeom>
          <a:solidFill>
            <a:srgbClr val="0D9488"/>
          </a:solidFill>
          <a:ln/>
        </p:spPr>
      </p:sp>
      <p:sp>
        <p:nvSpPr>
          <p:cNvPr id="11" name="Text 8"/>
          <p:cNvSpPr/>
          <p:nvPr/>
        </p:nvSpPr>
        <p:spPr>
          <a:xfrm>
            <a:off x="10149840" y="1883664"/>
            <a:ext cx="12344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GM ~85%</a:t>
            </a:r>
            <a:endParaRPr lang="en-US" sz="1200" dirty="0"/>
          </a:p>
        </p:txBody>
      </p:sp>
      <p:sp>
        <p:nvSpPr>
          <p:cNvPr id="12" name="Shape 9"/>
          <p:cNvSpPr/>
          <p:nvPr/>
        </p:nvSpPr>
        <p:spPr>
          <a:xfrm>
            <a:off x="640080" y="2542032"/>
            <a:ext cx="10908792" cy="731520"/>
          </a:xfrm>
          <a:prstGeom prst="roundRect">
            <a:avLst>
              <a:gd name="adj" fmla="val 8750"/>
            </a:avLst>
          </a:prstGeom>
          <a:solidFill>
            <a:srgbClr val="FFFFFF"/>
          </a:solidFill>
          <a:ln/>
          <a:effectLst>
            <a:outerShdw sx="100000" sy="100000" kx="0" ky="0" algn="bl" rotWithShape="0" blurRad="63500" dist="25400" dir="5400000">
              <a:srgbClr val="0F172A">
                <a:alpha val="10000"/>
              </a:srgbClr>
            </a:outerShdw>
          </a:effectLst>
        </p:spPr>
      </p:sp>
      <p:sp>
        <p:nvSpPr>
          <p:cNvPr id="13" name="Shape 10"/>
          <p:cNvSpPr/>
          <p:nvPr/>
        </p:nvSpPr>
        <p:spPr>
          <a:xfrm>
            <a:off x="868680" y="2688336"/>
            <a:ext cx="438912" cy="438912"/>
          </a:xfrm>
          <a:prstGeom prst="ellipse">
            <a:avLst/>
          </a:prstGeom>
          <a:solidFill>
            <a:srgbClr val="0F766E"/>
          </a:solidFill>
          <a:ln/>
        </p:spPr>
      </p:sp>
      <p:pic>
        <p:nvPicPr>
          <p:cNvPr id="14" name="Image 1" descr="preencoded.png">    </p:cNvPr>
          <p:cNvPicPr>
            <a:picLocks noChangeAspect="1"/>
          </p:cNvPicPr>
          <p:nvPr/>
        </p:nvPicPr>
        <p:blipFill>
          <a:blip r:embed="rId2"/>
          <a:stretch>
            <a:fillRect/>
          </a:stretch>
        </p:blipFill>
        <p:spPr>
          <a:xfrm>
            <a:off x="978408" y="2798064"/>
            <a:ext cx="219456" cy="219456"/>
          </a:xfrm>
          <a:prstGeom prst="rect">
            <a:avLst/>
          </a:prstGeom>
        </p:spPr>
      </p:pic>
      <p:sp>
        <p:nvSpPr>
          <p:cNvPr id="15" name="Text 11"/>
          <p:cNvSpPr/>
          <p:nvPr/>
        </p:nvSpPr>
        <p:spPr>
          <a:xfrm>
            <a:off x="1508760" y="2542032"/>
            <a:ext cx="3017520" cy="731520"/>
          </a:xfrm>
          <a:prstGeom prst="rect">
            <a:avLst/>
          </a:prstGeom>
          <a:noFill/>
          <a:ln/>
        </p:spPr>
        <p:txBody>
          <a:bodyPr wrap="square" lIns="0" tIns="0" rIns="0" bIns="0" rtlCol="0" anchor="ctr"/>
          <a:lstStyle/>
          <a:p>
            <a:pPr indent="0" marL="0">
              <a:buNone/>
            </a:pPr>
            <a:r>
              <a:rPr lang="en-US" sz="1450" b="1" dirty="0">
                <a:solidFill>
                  <a:srgbClr val="1E293B"/>
                </a:solidFill>
                <a:latin typeface="Trebuchet MS" pitchFamily="34" charset="0"/>
                <a:ea typeface="Trebuchet MS" pitchFamily="34" charset="-122"/>
                <a:cs typeface="Trebuchet MS" pitchFamily="34" charset="-120"/>
              </a:rPr>
              <a:t>SmartBooking + Tele</a:t>
            </a:r>
            <a:endParaRPr lang="en-US" sz="1450" dirty="0"/>
          </a:p>
        </p:txBody>
      </p:sp>
      <p:sp>
        <p:nvSpPr>
          <p:cNvPr id="16" name="Text 12"/>
          <p:cNvSpPr/>
          <p:nvPr/>
        </p:nvSpPr>
        <p:spPr>
          <a:xfrm>
            <a:off x="4572000" y="2542032"/>
            <a:ext cx="5120640" cy="7315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Gói 299–599k/th + 40% phí khám</a:t>
            </a:r>
            <a:endParaRPr lang="en-US" sz="1250" dirty="0"/>
          </a:p>
        </p:txBody>
      </p:sp>
      <p:sp>
        <p:nvSpPr>
          <p:cNvPr id="17" name="Shape 13"/>
          <p:cNvSpPr/>
          <p:nvPr/>
        </p:nvSpPr>
        <p:spPr>
          <a:xfrm>
            <a:off x="10149840" y="2706624"/>
            <a:ext cx="1234440" cy="402336"/>
          </a:xfrm>
          <a:prstGeom prst="roundRect">
            <a:avLst>
              <a:gd name="adj" fmla="val 50000"/>
            </a:avLst>
          </a:prstGeom>
          <a:solidFill>
            <a:srgbClr val="0F766E"/>
          </a:solidFill>
          <a:ln/>
        </p:spPr>
      </p:sp>
      <p:sp>
        <p:nvSpPr>
          <p:cNvPr id="18" name="Text 14"/>
          <p:cNvSpPr/>
          <p:nvPr/>
        </p:nvSpPr>
        <p:spPr>
          <a:xfrm>
            <a:off x="10149840" y="2706624"/>
            <a:ext cx="12344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GM ~60%</a:t>
            </a:r>
            <a:endParaRPr lang="en-US" sz="1200" dirty="0"/>
          </a:p>
        </p:txBody>
      </p:sp>
      <p:sp>
        <p:nvSpPr>
          <p:cNvPr id="19" name="Shape 15"/>
          <p:cNvSpPr/>
          <p:nvPr/>
        </p:nvSpPr>
        <p:spPr>
          <a:xfrm>
            <a:off x="640080" y="3364992"/>
            <a:ext cx="10908792" cy="731520"/>
          </a:xfrm>
          <a:prstGeom prst="roundRect">
            <a:avLst>
              <a:gd name="adj" fmla="val 8750"/>
            </a:avLst>
          </a:prstGeom>
          <a:solidFill>
            <a:srgbClr val="FFFFFF"/>
          </a:solidFill>
          <a:ln/>
          <a:effectLst>
            <a:outerShdw sx="100000" sy="100000" kx="0" ky="0" algn="bl" rotWithShape="0" blurRad="63500" dist="25400" dir="5400000">
              <a:srgbClr val="0F172A">
                <a:alpha val="10000"/>
              </a:srgbClr>
            </a:outerShdw>
          </a:effectLst>
        </p:spPr>
      </p:sp>
      <p:sp>
        <p:nvSpPr>
          <p:cNvPr id="20" name="Shape 16"/>
          <p:cNvSpPr/>
          <p:nvPr/>
        </p:nvSpPr>
        <p:spPr>
          <a:xfrm>
            <a:off x="868680" y="3511296"/>
            <a:ext cx="438912" cy="438912"/>
          </a:xfrm>
          <a:prstGeom prst="ellipse">
            <a:avLst/>
          </a:prstGeom>
          <a:solidFill>
            <a:srgbClr val="F5A623"/>
          </a:solidFill>
          <a:ln/>
        </p:spPr>
      </p:sp>
      <p:pic>
        <p:nvPicPr>
          <p:cNvPr id="21" name="Image 2" descr="preencoded.png">    </p:cNvPr>
          <p:cNvPicPr>
            <a:picLocks noChangeAspect="1"/>
          </p:cNvPicPr>
          <p:nvPr/>
        </p:nvPicPr>
        <p:blipFill>
          <a:blip r:embed="rId3"/>
          <a:stretch>
            <a:fillRect/>
          </a:stretch>
        </p:blipFill>
        <p:spPr>
          <a:xfrm>
            <a:off x="978408" y="3621024"/>
            <a:ext cx="219456" cy="219456"/>
          </a:xfrm>
          <a:prstGeom prst="rect">
            <a:avLst/>
          </a:prstGeom>
        </p:spPr>
      </p:pic>
      <p:sp>
        <p:nvSpPr>
          <p:cNvPr id="22" name="Text 17"/>
          <p:cNvSpPr/>
          <p:nvPr/>
        </p:nvSpPr>
        <p:spPr>
          <a:xfrm>
            <a:off x="1508760" y="3364992"/>
            <a:ext cx="3017520" cy="731520"/>
          </a:xfrm>
          <a:prstGeom prst="rect">
            <a:avLst/>
          </a:prstGeom>
          <a:noFill/>
          <a:ln/>
        </p:spPr>
        <p:txBody>
          <a:bodyPr wrap="square" lIns="0" tIns="0" rIns="0" bIns="0" rtlCol="0" anchor="ctr"/>
          <a:lstStyle/>
          <a:p>
            <a:pPr indent="0" marL="0">
              <a:buNone/>
            </a:pPr>
            <a:r>
              <a:rPr lang="en-US" sz="1450" b="1" dirty="0">
                <a:solidFill>
                  <a:srgbClr val="1E293B"/>
                </a:solidFill>
                <a:latin typeface="Trebuchet MS" pitchFamily="34" charset="0"/>
                <a:ea typeface="Trebuchet MS" pitchFamily="34" charset="-122"/>
                <a:cs typeface="Trebuchet MS" pitchFamily="34" charset="-120"/>
              </a:rPr>
              <a:t>MedFin</a:t>
            </a:r>
            <a:endParaRPr lang="en-US" sz="1450" dirty="0"/>
          </a:p>
        </p:txBody>
      </p:sp>
      <p:sp>
        <p:nvSpPr>
          <p:cNvPr id="23" name="Text 18"/>
          <p:cNvSpPr/>
          <p:nvPr/>
        </p:nvSpPr>
        <p:spPr>
          <a:xfrm>
            <a:off x="4572000" y="3364992"/>
            <a:ext cx="5120640" cy="7315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NIM 6–9% + hoa hồng BH 10–25%</a:t>
            </a:r>
            <a:endParaRPr lang="en-US" sz="1250" dirty="0"/>
          </a:p>
        </p:txBody>
      </p:sp>
      <p:sp>
        <p:nvSpPr>
          <p:cNvPr id="24" name="Shape 19"/>
          <p:cNvSpPr/>
          <p:nvPr/>
        </p:nvSpPr>
        <p:spPr>
          <a:xfrm>
            <a:off x="10149840" y="3529584"/>
            <a:ext cx="1234440" cy="402336"/>
          </a:xfrm>
          <a:prstGeom prst="roundRect">
            <a:avLst>
              <a:gd name="adj" fmla="val 50000"/>
            </a:avLst>
          </a:prstGeom>
          <a:solidFill>
            <a:srgbClr val="F5A623"/>
          </a:solidFill>
          <a:ln/>
        </p:spPr>
      </p:sp>
      <p:sp>
        <p:nvSpPr>
          <p:cNvPr id="25" name="Text 20"/>
          <p:cNvSpPr/>
          <p:nvPr/>
        </p:nvSpPr>
        <p:spPr>
          <a:xfrm>
            <a:off x="10149840" y="3529584"/>
            <a:ext cx="12344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GM ~55%</a:t>
            </a:r>
            <a:endParaRPr lang="en-US" sz="1200" dirty="0"/>
          </a:p>
        </p:txBody>
      </p:sp>
      <p:sp>
        <p:nvSpPr>
          <p:cNvPr id="26" name="Shape 21"/>
          <p:cNvSpPr/>
          <p:nvPr/>
        </p:nvSpPr>
        <p:spPr>
          <a:xfrm>
            <a:off x="640080" y="4187952"/>
            <a:ext cx="10908792" cy="731520"/>
          </a:xfrm>
          <a:prstGeom prst="roundRect">
            <a:avLst>
              <a:gd name="adj" fmla="val 8750"/>
            </a:avLst>
          </a:prstGeom>
          <a:solidFill>
            <a:srgbClr val="FFFFFF"/>
          </a:solidFill>
          <a:ln/>
          <a:effectLst>
            <a:outerShdw sx="100000" sy="100000" kx="0" ky="0" algn="bl" rotWithShape="0" blurRad="63500" dist="25400" dir="5400000">
              <a:srgbClr val="0F172A">
                <a:alpha val="10000"/>
              </a:srgbClr>
            </a:outerShdw>
          </a:effectLst>
        </p:spPr>
      </p:sp>
      <p:sp>
        <p:nvSpPr>
          <p:cNvPr id="27" name="Shape 22"/>
          <p:cNvSpPr/>
          <p:nvPr/>
        </p:nvSpPr>
        <p:spPr>
          <a:xfrm>
            <a:off x="868680" y="4334256"/>
            <a:ext cx="438912" cy="438912"/>
          </a:xfrm>
          <a:prstGeom prst="ellipse">
            <a:avLst/>
          </a:prstGeom>
          <a:solidFill>
            <a:srgbClr val="FB7185"/>
          </a:solidFill>
          <a:ln/>
        </p:spPr>
      </p:sp>
      <p:pic>
        <p:nvPicPr>
          <p:cNvPr id="28" name="Image 3" descr="preencoded.png">    </p:cNvPr>
          <p:cNvPicPr>
            <a:picLocks noChangeAspect="1"/>
          </p:cNvPicPr>
          <p:nvPr/>
        </p:nvPicPr>
        <p:blipFill>
          <a:blip r:embed="rId4"/>
          <a:stretch>
            <a:fillRect/>
          </a:stretch>
        </p:blipFill>
        <p:spPr>
          <a:xfrm>
            <a:off x="978408" y="4443984"/>
            <a:ext cx="219456" cy="219456"/>
          </a:xfrm>
          <a:prstGeom prst="rect">
            <a:avLst/>
          </a:prstGeom>
        </p:spPr>
      </p:pic>
      <p:sp>
        <p:nvSpPr>
          <p:cNvPr id="29" name="Text 23"/>
          <p:cNvSpPr/>
          <p:nvPr/>
        </p:nvSpPr>
        <p:spPr>
          <a:xfrm>
            <a:off x="1508760" y="4187952"/>
            <a:ext cx="3017520" cy="731520"/>
          </a:xfrm>
          <a:prstGeom prst="rect">
            <a:avLst/>
          </a:prstGeom>
          <a:noFill/>
          <a:ln/>
        </p:spPr>
        <p:txBody>
          <a:bodyPr wrap="square" lIns="0" tIns="0" rIns="0" bIns="0" rtlCol="0" anchor="ctr"/>
          <a:lstStyle/>
          <a:p>
            <a:pPr indent="0" marL="0">
              <a:buNone/>
            </a:pPr>
            <a:r>
              <a:rPr lang="en-US" sz="1450" b="1" dirty="0">
                <a:solidFill>
                  <a:srgbClr val="1E293B"/>
                </a:solidFill>
                <a:latin typeface="Trebuchet MS" pitchFamily="34" charset="0"/>
                <a:ea typeface="Trebuchet MS" pitchFamily="34" charset="-122"/>
                <a:cs typeface="Trebuchet MS" pitchFamily="34" charset="-120"/>
              </a:rPr>
              <a:t>CareSense thiết bị</a:t>
            </a:r>
            <a:endParaRPr lang="en-US" sz="1450" dirty="0"/>
          </a:p>
        </p:txBody>
      </p:sp>
      <p:sp>
        <p:nvSpPr>
          <p:cNvPr id="30" name="Text 24"/>
          <p:cNvSpPr/>
          <p:nvPr/>
        </p:nvSpPr>
        <p:spPr>
          <a:xfrm>
            <a:off x="4572000" y="4187952"/>
            <a:ext cx="5120640" cy="7315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Thuê 99–199k/th/thiết bị + SaaS</a:t>
            </a:r>
            <a:endParaRPr lang="en-US" sz="1250" dirty="0"/>
          </a:p>
        </p:txBody>
      </p:sp>
      <p:sp>
        <p:nvSpPr>
          <p:cNvPr id="31" name="Shape 25"/>
          <p:cNvSpPr/>
          <p:nvPr/>
        </p:nvSpPr>
        <p:spPr>
          <a:xfrm>
            <a:off x="10149840" y="4352544"/>
            <a:ext cx="1234440" cy="402336"/>
          </a:xfrm>
          <a:prstGeom prst="roundRect">
            <a:avLst>
              <a:gd name="adj" fmla="val 50000"/>
            </a:avLst>
          </a:prstGeom>
          <a:solidFill>
            <a:srgbClr val="FB7185"/>
          </a:solidFill>
          <a:ln/>
        </p:spPr>
      </p:sp>
      <p:sp>
        <p:nvSpPr>
          <p:cNvPr id="32" name="Text 26"/>
          <p:cNvSpPr/>
          <p:nvPr/>
        </p:nvSpPr>
        <p:spPr>
          <a:xfrm>
            <a:off x="10149840" y="4352544"/>
            <a:ext cx="12344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GM ~45%</a:t>
            </a:r>
            <a:endParaRPr lang="en-US" sz="1200" dirty="0"/>
          </a:p>
        </p:txBody>
      </p:sp>
      <p:sp>
        <p:nvSpPr>
          <p:cNvPr id="33" name="Shape 27"/>
          <p:cNvSpPr/>
          <p:nvPr/>
        </p:nvSpPr>
        <p:spPr>
          <a:xfrm>
            <a:off x="640080" y="5010912"/>
            <a:ext cx="10908792" cy="731520"/>
          </a:xfrm>
          <a:prstGeom prst="roundRect">
            <a:avLst>
              <a:gd name="adj" fmla="val 8750"/>
            </a:avLst>
          </a:prstGeom>
          <a:solidFill>
            <a:srgbClr val="FFFFFF"/>
          </a:solidFill>
          <a:ln/>
          <a:effectLst>
            <a:outerShdw sx="100000" sy="100000" kx="0" ky="0" algn="bl" rotWithShape="0" blurRad="63500" dist="25400" dir="5400000">
              <a:srgbClr val="0F172A">
                <a:alpha val="10000"/>
              </a:srgbClr>
            </a:outerShdw>
          </a:effectLst>
        </p:spPr>
      </p:sp>
      <p:sp>
        <p:nvSpPr>
          <p:cNvPr id="34" name="Shape 28"/>
          <p:cNvSpPr/>
          <p:nvPr/>
        </p:nvSpPr>
        <p:spPr>
          <a:xfrm>
            <a:off x="868680" y="5157216"/>
            <a:ext cx="438912" cy="438912"/>
          </a:xfrm>
          <a:prstGeom prst="ellipse">
            <a:avLst/>
          </a:prstGeom>
          <a:solidFill>
            <a:srgbClr val="2DD4BF"/>
          </a:solidFill>
          <a:ln/>
        </p:spPr>
      </p:sp>
      <p:pic>
        <p:nvPicPr>
          <p:cNvPr id="35" name="Image 4" descr="preencoded.png">    </p:cNvPr>
          <p:cNvPicPr>
            <a:picLocks noChangeAspect="1"/>
          </p:cNvPicPr>
          <p:nvPr/>
        </p:nvPicPr>
        <p:blipFill>
          <a:blip r:embed="rId5"/>
          <a:stretch>
            <a:fillRect/>
          </a:stretch>
        </p:blipFill>
        <p:spPr>
          <a:xfrm>
            <a:off x="978408" y="5266944"/>
            <a:ext cx="219456" cy="219456"/>
          </a:xfrm>
          <a:prstGeom prst="rect">
            <a:avLst/>
          </a:prstGeom>
        </p:spPr>
      </p:pic>
      <p:sp>
        <p:nvSpPr>
          <p:cNvPr id="36" name="Text 29"/>
          <p:cNvSpPr/>
          <p:nvPr/>
        </p:nvSpPr>
        <p:spPr>
          <a:xfrm>
            <a:off x="1508760" y="5010912"/>
            <a:ext cx="3017520" cy="731520"/>
          </a:xfrm>
          <a:prstGeom prst="rect">
            <a:avLst/>
          </a:prstGeom>
          <a:noFill/>
          <a:ln/>
        </p:spPr>
        <p:txBody>
          <a:bodyPr wrap="square" lIns="0" tIns="0" rIns="0" bIns="0" rtlCol="0" anchor="ctr"/>
          <a:lstStyle/>
          <a:p>
            <a:pPr indent="0" marL="0">
              <a:buNone/>
            </a:pPr>
            <a:r>
              <a:rPr lang="en-US" sz="1450" b="1" dirty="0">
                <a:solidFill>
                  <a:srgbClr val="1E293B"/>
                </a:solidFill>
                <a:latin typeface="Trebuchet MS" pitchFamily="34" charset="0"/>
                <a:ea typeface="Trebuchet MS" pitchFamily="34" charset="-122"/>
                <a:cs typeface="Trebuchet MS" pitchFamily="34" charset="-120"/>
              </a:rPr>
              <a:t>Pharma &amp; Commerce</a:t>
            </a:r>
            <a:endParaRPr lang="en-US" sz="1450" dirty="0"/>
          </a:p>
        </p:txBody>
      </p:sp>
      <p:sp>
        <p:nvSpPr>
          <p:cNvPr id="37" name="Text 30"/>
          <p:cNvSpPr/>
          <p:nvPr/>
        </p:nvSpPr>
        <p:spPr>
          <a:xfrm>
            <a:off x="4572000" y="5010912"/>
            <a:ext cx="5120640" cy="7315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Markup dược 12–18%</a:t>
            </a:r>
            <a:endParaRPr lang="en-US" sz="1250" dirty="0"/>
          </a:p>
        </p:txBody>
      </p:sp>
      <p:sp>
        <p:nvSpPr>
          <p:cNvPr id="38" name="Shape 31"/>
          <p:cNvSpPr/>
          <p:nvPr/>
        </p:nvSpPr>
        <p:spPr>
          <a:xfrm>
            <a:off x="10149840" y="5175504"/>
            <a:ext cx="1234440" cy="402336"/>
          </a:xfrm>
          <a:prstGeom prst="roundRect">
            <a:avLst>
              <a:gd name="adj" fmla="val 50000"/>
            </a:avLst>
          </a:prstGeom>
          <a:solidFill>
            <a:srgbClr val="2DD4BF"/>
          </a:solidFill>
          <a:ln/>
        </p:spPr>
      </p:sp>
      <p:sp>
        <p:nvSpPr>
          <p:cNvPr id="39" name="Text 32"/>
          <p:cNvSpPr/>
          <p:nvPr/>
        </p:nvSpPr>
        <p:spPr>
          <a:xfrm>
            <a:off x="10149840" y="5175504"/>
            <a:ext cx="12344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GM ~25%</a:t>
            </a:r>
            <a:endParaRPr lang="en-US" sz="1200" dirty="0"/>
          </a:p>
        </p:txBody>
      </p:sp>
      <p:sp>
        <p:nvSpPr>
          <p:cNvPr id="40" name="Text 33"/>
          <p:cNvSpPr/>
          <p:nvPr/>
        </p:nvSpPr>
        <p:spPr>
          <a:xfrm>
            <a:off x="640080" y="5907024"/>
            <a:ext cx="10908792" cy="320040"/>
          </a:xfrm>
          <a:prstGeom prst="rect">
            <a:avLst/>
          </a:prstGeom>
          <a:noFill/>
          <a:ln/>
        </p:spPr>
        <p:txBody>
          <a:bodyPr wrap="square" lIns="0" tIns="0" rIns="0" bIns="0" rtlCol="0" anchor="ctr"/>
          <a:lstStyle/>
          <a:p>
            <a:pPr algn="ctr" indent="0" marL="0">
              <a:buNone/>
            </a:pPr>
            <a:r>
              <a:rPr lang="en-US" sz="1150" b="1" i="1" dirty="0">
                <a:solidFill>
                  <a:srgbClr val="0F766E"/>
                </a:solidFill>
                <a:latin typeface="Calibri" pitchFamily="34" charset="0"/>
                <a:ea typeface="Calibri" pitchFamily="34" charset="-122"/>
                <a:cs typeface="Calibri" pitchFamily="34" charset="-120"/>
              </a:rPr>
              <a:t>Blended gross margin hướng tới ~62–64% — mô hình nhẹ tài sản, doanh thu định kỳ.</a:t>
            </a:r>
            <a:endParaRPr lang="en-US" sz="1150" dirty="0"/>
          </a:p>
        </p:txBody>
      </p:sp>
      <p:sp>
        <p:nvSpPr>
          <p:cNvPr id="41" name="Shape 34"/>
          <p:cNvSpPr/>
          <p:nvPr/>
        </p:nvSpPr>
        <p:spPr>
          <a:xfrm>
            <a:off x="0" y="6565392"/>
            <a:ext cx="12191695" cy="292608"/>
          </a:xfrm>
          <a:prstGeom prst="rect">
            <a:avLst/>
          </a:prstGeom>
          <a:solidFill>
            <a:srgbClr val="FFFFFF"/>
          </a:solidFill>
          <a:ln/>
        </p:spPr>
      </p:sp>
      <p:sp>
        <p:nvSpPr>
          <p:cNvPr id="42" name="Shape 35"/>
          <p:cNvSpPr/>
          <p:nvPr/>
        </p:nvSpPr>
        <p:spPr>
          <a:xfrm>
            <a:off x="0" y="6547104"/>
            <a:ext cx="12191695" cy="20117"/>
          </a:xfrm>
          <a:prstGeom prst="rect">
            <a:avLst/>
          </a:prstGeom>
          <a:solidFill>
            <a:srgbClr val="E2E8F0"/>
          </a:solidFill>
          <a:ln/>
        </p:spPr>
      </p:sp>
      <p:sp>
        <p:nvSpPr>
          <p:cNvPr id="43" name="Shape 36"/>
          <p:cNvSpPr/>
          <p:nvPr/>
        </p:nvSpPr>
        <p:spPr>
          <a:xfrm>
            <a:off x="457200" y="6624828"/>
            <a:ext cx="118872" cy="118872"/>
          </a:xfrm>
          <a:prstGeom prst="ellipse">
            <a:avLst/>
          </a:prstGeom>
          <a:solidFill>
            <a:srgbClr val="0D9488"/>
          </a:solidFill>
          <a:ln/>
        </p:spPr>
      </p:sp>
      <p:sp>
        <p:nvSpPr>
          <p:cNvPr id="44" name="Text 37"/>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45" name="Text 38"/>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46" name="Text 39"/>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KINH TẾ ĐƠN VỊ</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Unit economics lành mạnh</a:t>
            </a:r>
            <a:endParaRPr lang="en-US" sz="3000" dirty="0"/>
          </a:p>
        </p:txBody>
      </p:sp>
      <p:sp>
        <p:nvSpPr>
          <p:cNvPr id="5" name="Shape 3"/>
          <p:cNvSpPr/>
          <p:nvPr/>
        </p:nvSpPr>
        <p:spPr>
          <a:xfrm>
            <a:off x="640080" y="1828800"/>
            <a:ext cx="2606040"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828800"/>
            <a:ext cx="2606040" cy="64008"/>
          </a:xfrm>
          <a:prstGeom prst="rect">
            <a:avLst/>
          </a:prstGeom>
          <a:solidFill>
            <a:srgbClr val="0D9488"/>
          </a:solidFill>
          <a:ln/>
        </p:spPr>
      </p:sp>
      <p:sp>
        <p:nvSpPr>
          <p:cNvPr id="7" name="Text 5"/>
          <p:cNvSpPr/>
          <p:nvPr/>
        </p:nvSpPr>
        <p:spPr>
          <a:xfrm>
            <a:off x="731520" y="1993392"/>
            <a:ext cx="2423160" cy="891540"/>
          </a:xfrm>
          <a:prstGeom prst="rect">
            <a:avLst/>
          </a:prstGeom>
          <a:noFill/>
          <a:ln/>
        </p:spPr>
        <p:txBody>
          <a:bodyPr wrap="square" lIns="0" tIns="0" rIns="0" bIns="0" rtlCol="0" anchor="ctr"/>
          <a:lstStyle/>
          <a:p>
            <a:pPr algn="ctr" indent="0" marL="0">
              <a:buNone/>
            </a:pPr>
            <a:r>
              <a:rPr lang="en-US" sz="2600" b="1" dirty="0">
                <a:solidFill>
                  <a:srgbClr val="0D9488"/>
                </a:solidFill>
                <a:latin typeface="Trebuchet MS" pitchFamily="34" charset="0"/>
                <a:ea typeface="Trebuchet MS" pitchFamily="34" charset="-122"/>
                <a:cs typeface="Trebuchet MS" pitchFamily="34" charset="-120"/>
              </a:rPr>
              <a:t>~150k</a:t>
            </a:r>
            <a:endParaRPr lang="en-US" sz="2600" dirty="0"/>
          </a:p>
        </p:txBody>
      </p:sp>
      <p:sp>
        <p:nvSpPr>
          <p:cNvPr id="8" name="Text 6"/>
          <p:cNvSpPr/>
          <p:nvPr/>
        </p:nvSpPr>
        <p:spPr>
          <a:xfrm>
            <a:off x="749808" y="2827325"/>
            <a:ext cx="2386584" cy="71323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Net ARPU / gia đình / tháng</a:t>
            </a:r>
            <a:endParaRPr lang="en-US" sz="1100" dirty="0"/>
          </a:p>
        </p:txBody>
      </p:sp>
      <p:sp>
        <p:nvSpPr>
          <p:cNvPr id="9" name="Shape 7"/>
          <p:cNvSpPr/>
          <p:nvPr/>
        </p:nvSpPr>
        <p:spPr>
          <a:xfrm>
            <a:off x="3429000" y="1828800"/>
            <a:ext cx="2606040"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10" name="Shape 8"/>
          <p:cNvSpPr/>
          <p:nvPr/>
        </p:nvSpPr>
        <p:spPr>
          <a:xfrm>
            <a:off x="3429000" y="1828800"/>
            <a:ext cx="2606040" cy="64008"/>
          </a:xfrm>
          <a:prstGeom prst="rect">
            <a:avLst/>
          </a:prstGeom>
          <a:solidFill>
            <a:srgbClr val="0F766E"/>
          </a:solidFill>
          <a:ln/>
        </p:spPr>
      </p:sp>
      <p:sp>
        <p:nvSpPr>
          <p:cNvPr id="11" name="Text 9"/>
          <p:cNvSpPr/>
          <p:nvPr/>
        </p:nvSpPr>
        <p:spPr>
          <a:xfrm>
            <a:off x="3520440" y="1993392"/>
            <a:ext cx="2423160" cy="891540"/>
          </a:xfrm>
          <a:prstGeom prst="rect">
            <a:avLst/>
          </a:prstGeom>
          <a:noFill/>
          <a:ln/>
        </p:spPr>
        <p:txBody>
          <a:bodyPr wrap="square" lIns="0" tIns="0" rIns="0" bIns="0" rtlCol="0" anchor="ctr"/>
          <a:lstStyle/>
          <a:p>
            <a:pPr algn="ctr" indent="0" marL="0">
              <a:buNone/>
            </a:pPr>
            <a:r>
              <a:rPr lang="en-US" sz="2600" b="1" dirty="0">
                <a:solidFill>
                  <a:srgbClr val="0F766E"/>
                </a:solidFill>
                <a:latin typeface="Trebuchet MS" pitchFamily="34" charset="0"/>
                <a:ea typeface="Trebuchet MS" pitchFamily="34" charset="-122"/>
                <a:cs typeface="Trebuchet MS" pitchFamily="34" charset="-120"/>
              </a:rPr>
              <a:t>~480k</a:t>
            </a:r>
            <a:endParaRPr lang="en-US" sz="2600" dirty="0"/>
          </a:p>
        </p:txBody>
      </p:sp>
      <p:sp>
        <p:nvSpPr>
          <p:cNvPr id="12" name="Text 10"/>
          <p:cNvSpPr/>
          <p:nvPr/>
        </p:nvSpPr>
        <p:spPr>
          <a:xfrm>
            <a:off x="3538728" y="2827325"/>
            <a:ext cx="2386584" cy="71323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CAC blended / gia đình (~$19)</a:t>
            </a:r>
            <a:endParaRPr lang="en-US" sz="1100" dirty="0"/>
          </a:p>
        </p:txBody>
      </p:sp>
      <p:sp>
        <p:nvSpPr>
          <p:cNvPr id="13" name="Shape 11"/>
          <p:cNvSpPr/>
          <p:nvPr/>
        </p:nvSpPr>
        <p:spPr>
          <a:xfrm>
            <a:off x="6217920" y="1828800"/>
            <a:ext cx="2606040"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14" name="Shape 12"/>
          <p:cNvSpPr/>
          <p:nvPr/>
        </p:nvSpPr>
        <p:spPr>
          <a:xfrm>
            <a:off x="6217920" y="1828800"/>
            <a:ext cx="2606040" cy="64008"/>
          </a:xfrm>
          <a:prstGeom prst="rect">
            <a:avLst/>
          </a:prstGeom>
          <a:solidFill>
            <a:srgbClr val="F5A623"/>
          </a:solidFill>
          <a:ln/>
        </p:spPr>
      </p:sp>
      <p:sp>
        <p:nvSpPr>
          <p:cNvPr id="15" name="Text 13"/>
          <p:cNvSpPr/>
          <p:nvPr/>
        </p:nvSpPr>
        <p:spPr>
          <a:xfrm>
            <a:off x="6309360" y="1993392"/>
            <a:ext cx="2423160" cy="891540"/>
          </a:xfrm>
          <a:prstGeom prst="rect">
            <a:avLst/>
          </a:prstGeom>
          <a:noFill/>
          <a:ln/>
        </p:spPr>
        <p:txBody>
          <a:bodyPr wrap="square" lIns="0" tIns="0" rIns="0" bIns="0" rtlCol="0" anchor="ctr"/>
          <a:lstStyle/>
          <a:p>
            <a:pPr algn="ctr" indent="0" marL="0">
              <a:buNone/>
            </a:pPr>
            <a:r>
              <a:rPr lang="en-US" sz="2600" b="1" dirty="0">
                <a:solidFill>
                  <a:srgbClr val="F5A623"/>
                </a:solidFill>
                <a:latin typeface="Trebuchet MS" pitchFamily="34" charset="0"/>
                <a:ea typeface="Trebuchet MS" pitchFamily="34" charset="-122"/>
                <a:cs typeface="Trebuchet MS" pitchFamily="34" charset="-120"/>
              </a:rPr>
              <a:t>~2,8 triệu</a:t>
            </a:r>
            <a:endParaRPr lang="en-US" sz="2600" dirty="0"/>
          </a:p>
        </p:txBody>
      </p:sp>
      <p:sp>
        <p:nvSpPr>
          <p:cNvPr id="16" name="Text 14"/>
          <p:cNvSpPr/>
          <p:nvPr/>
        </p:nvSpPr>
        <p:spPr>
          <a:xfrm>
            <a:off x="6327648" y="2827325"/>
            <a:ext cx="2386584" cy="71323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LTV / gia đình (~$110)</a:t>
            </a:r>
            <a:endParaRPr lang="en-US" sz="1100" dirty="0"/>
          </a:p>
        </p:txBody>
      </p:sp>
      <p:sp>
        <p:nvSpPr>
          <p:cNvPr id="17" name="Shape 15"/>
          <p:cNvSpPr/>
          <p:nvPr/>
        </p:nvSpPr>
        <p:spPr>
          <a:xfrm>
            <a:off x="9006840" y="1828800"/>
            <a:ext cx="2542032"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18" name="Shape 16"/>
          <p:cNvSpPr/>
          <p:nvPr/>
        </p:nvSpPr>
        <p:spPr>
          <a:xfrm>
            <a:off x="9006840" y="1828800"/>
            <a:ext cx="2542032" cy="64008"/>
          </a:xfrm>
          <a:prstGeom prst="rect">
            <a:avLst/>
          </a:prstGeom>
          <a:solidFill>
            <a:srgbClr val="FB7185"/>
          </a:solidFill>
          <a:ln/>
        </p:spPr>
      </p:sp>
      <p:sp>
        <p:nvSpPr>
          <p:cNvPr id="19" name="Text 17"/>
          <p:cNvSpPr/>
          <p:nvPr/>
        </p:nvSpPr>
        <p:spPr>
          <a:xfrm>
            <a:off x="9098280" y="1993392"/>
            <a:ext cx="2359152" cy="891540"/>
          </a:xfrm>
          <a:prstGeom prst="rect">
            <a:avLst/>
          </a:prstGeom>
          <a:noFill/>
          <a:ln/>
        </p:spPr>
        <p:txBody>
          <a:bodyPr wrap="square" lIns="0" tIns="0" rIns="0" bIns="0" rtlCol="0" anchor="ctr"/>
          <a:lstStyle/>
          <a:p>
            <a:pPr algn="ctr" indent="0" marL="0">
              <a:buNone/>
            </a:pPr>
            <a:r>
              <a:rPr lang="en-US" sz="2600" b="1" dirty="0">
                <a:solidFill>
                  <a:srgbClr val="FB7185"/>
                </a:solidFill>
                <a:latin typeface="Trebuchet MS" pitchFamily="34" charset="0"/>
                <a:ea typeface="Trebuchet MS" pitchFamily="34" charset="-122"/>
                <a:cs typeface="Trebuchet MS" pitchFamily="34" charset="-120"/>
              </a:rPr>
              <a:t>5,8×</a:t>
            </a:r>
            <a:endParaRPr lang="en-US" sz="2600" dirty="0"/>
          </a:p>
        </p:txBody>
      </p:sp>
      <p:sp>
        <p:nvSpPr>
          <p:cNvPr id="20" name="Text 18"/>
          <p:cNvSpPr/>
          <p:nvPr/>
        </p:nvSpPr>
        <p:spPr>
          <a:xfrm>
            <a:off x="9116568" y="2827325"/>
            <a:ext cx="2322576" cy="71323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LTV / CAC</a:t>
            </a:r>
            <a:endParaRPr lang="en-US" sz="1100" dirty="0"/>
          </a:p>
        </p:txBody>
      </p:sp>
      <p:sp>
        <p:nvSpPr>
          <p:cNvPr id="21" name="Shape 19"/>
          <p:cNvSpPr/>
          <p:nvPr/>
        </p:nvSpPr>
        <p:spPr>
          <a:xfrm>
            <a:off x="640080" y="3886200"/>
            <a:ext cx="10908792" cy="2331720"/>
          </a:xfrm>
          <a:prstGeom prst="roundRect">
            <a:avLst>
              <a:gd name="adj" fmla="val 3137"/>
            </a:avLst>
          </a:prstGeom>
          <a:solidFill>
            <a:srgbClr val="FFFFFF"/>
          </a:solidFill>
          <a:ln/>
          <a:effectLst>
            <a:outerShdw sx="100000" sy="100000" kx="0" ky="0" algn="bl" rotWithShape="0" blurRad="63500" dist="25400" dir="5400000">
              <a:srgbClr val="0F172A">
                <a:alpha val="10000"/>
              </a:srgbClr>
            </a:outerShdw>
          </a:effectLst>
        </p:spPr>
      </p:sp>
      <p:sp>
        <p:nvSpPr>
          <p:cNvPr id="22" name="Text 20"/>
          <p:cNvSpPr/>
          <p:nvPr/>
        </p:nvSpPr>
        <p:spPr>
          <a:xfrm>
            <a:off x="1005840" y="4251960"/>
            <a:ext cx="2269998" cy="777240"/>
          </a:xfrm>
          <a:prstGeom prst="rect">
            <a:avLst/>
          </a:prstGeom>
          <a:noFill/>
          <a:ln/>
        </p:spPr>
        <p:txBody>
          <a:bodyPr wrap="square" lIns="0" tIns="0" rIns="0" bIns="0" rtlCol="0" anchor="ctr"/>
          <a:lstStyle/>
          <a:p>
            <a:pPr algn="ctr" indent="0" marL="0">
              <a:buNone/>
            </a:pPr>
            <a:r>
              <a:rPr lang="en-US" sz="2800" b="1" dirty="0">
                <a:solidFill>
                  <a:srgbClr val="0F766E"/>
                </a:solidFill>
                <a:latin typeface="Trebuchet MS" pitchFamily="34" charset="0"/>
                <a:ea typeface="Trebuchet MS" pitchFamily="34" charset="-122"/>
                <a:cs typeface="Trebuchet MS" pitchFamily="34" charset="-120"/>
              </a:rPr>
              <a:t>~62%</a:t>
            </a:r>
            <a:endParaRPr lang="en-US" sz="2800" dirty="0"/>
          </a:p>
        </p:txBody>
      </p:sp>
      <p:sp>
        <p:nvSpPr>
          <p:cNvPr id="23" name="Text 21"/>
          <p:cNvSpPr/>
          <p:nvPr/>
        </p:nvSpPr>
        <p:spPr>
          <a:xfrm>
            <a:off x="1005840" y="5074920"/>
            <a:ext cx="2269998" cy="6400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Gross margin blended</a:t>
            </a:r>
            <a:endParaRPr lang="en-US" sz="1200" dirty="0"/>
          </a:p>
        </p:txBody>
      </p:sp>
      <p:sp>
        <p:nvSpPr>
          <p:cNvPr id="24" name="Shape 22"/>
          <p:cNvSpPr/>
          <p:nvPr/>
        </p:nvSpPr>
        <p:spPr>
          <a:xfrm>
            <a:off x="3385566" y="4297680"/>
            <a:ext cx="12802" cy="1508760"/>
          </a:xfrm>
          <a:prstGeom prst="rect">
            <a:avLst/>
          </a:prstGeom>
          <a:solidFill>
            <a:srgbClr val="E2E8F0"/>
          </a:solidFill>
          <a:ln/>
        </p:spPr>
      </p:sp>
      <p:sp>
        <p:nvSpPr>
          <p:cNvPr id="25" name="Text 23"/>
          <p:cNvSpPr/>
          <p:nvPr/>
        </p:nvSpPr>
        <p:spPr>
          <a:xfrm>
            <a:off x="3550158" y="4251960"/>
            <a:ext cx="2269998" cy="777240"/>
          </a:xfrm>
          <a:prstGeom prst="rect">
            <a:avLst/>
          </a:prstGeom>
          <a:noFill/>
          <a:ln/>
        </p:spPr>
        <p:txBody>
          <a:bodyPr wrap="square" lIns="0" tIns="0" rIns="0" bIns="0" rtlCol="0" anchor="ctr"/>
          <a:lstStyle/>
          <a:p>
            <a:pPr algn="ctr" indent="0" marL="0">
              <a:buNone/>
            </a:pPr>
            <a:r>
              <a:rPr lang="en-US" sz="2800" b="1" dirty="0">
                <a:solidFill>
                  <a:srgbClr val="0F766E"/>
                </a:solidFill>
                <a:latin typeface="Trebuchet MS" pitchFamily="34" charset="0"/>
                <a:ea typeface="Trebuchet MS" pitchFamily="34" charset="-122"/>
                <a:cs typeface="Trebuchet MS" pitchFamily="34" charset="-120"/>
              </a:rPr>
              <a:t>~5,2 tháng</a:t>
            </a:r>
            <a:endParaRPr lang="en-US" sz="2800" dirty="0"/>
          </a:p>
        </p:txBody>
      </p:sp>
      <p:sp>
        <p:nvSpPr>
          <p:cNvPr id="26" name="Text 24"/>
          <p:cNvSpPr/>
          <p:nvPr/>
        </p:nvSpPr>
        <p:spPr>
          <a:xfrm>
            <a:off x="3550158" y="5074920"/>
            <a:ext cx="2269998" cy="6400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Payback CAC</a:t>
            </a:r>
            <a:endParaRPr lang="en-US" sz="1200" dirty="0"/>
          </a:p>
        </p:txBody>
      </p:sp>
      <p:sp>
        <p:nvSpPr>
          <p:cNvPr id="27" name="Shape 25"/>
          <p:cNvSpPr/>
          <p:nvPr/>
        </p:nvSpPr>
        <p:spPr>
          <a:xfrm>
            <a:off x="5929884" y="4297680"/>
            <a:ext cx="12802" cy="1508760"/>
          </a:xfrm>
          <a:prstGeom prst="rect">
            <a:avLst/>
          </a:prstGeom>
          <a:solidFill>
            <a:srgbClr val="E2E8F0"/>
          </a:solidFill>
          <a:ln/>
        </p:spPr>
      </p:sp>
      <p:sp>
        <p:nvSpPr>
          <p:cNvPr id="28" name="Text 26"/>
          <p:cNvSpPr/>
          <p:nvPr/>
        </p:nvSpPr>
        <p:spPr>
          <a:xfrm>
            <a:off x="6094476" y="4251960"/>
            <a:ext cx="2269998" cy="777240"/>
          </a:xfrm>
          <a:prstGeom prst="rect">
            <a:avLst/>
          </a:prstGeom>
          <a:noFill/>
          <a:ln/>
        </p:spPr>
        <p:txBody>
          <a:bodyPr wrap="square" lIns="0" tIns="0" rIns="0" bIns="0" rtlCol="0" anchor="ctr"/>
          <a:lstStyle/>
          <a:p>
            <a:pPr algn="ctr" indent="0" marL="0">
              <a:buNone/>
            </a:pPr>
            <a:r>
              <a:rPr lang="en-US" sz="2800" b="1" dirty="0">
                <a:solidFill>
                  <a:srgbClr val="0F766E"/>
                </a:solidFill>
                <a:latin typeface="Trebuchet MS" pitchFamily="34" charset="0"/>
                <a:ea typeface="Trebuchet MS" pitchFamily="34" charset="-122"/>
                <a:cs typeface="Trebuchet MS" pitchFamily="34" charset="-120"/>
              </a:rPr>
              <a:t>3,3%/tháng</a:t>
            </a:r>
            <a:endParaRPr lang="en-US" sz="2800" dirty="0"/>
          </a:p>
        </p:txBody>
      </p:sp>
      <p:sp>
        <p:nvSpPr>
          <p:cNvPr id="29" name="Text 27"/>
          <p:cNvSpPr/>
          <p:nvPr/>
        </p:nvSpPr>
        <p:spPr>
          <a:xfrm>
            <a:off x="6094476" y="5074920"/>
            <a:ext cx="2269998" cy="6400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Churn</a:t>
            </a:r>
            <a:endParaRPr lang="en-US" sz="1200" dirty="0"/>
          </a:p>
        </p:txBody>
      </p:sp>
      <p:sp>
        <p:nvSpPr>
          <p:cNvPr id="30" name="Shape 28"/>
          <p:cNvSpPr/>
          <p:nvPr/>
        </p:nvSpPr>
        <p:spPr>
          <a:xfrm>
            <a:off x="8474202" y="4297680"/>
            <a:ext cx="12802" cy="1508760"/>
          </a:xfrm>
          <a:prstGeom prst="rect">
            <a:avLst/>
          </a:prstGeom>
          <a:solidFill>
            <a:srgbClr val="E2E8F0"/>
          </a:solidFill>
          <a:ln/>
        </p:spPr>
      </p:sp>
      <p:sp>
        <p:nvSpPr>
          <p:cNvPr id="31" name="Text 29"/>
          <p:cNvSpPr/>
          <p:nvPr/>
        </p:nvSpPr>
        <p:spPr>
          <a:xfrm>
            <a:off x="8638794" y="4251960"/>
            <a:ext cx="2269998" cy="777240"/>
          </a:xfrm>
          <a:prstGeom prst="rect">
            <a:avLst/>
          </a:prstGeom>
          <a:noFill/>
          <a:ln/>
        </p:spPr>
        <p:txBody>
          <a:bodyPr wrap="square" lIns="0" tIns="0" rIns="0" bIns="0" rtlCol="0" anchor="ctr"/>
          <a:lstStyle/>
          <a:p>
            <a:pPr algn="ctr" indent="0" marL="0">
              <a:buNone/>
            </a:pPr>
            <a:r>
              <a:rPr lang="en-US" sz="2800" b="1" dirty="0">
                <a:solidFill>
                  <a:srgbClr val="0F766E"/>
                </a:solidFill>
                <a:latin typeface="Trebuchet MS" pitchFamily="34" charset="0"/>
                <a:ea typeface="Trebuchet MS" pitchFamily="34" charset="-122"/>
                <a:cs typeface="Trebuchet MS" pitchFamily="34" charset="-120"/>
              </a:rPr>
              <a:t>~30 tháng</a:t>
            </a:r>
            <a:endParaRPr lang="en-US" sz="2800" dirty="0"/>
          </a:p>
        </p:txBody>
      </p:sp>
      <p:sp>
        <p:nvSpPr>
          <p:cNvPr id="32" name="Text 30"/>
          <p:cNvSpPr/>
          <p:nvPr/>
        </p:nvSpPr>
        <p:spPr>
          <a:xfrm>
            <a:off x="8638794" y="5074920"/>
            <a:ext cx="2269998" cy="6400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Tuổi thọ khách hàng</a:t>
            </a:r>
            <a:endParaRPr lang="en-US" sz="1200" dirty="0"/>
          </a:p>
        </p:txBody>
      </p:sp>
      <p:sp>
        <p:nvSpPr>
          <p:cNvPr id="33" name="Text 31"/>
          <p:cNvSpPr/>
          <p:nvPr/>
        </p:nvSpPr>
        <p:spPr>
          <a:xfrm>
            <a:off x="640080" y="6309360"/>
            <a:ext cx="1088136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Dữ liệu minh họa / ước tính nội bộ.</a:t>
            </a:r>
            <a:endParaRPr lang="en-US" sz="900" dirty="0"/>
          </a:p>
        </p:txBody>
      </p:sp>
      <p:sp>
        <p:nvSpPr>
          <p:cNvPr id="34" name="Shape 32"/>
          <p:cNvSpPr/>
          <p:nvPr/>
        </p:nvSpPr>
        <p:spPr>
          <a:xfrm>
            <a:off x="0" y="6565392"/>
            <a:ext cx="12191695" cy="292608"/>
          </a:xfrm>
          <a:prstGeom prst="rect">
            <a:avLst/>
          </a:prstGeom>
          <a:solidFill>
            <a:srgbClr val="FFFFFF"/>
          </a:solidFill>
          <a:ln/>
        </p:spPr>
      </p:sp>
      <p:sp>
        <p:nvSpPr>
          <p:cNvPr id="35" name="Shape 33"/>
          <p:cNvSpPr/>
          <p:nvPr/>
        </p:nvSpPr>
        <p:spPr>
          <a:xfrm>
            <a:off x="0" y="6547104"/>
            <a:ext cx="12191695" cy="20117"/>
          </a:xfrm>
          <a:prstGeom prst="rect">
            <a:avLst/>
          </a:prstGeom>
          <a:solidFill>
            <a:srgbClr val="E2E8F0"/>
          </a:solidFill>
          <a:ln/>
        </p:spPr>
      </p:sp>
      <p:sp>
        <p:nvSpPr>
          <p:cNvPr id="36" name="Shape 34"/>
          <p:cNvSpPr/>
          <p:nvPr/>
        </p:nvSpPr>
        <p:spPr>
          <a:xfrm>
            <a:off x="457200" y="6624828"/>
            <a:ext cx="118872" cy="118872"/>
          </a:xfrm>
          <a:prstGeom prst="ellipse">
            <a:avLst/>
          </a:prstGeom>
          <a:solidFill>
            <a:srgbClr val="0D9488"/>
          </a:solidFill>
          <a:ln/>
        </p:spPr>
      </p:sp>
      <p:sp>
        <p:nvSpPr>
          <p:cNvPr id="37" name="Text 35"/>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38" name="Text 36"/>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39" name="Text 37"/>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TÀI CHÍNH</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Lộ trình tới hòa vốn — Năm 5</a:t>
            </a:r>
            <a:endParaRPr lang="en-US" sz="3000" dirty="0"/>
          </a:p>
        </p:txBody>
      </p:sp>
      <p:sp>
        <p:nvSpPr>
          <p:cNvPr id="5" name="Shape 3"/>
          <p:cNvSpPr/>
          <p:nvPr/>
        </p:nvSpPr>
        <p:spPr>
          <a:xfrm>
            <a:off x="640080" y="1783080"/>
            <a:ext cx="6675120" cy="4343400"/>
          </a:xfrm>
          <a:prstGeom prst="roundRect">
            <a:avLst>
              <a:gd name="adj" fmla="val 1684"/>
            </a:avLst>
          </a:prstGeom>
          <a:solidFill>
            <a:srgbClr val="FFFFFF"/>
          </a:solidFill>
          <a:ln/>
          <a:effectLst>
            <a:outerShdw sx="100000" sy="100000" kx="0" ky="0" algn="bl" rotWithShape="0" blurRad="63500" dist="25400" dir="5400000">
              <a:srgbClr val="0F172A">
                <a:alpha val="10000"/>
              </a:srgbClr>
            </a:outerShdw>
          </a:effectLst>
        </p:spPr>
      </p:sp>
      <p:sp>
        <p:nvSpPr>
          <p:cNvPr id="6" name="Text 4"/>
          <p:cNvSpPr/>
          <p:nvPr/>
        </p:nvSpPr>
        <p:spPr>
          <a:xfrm>
            <a:off x="868680" y="1920240"/>
            <a:ext cx="6217920" cy="36576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Doanh thu thuần &amp; EBITDA (tỷ VNĐ)</a:t>
            </a:r>
            <a:endParaRPr lang="en-US" sz="1300" dirty="0"/>
          </a:p>
        </p:txBody>
      </p:sp>
      <p:graphicFrame>
        <p:nvGraphicFramePr>
          <p:cNvPr id="7" name="Chart 0" descr=""/>
          <p:cNvGraphicFramePr/>
          <p:nvPr/>
        </p:nvGraphicFramePr>
        <p:xfrm>
          <a:off x="777240" y="2286000"/>
          <a:ext cx="6400800" cy="36576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498080" y="1783080"/>
            <a:ext cx="4050792" cy="987552"/>
          </a:xfrm>
          <a:prstGeom prst="roundRect">
            <a:avLst>
              <a:gd name="adj" fmla="val 7407"/>
            </a:avLst>
          </a:prstGeom>
          <a:solidFill>
            <a:srgbClr val="FFFFFF"/>
          </a:solidFill>
          <a:ln/>
          <a:effectLst>
            <a:outerShdw sx="100000" sy="100000" kx="0" ky="0" algn="bl" rotWithShape="0" blurRad="63500" dist="25400" dir="5400000">
              <a:srgbClr val="0F172A">
                <a:alpha val="10000"/>
              </a:srgbClr>
            </a:outerShdw>
          </a:effectLst>
        </p:spPr>
      </p:sp>
      <p:sp>
        <p:nvSpPr>
          <p:cNvPr id="9" name="Shape 6"/>
          <p:cNvSpPr/>
          <p:nvPr/>
        </p:nvSpPr>
        <p:spPr>
          <a:xfrm>
            <a:off x="7498080" y="1783080"/>
            <a:ext cx="91440" cy="987552"/>
          </a:xfrm>
          <a:prstGeom prst="rect">
            <a:avLst/>
          </a:prstGeom>
          <a:solidFill>
            <a:srgbClr val="0D9488"/>
          </a:solidFill>
          <a:ln/>
        </p:spPr>
      </p:sp>
      <p:sp>
        <p:nvSpPr>
          <p:cNvPr id="10" name="Text 7"/>
          <p:cNvSpPr/>
          <p:nvPr/>
        </p:nvSpPr>
        <p:spPr>
          <a:xfrm>
            <a:off x="7726680" y="1929384"/>
            <a:ext cx="3657600" cy="329184"/>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Năm 5 doanh thu</a:t>
            </a:r>
            <a:endParaRPr lang="en-US" sz="1200" dirty="0"/>
          </a:p>
        </p:txBody>
      </p:sp>
      <p:sp>
        <p:nvSpPr>
          <p:cNvPr id="11" name="Text 8"/>
          <p:cNvSpPr/>
          <p:nvPr/>
        </p:nvSpPr>
        <p:spPr>
          <a:xfrm>
            <a:off x="7726680" y="2240280"/>
            <a:ext cx="3657600" cy="457200"/>
          </a:xfrm>
          <a:prstGeom prst="rect">
            <a:avLst/>
          </a:prstGeom>
          <a:noFill/>
          <a:ln/>
        </p:spPr>
        <p:txBody>
          <a:bodyPr wrap="square" lIns="0" tIns="0" rIns="0" bIns="0" rtlCol="0" anchor="ctr"/>
          <a:lstStyle/>
          <a:p>
            <a:pPr indent="0" marL="0">
              <a:buNone/>
            </a:pPr>
            <a:r>
              <a:rPr lang="en-US" sz="1900" b="1" dirty="0">
                <a:solidFill>
                  <a:srgbClr val="0D9488"/>
                </a:solidFill>
                <a:latin typeface="Trebuchet MS" pitchFamily="34" charset="0"/>
                <a:ea typeface="Trebuchet MS" pitchFamily="34" charset="-122"/>
                <a:cs typeface="Trebuchet MS" pitchFamily="34" charset="-120"/>
              </a:rPr>
              <a:t>948 tỷ VNĐ</a:t>
            </a:r>
            <a:endParaRPr lang="en-US" sz="1900" dirty="0"/>
          </a:p>
        </p:txBody>
      </p:sp>
      <p:sp>
        <p:nvSpPr>
          <p:cNvPr id="12" name="Shape 9"/>
          <p:cNvSpPr/>
          <p:nvPr/>
        </p:nvSpPr>
        <p:spPr>
          <a:xfrm>
            <a:off x="7498080" y="2898648"/>
            <a:ext cx="4050792" cy="987552"/>
          </a:xfrm>
          <a:prstGeom prst="roundRect">
            <a:avLst>
              <a:gd name="adj" fmla="val 7407"/>
            </a:avLst>
          </a:prstGeom>
          <a:solidFill>
            <a:srgbClr val="FFFFFF"/>
          </a:solidFill>
          <a:ln/>
          <a:effectLst>
            <a:outerShdw sx="100000" sy="100000" kx="0" ky="0" algn="bl" rotWithShape="0" blurRad="63500" dist="25400" dir="5400000">
              <a:srgbClr val="0F172A">
                <a:alpha val="10000"/>
              </a:srgbClr>
            </a:outerShdw>
          </a:effectLst>
        </p:spPr>
      </p:sp>
      <p:sp>
        <p:nvSpPr>
          <p:cNvPr id="13" name="Shape 10"/>
          <p:cNvSpPr/>
          <p:nvPr/>
        </p:nvSpPr>
        <p:spPr>
          <a:xfrm>
            <a:off x="7498080" y="2898648"/>
            <a:ext cx="91440" cy="987552"/>
          </a:xfrm>
          <a:prstGeom prst="rect">
            <a:avLst/>
          </a:prstGeom>
          <a:solidFill>
            <a:srgbClr val="FB7185"/>
          </a:solidFill>
          <a:ln/>
        </p:spPr>
      </p:sp>
      <p:sp>
        <p:nvSpPr>
          <p:cNvPr id="14" name="Text 11"/>
          <p:cNvSpPr/>
          <p:nvPr/>
        </p:nvSpPr>
        <p:spPr>
          <a:xfrm>
            <a:off x="7726680" y="3044952"/>
            <a:ext cx="3657600" cy="329184"/>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EBITDA hòa vốn</a:t>
            </a:r>
            <a:endParaRPr lang="en-US" sz="1200" dirty="0"/>
          </a:p>
        </p:txBody>
      </p:sp>
      <p:sp>
        <p:nvSpPr>
          <p:cNvPr id="15" name="Text 12"/>
          <p:cNvSpPr/>
          <p:nvPr/>
        </p:nvSpPr>
        <p:spPr>
          <a:xfrm>
            <a:off x="7726680" y="3355848"/>
            <a:ext cx="3657600" cy="457200"/>
          </a:xfrm>
          <a:prstGeom prst="rect">
            <a:avLst/>
          </a:prstGeom>
          <a:noFill/>
          <a:ln/>
        </p:spPr>
        <p:txBody>
          <a:bodyPr wrap="square" lIns="0" tIns="0" rIns="0" bIns="0" rtlCol="0" anchor="ctr"/>
          <a:lstStyle/>
          <a:p>
            <a:pPr indent="0" marL="0">
              <a:buNone/>
            </a:pPr>
            <a:r>
              <a:rPr lang="en-US" sz="1900" b="1" dirty="0">
                <a:solidFill>
                  <a:srgbClr val="FB7185"/>
                </a:solidFill>
                <a:latin typeface="Trebuchet MS" pitchFamily="34" charset="0"/>
                <a:ea typeface="Trebuchet MS" pitchFamily="34" charset="-122"/>
                <a:cs typeface="Trebuchet MS" pitchFamily="34" charset="-120"/>
              </a:rPr>
              <a:t>Năm 5 · +30,2 tỷ</a:t>
            </a:r>
            <a:endParaRPr lang="en-US" sz="1900" dirty="0"/>
          </a:p>
        </p:txBody>
      </p:sp>
      <p:sp>
        <p:nvSpPr>
          <p:cNvPr id="16" name="Shape 13"/>
          <p:cNvSpPr/>
          <p:nvPr/>
        </p:nvSpPr>
        <p:spPr>
          <a:xfrm>
            <a:off x="7498080" y="4014216"/>
            <a:ext cx="4050792" cy="987552"/>
          </a:xfrm>
          <a:prstGeom prst="roundRect">
            <a:avLst>
              <a:gd name="adj" fmla="val 7407"/>
            </a:avLst>
          </a:prstGeom>
          <a:solidFill>
            <a:srgbClr val="FFFFFF"/>
          </a:solidFill>
          <a:ln/>
          <a:effectLst>
            <a:outerShdw sx="100000" sy="100000" kx="0" ky="0" algn="bl" rotWithShape="0" blurRad="63500" dist="25400" dir="5400000">
              <a:srgbClr val="0F172A">
                <a:alpha val="10000"/>
              </a:srgbClr>
            </a:outerShdw>
          </a:effectLst>
        </p:spPr>
      </p:sp>
      <p:sp>
        <p:nvSpPr>
          <p:cNvPr id="17" name="Shape 14"/>
          <p:cNvSpPr/>
          <p:nvPr/>
        </p:nvSpPr>
        <p:spPr>
          <a:xfrm>
            <a:off x="7498080" y="4014216"/>
            <a:ext cx="91440" cy="987552"/>
          </a:xfrm>
          <a:prstGeom prst="rect">
            <a:avLst/>
          </a:prstGeom>
          <a:solidFill>
            <a:srgbClr val="F5A623"/>
          </a:solidFill>
          <a:ln/>
        </p:spPr>
      </p:sp>
      <p:sp>
        <p:nvSpPr>
          <p:cNvPr id="18" name="Text 15"/>
          <p:cNvSpPr/>
          <p:nvPr/>
        </p:nvSpPr>
        <p:spPr>
          <a:xfrm>
            <a:off x="7726680" y="4160520"/>
            <a:ext cx="3657600" cy="329184"/>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Lỗ lũy kế đỉnh</a:t>
            </a:r>
            <a:endParaRPr lang="en-US" sz="1200" dirty="0"/>
          </a:p>
        </p:txBody>
      </p:sp>
      <p:sp>
        <p:nvSpPr>
          <p:cNvPr id="19" name="Text 16"/>
          <p:cNvSpPr/>
          <p:nvPr/>
        </p:nvSpPr>
        <p:spPr>
          <a:xfrm>
            <a:off x="7726680" y="4471416"/>
            <a:ext cx="3657600" cy="457200"/>
          </a:xfrm>
          <a:prstGeom prst="rect">
            <a:avLst/>
          </a:prstGeom>
          <a:noFill/>
          <a:ln/>
        </p:spPr>
        <p:txBody>
          <a:bodyPr wrap="square" lIns="0" tIns="0" rIns="0" bIns="0" rtlCol="0" anchor="ctr"/>
          <a:lstStyle/>
          <a:p>
            <a:pPr indent="0" marL="0">
              <a:buNone/>
            </a:pPr>
            <a:r>
              <a:rPr lang="en-US" sz="1900" b="1" dirty="0">
                <a:solidFill>
                  <a:srgbClr val="F5A623"/>
                </a:solidFill>
                <a:latin typeface="Trebuchet MS" pitchFamily="34" charset="0"/>
                <a:ea typeface="Trebuchet MS" pitchFamily="34" charset="-122"/>
                <a:cs typeface="Trebuchet MS" pitchFamily="34" charset="-120"/>
              </a:rPr>
              <a:t>~289 tỷ (cuối Năm 4)</a:t>
            </a:r>
            <a:endParaRPr lang="en-US" sz="1900" dirty="0"/>
          </a:p>
        </p:txBody>
      </p:sp>
      <p:sp>
        <p:nvSpPr>
          <p:cNvPr id="20" name="Shape 17"/>
          <p:cNvSpPr/>
          <p:nvPr/>
        </p:nvSpPr>
        <p:spPr>
          <a:xfrm>
            <a:off x="7498080" y="5129784"/>
            <a:ext cx="4050792" cy="987552"/>
          </a:xfrm>
          <a:prstGeom prst="roundRect">
            <a:avLst>
              <a:gd name="adj" fmla="val 7407"/>
            </a:avLst>
          </a:prstGeom>
          <a:solidFill>
            <a:srgbClr val="FFFFFF"/>
          </a:solidFill>
          <a:ln/>
          <a:effectLst>
            <a:outerShdw sx="100000" sy="100000" kx="0" ky="0" algn="bl" rotWithShape="0" blurRad="63500" dist="25400" dir="5400000">
              <a:srgbClr val="0F172A">
                <a:alpha val="10000"/>
              </a:srgbClr>
            </a:outerShdw>
          </a:effectLst>
        </p:spPr>
      </p:sp>
      <p:sp>
        <p:nvSpPr>
          <p:cNvPr id="21" name="Shape 18"/>
          <p:cNvSpPr/>
          <p:nvPr/>
        </p:nvSpPr>
        <p:spPr>
          <a:xfrm>
            <a:off x="7498080" y="5129784"/>
            <a:ext cx="91440" cy="987552"/>
          </a:xfrm>
          <a:prstGeom prst="rect">
            <a:avLst/>
          </a:prstGeom>
          <a:solidFill>
            <a:srgbClr val="0F766E"/>
          </a:solidFill>
          <a:ln/>
        </p:spPr>
      </p:sp>
      <p:sp>
        <p:nvSpPr>
          <p:cNvPr id="22" name="Text 19"/>
          <p:cNvSpPr/>
          <p:nvPr/>
        </p:nvSpPr>
        <p:spPr>
          <a:xfrm>
            <a:off x="7726680" y="5276088"/>
            <a:ext cx="3657600" cy="329184"/>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Headcount 5 năm</a:t>
            </a:r>
            <a:endParaRPr lang="en-US" sz="1200" dirty="0"/>
          </a:p>
        </p:txBody>
      </p:sp>
      <p:sp>
        <p:nvSpPr>
          <p:cNvPr id="23" name="Text 20"/>
          <p:cNvSpPr/>
          <p:nvPr/>
        </p:nvSpPr>
        <p:spPr>
          <a:xfrm>
            <a:off x="7726680" y="5586984"/>
            <a:ext cx="3657600" cy="457200"/>
          </a:xfrm>
          <a:prstGeom prst="rect">
            <a:avLst/>
          </a:prstGeom>
          <a:noFill/>
          <a:ln/>
        </p:spPr>
        <p:txBody>
          <a:bodyPr wrap="square" lIns="0" tIns="0" rIns="0" bIns="0" rtlCol="0" anchor="ctr"/>
          <a:lstStyle/>
          <a:p>
            <a:pPr indent="0" marL="0">
              <a:buNone/>
            </a:pPr>
            <a:r>
              <a:rPr lang="en-US" sz="1900" b="1" dirty="0">
                <a:solidFill>
                  <a:srgbClr val="0F766E"/>
                </a:solidFill>
                <a:latin typeface="Trebuchet MS" pitchFamily="34" charset="0"/>
                <a:ea typeface="Trebuchet MS" pitchFamily="34" charset="-122"/>
                <a:cs typeface="Trebuchet MS" pitchFamily="34" charset="-120"/>
              </a:rPr>
              <a:t>40 → 950 người</a:t>
            </a:r>
            <a:endParaRPr lang="en-US" sz="1900" dirty="0"/>
          </a:p>
        </p:txBody>
      </p:sp>
      <p:sp>
        <p:nvSpPr>
          <p:cNvPr id="24" name="Text 21"/>
          <p:cNvSpPr/>
          <p:nvPr/>
        </p:nvSpPr>
        <p:spPr>
          <a:xfrm>
            <a:off x="640080" y="6199632"/>
            <a:ext cx="658368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Dữ liệu minh họa / ước tính nội bộ.</a:t>
            </a:r>
            <a:endParaRPr lang="en-US" sz="900" dirty="0"/>
          </a:p>
        </p:txBody>
      </p:sp>
      <p:sp>
        <p:nvSpPr>
          <p:cNvPr id="25" name="Shape 22"/>
          <p:cNvSpPr/>
          <p:nvPr/>
        </p:nvSpPr>
        <p:spPr>
          <a:xfrm>
            <a:off x="0" y="6565392"/>
            <a:ext cx="12191695" cy="292608"/>
          </a:xfrm>
          <a:prstGeom prst="rect">
            <a:avLst/>
          </a:prstGeom>
          <a:solidFill>
            <a:srgbClr val="FFFFFF"/>
          </a:solidFill>
          <a:ln/>
        </p:spPr>
      </p:sp>
      <p:sp>
        <p:nvSpPr>
          <p:cNvPr id="26" name="Shape 23"/>
          <p:cNvSpPr/>
          <p:nvPr/>
        </p:nvSpPr>
        <p:spPr>
          <a:xfrm>
            <a:off x="0" y="6547104"/>
            <a:ext cx="12191695" cy="20117"/>
          </a:xfrm>
          <a:prstGeom prst="rect">
            <a:avLst/>
          </a:prstGeom>
          <a:solidFill>
            <a:srgbClr val="E2E8F0"/>
          </a:solidFill>
          <a:ln/>
        </p:spPr>
      </p:sp>
      <p:sp>
        <p:nvSpPr>
          <p:cNvPr id="27" name="Shape 24"/>
          <p:cNvSpPr/>
          <p:nvPr/>
        </p:nvSpPr>
        <p:spPr>
          <a:xfrm>
            <a:off x="457200" y="6624828"/>
            <a:ext cx="118872" cy="118872"/>
          </a:xfrm>
          <a:prstGeom prst="ellipse">
            <a:avLst/>
          </a:prstGeom>
          <a:solidFill>
            <a:srgbClr val="0D9488"/>
          </a:solidFill>
          <a:ln/>
        </p:spPr>
      </p:sp>
      <p:sp>
        <p:nvSpPr>
          <p:cNvPr id="28" name="Text 25"/>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29" name="Text 26"/>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30" name="Text 27"/>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GỌI VỐN</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4 vòng — từ Seed tới Series C</a:t>
            </a:r>
            <a:endParaRPr lang="en-US" sz="3000" dirty="0"/>
          </a:p>
        </p:txBody>
      </p:sp>
      <p:sp>
        <p:nvSpPr>
          <p:cNvPr id="5" name="Shape 3"/>
          <p:cNvSpPr/>
          <p:nvPr/>
        </p:nvSpPr>
        <p:spPr>
          <a:xfrm>
            <a:off x="640080" y="1828800"/>
            <a:ext cx="2679192" cy="3794760"/>
          </a:xfrm>
          <a:prstGeom prst="roundRect">
            <a:avLst>
              <a:gd name="adj" fmla="val 2730"/>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828800"/>
            <a:ext cx="2679192" cy="566928"/>
          </a:xfrm>
          <a:prstGeom prst="rect">
            <a:avLst/>
          </a:prstGeom>
          <a:solidFill>
            <a:srgbClr val="2DD4BF"/>
          </a:solidFill>
          <a:ln/>
        </p:spPr>
      </p:sp>
      <p:sp>
        <p:nvSpPr>
          <p:cNvPr id="7" name="Text 5"/>
          <p:cNvSpPr/>
          <p:nvPr/>
        </p:nvSpPr>
        <p:spPr>
          <a:xfrm>
            <a:off x="640080" y="1828800"/>
            <a:ext cx="2679192" cy="566928"/>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Trebuchet MS" pitchFamily="34" charset="0"/>
                <a:ea typeface="Trebuchet MS" pitchFamily="34" charset="-122"/>
                <a:cs typeface="Trebuchet MS" pitchFamily="34" charset="-120"/>
              </a:rPr>
              <a:t>SEED</a:t>
            </a:r>
            <a:endParaRPr lang="en-US" sz="1500" dirty="0"/>
          </a:p>
        </p:txBody>
      </p:sp>
      <p:sp>
        <p:nvSpPr>
          <p:cNvPr id="8" name="Text 6"/>
          <p:cNvSpPr/>
          <p:nvPr/>
        </p:nvSpPr>
        <p:spPr>
          <a:xfrm>
            <a:off x="640080" y="2542032"/>
            <a:ext cx="2679192" cy="548640"/>
          </a:xfrm>
          <a:prstGeom prst="rect">
            <a:avLst/>
          </a:prstGeom>
          <a:noFill/>
          <a:ln/>
        </p:spPr>
        <p:txBody>
          <a:bodyPr wrap="square" lIns="0" tIns="0" rIns="0" bIns="0" rtlCol="0" anchor="ctr"/>
          <a:lstStyle/>
          <a:p>
            <a:pPr algn="ctr" indent="0" marL="0">
              <a:buNone/>
            </a:pPr>
            <a:r>
              <a:rPr lang="en-US" sz="2800" b="1" dirty="0">
                <a:solidFill>
                  <a:srgbClr val="2DD4BF"/>
                </a:solidFill>
                <a:latin typeface="Trebuchet MS" pitchFamily="34" charset="0"/>
                <a:ea typeface="Trebuchet MS" pitchFamily="34" charset="-122"/>
                <a:cs typeface="Trebuchet MS" pitchFamily="34" charset="-120"/>
              </a:rPr>
              <a:t>38 tỷ</a:t>
            </a:r>
            <a:endParaRPr lang="en-US" sz="2800" dirty="0"/>
          </a:p>
        </p:txBody>
      </p:sp>
      <p:sp>
        <p:nvSpPr>
          <p:cNvPr id="9" name="Text 7"/>
          <p:cNvSpPr/>
          <p:nvPr/>
        </p:nvSpPr>
        <p:spPr>
          <a:xfrm>
            <a:off x="640080" y="3108960"/>
            <a:ext cx="2679192" cy="27432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VNĐ · ~$1,5M</a:t>
            </a:r>
            <a:endParaRPr lang="en-US" sz="1150" dirty="0"/>
          </a:p>
        </p:txBody>
      </p:sp>
      <p:sp>
        <p:nvSpPr>
          <p:cNvPr id="10" name="Shape 8"/>
          <p:cNvSpPr/>
          <p:nvPr/>
        </p:nvSpPr>
        <p:spPr>
          <a:xfrm>
            <a:off x="914400" y="3520440"/>
            <a:ext cx="2130552" cy="0"/>
          </a:xfrm>
          <a:prstGeom prst="line">
            <a:avLst/>
          </a:prstGeom>
          <a:noFill/>
          <a:ln w="12700">
            <a:solidFill>
              <a:srgbClr val="E2E8F0"/>
            </a:solidFill>
            <a:prstDash val="solid"/>
          </a:ln>
        </p:spPr>
      </p:sp>
      <p:sp>
        <p:nvSpPr>
          <p:cNvPr id="11" name="Text 9"/>
          <p:cNvSpPr/>
          <p:nvPr/>
        </p:nvSpPr>
        <p:spPr>
          <a:xfrm>
            <a:off x="841248" y="3639312"/>
            <a:ext cx="2276856" cy="594360"/>
          </a:xfrm>
          <a:prstGeom prst="rect">
            <a:avLst/>
          </a:prstGeom>
          <a:noFill/>
          <a:ln/>
        </p:spPr>
        <p:txBody>
          <a:bodyPr wrap="square" lIns="0" tIns="0" rIns="0" bIns="0" rtlCol="0" anchor="t"/>
          <a:lstStyle/>
          <a:p>
            <a:pPr algn="ctr" indent="0" marL="0">
              <a:lnSpc>
                <a:spcPct val="105000"/>
              </a:lnSpc>
              <a:buNone/>
            </a:pPr>
            <a:r>
              <a:rPr lang="en-US" sz="1100" b="1" dirty="0">
                <a:solidFill>
                  <a:srgbClr val="0F766E"/>
                </a:solidFill>
                <a:latin typeface="Calibri" pitchFamily="34" charset="0"/>
                <a:ea typeface="Calibri" pitchFamily="34" charset="-122"/>
                <a:cs typeface="Calibri" pitchFamily="34" charset="-120"/>
              </a:rPr>
              <a:t>Post $7,5M · pha loãng 20%</a:t>
            </a:r>
            <a:endParaRPr lang="en-US" sz="1100" dirty="0"/>
          </a:p>
        </p:txBody>
      </p:sp>
      <p:sp>
        <p:nvSpPr>
          <p:cNvPr id="12" name="Text 10"/>
          <p:cNvSpPr/>
          <p:nvPr/>
        </p:nvSpPr>
        <p:spPr>
          <a:xfrm>
            <a:off x="841248" y="4297680"/>
            <a:ext cx="2276856" cy="1188720"/>
          </a:xfrm>
          <a:prstGeom prst="rect">
            <a:avLst/>
          </a:prstGeom>
          <a:noFill/>
          <a:ln/>
        </p:spPr>
        <p:txBody>
          <a:bodyPr wrap="square" lIns="0" tIns="0" rIns="0" bIns="0" rtlCol="0" anchor="t"/>
          <a:lstStyle/>
          <a:p>
            <a:pPr algn="ctr" indent="0" marL="0">
              <a:lnSpc>
                <a:spcPct val="105000"/>
              </a:lnSpc>
              <a:buNone/>
            </a:pPr>
            <a:r>
              <a:rPr lang="en-US" sz="1100" dirty="0">
                <a:solidFill>
                  <a:srgbClr val="64748B"/>
                </a:solidFill>
                <a:latin typeface="Calibri" pitchFamily="34" charset="0"/>
                <a:ea typeface="Calibri" pitchFamily="34" charset="-122"/>
                <a:cs typeface="Calibri" pitchFamily="34" charset="-120"/>
              </a:rPr>
              <a:t>MVP 5 trụ cột, pilot TP.HCM, 6k gia đình.</a:t>
            </a:r>
            <a:endParaRPr lang="en-US" sz="1100" dirty="0"/>
          </a:p>
        </p:txBody>
      </p:sp>
      <p:sp>
        <p:nvSpPr>
          <p:cNvPr id="13" name="Shape 11"/>
          <p:cNvSpPr/>
          <p:nvPr/>
        </p:nvSpPr>
        <p:spPr>
          <a:xfrm>
            <a:off x="3483864" y="1828800"/>
            <a:ext cx="2679192" cy="3794760"/>
          </a:xfrm>
          <a:prstGeom prst="roundRect">
            <a:avLst>
              <a:gd name="adj" fmla="val 2730"/>
            </a:avLst>
          </a:prstGeom>
          <a:solidFill>
            <a:srgbClr val="FFFFFF"/>
          </a:solidFill>
          <a:ln/>
          <a:effectLst>
            <a:outerShdw sx="100000" sy="100000" kx="0" ky="0" algn="bl" rotWithShape="0" blurRad="63500" dist="25400" dir="5400000">
              <a:srgbClr val="0F172A">
                <a:alpha val="10000"/>
              </a:srgbClr>
            </a:outerShdw>
          </a:effectLst>
        </p:spPr>
      </p:sp>
      <p:sp>
        <p:nvSpPr>
          <p:cNvPr id="14" name="Shape 12"/>
          <p:cNvSpPr/>
          <p:nvPr/>
        </p:nvSpPr>
        <p:spPr>
          <a:xfrm>
            <a:off x="3483864" y="1828800"/>
            <a:ext cx="2679192" cy="566928"/>
          </a:xfrm>
          <a:prstGeom prst="rect">
            <a:avLst/>
          </a:prstGeom>
          <a:solidFill>
            <a:srgbClr val="0D9488"/>
          </a:solidFill>
          <a:ln/>
        </p:spPr>
      </p:sp>
      <p:sp>
        <p:nvSpPr>
          <p:cNvPr id="15" name="Text 13"/>
          <p:cNvSpPr/>
          <p:nvPr/>
        </p:nvSpPr>
        <p:spPr>
          <a:xfrm>
            <a:off x="3483864" y="1828800"/>
            <a:ext cx="2679192" cy="566928"/>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Trebuchet MS" pitchFamily="34" charset="0"/>
                <a:ea typeface="Trebuchet MS" pitchFamily="34" charset="-122"/>
                <a:cs typeface="Trebuchet MS" pitchFamily="34" charset="-120"/>
              </a:rPr>
              <a:t>SERIES A</a:t>
            </a:r>
            <a:endParaRPr lang="en-US" sz="1500" dirty="0"/>
          </a:p>
        </p:txBody>
      </p:sp>
      <p:sp>
        <p:nvSpPr>
          <p:cNvPr id="16" name="Text 14"/>
          <p:cNvSpPr/>
          <p:nvPr/>
        </p:nvSpPr>
        <p:spPr>
          <a:xfrm>
            <a:off x="3483864" y="2542032"/>
            <a:ext cx="2679192" cy="548640"/>
          </a:xfrm>
          <a:prstGeom prst="rect">
            <a:avLst/>
          </a:prstGeom>
          <a:noFill/>
          <a:ln/>
        </p:spPr>
        <p:txBody>
          <a:bodyPr wrap="square" lIns="0" tIns="0" rIns="0" bIns="0" rtlCol="0" anchor="ctr"/>
          <a:lstStyle/>
          <a:p>
            <a:pPr algn="ctr" indent="0" marL="0">
              <a:buNone/>
            </a:pPr>
            <a:r>
              <a:rPr lang="en-US" sz="2800" b="1" dirty="0">
                <a:solidFill>
                  <a:srgbClr val="0D9488"/>
                </a:solidFill>
                <a:latin typeface="Trebuchet MS" pitchFamily="34" charset="0"/>
                <a:ea typeface="Trebuchet MS" pitchFamily="34" charset="-122"/>
                <a:cs typeface="Trebuchet MS" pitchFamily="34" charset="-120"/>
              </a:rPr>
              <a:t>150 tỷ</a:t>
            </a:r>
            <a:endParaRPr lang="en-US" sz="2800" dirty="0"/>
          </a:p>
        </p:txBody>
      </p:sp>
      <p:sp>
        <p:nvSpPr>
          <p:cNvPr id="17" name="Text 15"/>
          <p:cNvSpPr/>
          <p:nvPr/>
        </p:nvSpPr>
        <p:spPr>
          <a:xfrm>
            <a:off x="3483864" y="3108960"/>
            <a:ext cx="2679192" cy="27432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VNĐ · ~$6M</a:t>
            </a:r>
            <a:endParaRPr lang="en-US" sz="1150" dirty="0"/>
          </a:p>
        </p:txBody>
      </p:sp>
      <p:sp>
        <p:nvSpPr>
          <p:cNvPr id="18" name="Shape 16"/>
          <p:cNvSpPr/>
          <p:nvPr/>
        </p:nvSpPr>
        <p:spPr>
          <a:xfrm>
            <a:off x="3758184" y="3520440"/>
            <a:ext cx="2130552" cy="0"/>
          </a:xfrm>
          <a:prstGeom prst="line">
            <a:avLst/>
          </a:prstGeom>
          <a:noFill/>
          <a:ln w="12700">
            <a:solidFill>
              <a:srgbClr val="E2E8F0"/>
            </a:solidFill>
            <a:prstDash val="solid"/>
          </a:ln>
        </p:spPr>
      </p:sp>
      <p:sp>
        <p:nvSpPr>
          <p:cNvPr id="19" name="Text 17"/>
          <p:cNvSpPr/>
          <p:nvPr/>
        </p:nvSpPr>
        <p:spPr>
          <a:xfrm>
            <a:off x="3685032" y="3639312"/>
            <a:ext cx="2276856" cy="594360"/>
          </a:xfrm>
          <a:prstGeom prst="rect">
            <a:avLst/>
          </a:prstGeom>
          <a:noFill/>
          <a:ln/>
        </p:spPr>
        <p:txBody>
          <a:bodyPr wrap="square" lIns="0" tIns="0" rIns="0" bIns="0" rtlCol="0" anchor="t"/>
          <a:lstStyle/>
          <a:p>
            <a:pPr algn="ctr" indent="0" marL="0">
              <a:lnSpc>
                <a:spcPct val="105000"/>
              </a:lnSpc>
              <a:buNone/>
            </a:pPr>
            <a:r>
              <a:rPr lang="en-US" sz="1100" b="1" dirty="0">
                <a:solidFill>
                  <a:srgbClr val="0F766E"/>
                </a:solidFill>
                <a:latin typeface="Calibri" pitchFamily="34" charset="0"/>
                <a:ea typeface="Calibri" pitchFamily="34" charset="-122"/>
                <a:cs typeface="Calibri" pitchFamily="34" charset="-120"/>
              </a:rPr>
              <a:t>Post $24M · pha loãng 25%</a:t>
            </a:r>
            <a:endParaRPr lang="en-US" sz="1100" dirty="0"/>
          </a:p>
        </p:txBody>
      </p:sp>
      <p:sp>
        <p:nvSpPr>
          <p:cNvPr id="20" name="Text 18"/>
          <p:cNvSpPr/>
          <p:nvPr/>
        </p:nvSpPr>
        <p:spPr>
          <a:xfrm>
            <a:off x="3685032" y="4297680"/>
            <a:ext cx="2276856" cy="1188720"/>
          </a:xfrm>
          <a:prstGeom prst="rect">
            <a:avLst/>
          </a:prstGeom>
          <a:noFill/>
          <a:ln/>
        </p:spPr>
        <p:txBody>
          <a:bodyPr wrap="square" lIns="0" tIns="0" rIns="0" bIns="0" rtlCol="0" anchor="t"/>
          <a:lstStyle/>
          <a:p>
            <a:pPr algn="ctr" indent="0" marL="0">
              <a:lnSpc>
                <a:spcPct val="105000"/>
              </a:lnSpc>
              <a:buNone/>
            </a:pPr>
            <a:r>
              <a:rPr lang="en-US" sz="1100" dirty="0">
                <a:solidFill>
                  <a:srgbClr val="64748B"/>
                </a:solidFill>
                <a:latin typeface="Calibri" pitchFamily="34" charset="0"/>
                <a:ea typeface="Calibri" pitchFamily="34" charset="-122"/>
                <a:cs typeface="Calibri" pitchFamily="34" charset="-120"/>
              </a:rPr>
              <a:t>Mở HN + ĐN, scale caregiver, giấy phép MedFin.</a:t>
            </a:r>
            <a:endParaRPr lang="en-US" sz="1100" dirty="0"/>
          </a:p>
        </p:txBody>
      </p:sp>
      <p:sp>
        <p:nvSpPr>
          <p:cNvPr id="21" name="Shape 19"/>
          <p:cNvSpPr/>
          <p:nvPr/>
        </p:nvSpPr>
        <p:spPr>
          <a:xfrm>
            <a:off x="6327648" y="1828800"/>
            <a:ext cx="2679192" cy="3794760"/>
          </a:xfrm>
          <a:prstGeom prst="roundRect">
            <a:avLst>
              <a:gd name="adj" fmla="val 2730"/>
            </a:avLst>
          </a:prstGeom>
          <a:solidFill>
            <a:srgbClr val="FFFFFF"/>
          </a:solidFill>
          <a:ln/>
          <a:effectLst>
            <a:outerShdw sx="100000" sy="100000" kx="0" ky="0" algn="bl" rotWithShape="0" blurRad="63500" dist="25400" dir="5400000">
              <a:srgbClr val="0F172A">
                <a:alpha val="10000"/>
              </a:srgbClr>
            </a:outerShdw>
          </a:effectLst>
        </p:spPr>
      </p:sp>
      <p:sp>
        <p:nvSpPr>
          <p:cNvPr id="22" name="Shape 20"/>
          <p:cNvSpPr/>
          <p:nvPr/>
        </p:nvSpPr>
        <p:spPr>
          <a:xfrm>
            <a:off x="6327648" y="1828800"/>
            <a:ext cx="2679192" cy="566928"/>
          </a:xfrm>
          <a:prstGeom prst="rect">
            <a:avLst/>
          </a:prstGeom>
          <a:solidFill>
            <a:srgbClr val="0F766E"/>
          </a:solidFill>
          <a:ln/>
        </p:spPr>
      </p:sp>
      <p:sp>
        <p:nvSpPr>
          <p:cNvPr id="23" name="Text 21"/>
          <p:cNvSpPr/>
          <p:nvPr/>
        </p:nvSpPr>
        <p:spPr>
          <a:xfrm>
            <a:off x="6327648" y="1828800"/>
            <a:ext cx="2679192" cy="566928"/>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Trebuchet MS" pitchFamily="34" charset="0"/>
                <a:ea typeface="Trebuchet MS" pitchFamily="34" charset="-122"/>
                <a:cs typeface="Trebuchet MS" pitchFamily="34" charset="-120"/>
              </a:rPr>
              <a:t>SERIES B</a:t>
            </a:r>
            <a:endParaRPr lang="en-US" sz="1500" dirty="0"/>
          </a:p>
        </p:txBody>
      </p:sp>
      <p:sp>
        <p:nvSpPr>
          <p:cNvPr id="24" name="Text 22"/>
          <p:cNvSpPr/>
          <p:nvPr/>
        </p:nvSpPr>
        <p:spPr>
          <a:xfrm>
            <a:off x="6327648" y="2542032"/>
            <a:ext cx="2679192" cy="548640"/>
          </a:xfrm>
          <a:prstGeom prst="rect">
            <a:avLst/>
          </a:prstGeom>
          <a:noFill/>
          <a:ln/>
        </p:spPr>
        <p:txBody>
          <a:bodyPr wrap="square" lIns="0" tIns="0" rIns="0" bIns="0" rtlCol="0" anchor="ctr"/>
          <a:lstStyle/>
          <a:p>
            <a:pPr algn="ctr" indent="0" marL="0">
              <a:buNone/>
            </a:pPr>
            <a:r>
              <a:rPr lang="en-US" sz="2800" b="1" dirty="0">
                <a:solidFill>
                  <a:srgbClr val="0F766E"/>
                </a:solidFill>
                <a:latin typeface="Trebuchet MS" pitchFamily="34" charset="0"/>
                <a:ea typeface="Trebuchet MS" pitchFamily="34" charset="-122"/>
                <a:cs typeface="Trebuchet MS" pitchFamily="34" charset="-120"/>
              </a:rPr>
              <a:t>510 tỷ</a:t>
            </a:r>
            <a:endParaRPr lang="en-US" sz="2800" dirty="0"/>
          </a:p>
        </p:txBody>
      </p:sp>
      <p:sp>
        <p:nvSpPr>
          <p:cNvPr id="25" name="Text 23"/>
          <p:cNvSpPr/>
          <p:nvPr/>
        </p:nvSpPr>
        <p:spPr>
          <a:xfrm>
            <a:off x="6327648" y="3108960"/>
            <a:ext cx="2679192" cy="27432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VNĐ · ~$20M</a:t>
            </a:r>
            <a:endParaRPr lang="en-US" sz="1150" dirty="0"/>
          </a:p>
        </p:txBody>
      </p:sp>
      <p:sp>
        <p:nvSpPr>
          <p:cNvPr id="26" name="Shape 24"/>
          <p:cNvSpPr/>
          <p:nvPr/>
        </p:nvSpPr>
        <p:spPr>
          <a:xfrm>
            <a:off x="6601968" y="3520440"/>
            <a:ext cx="2130552" cy="0"/>
          </a:xfrm>
          <a:prstGeom prst="line">
            <a:avLst/>
          </a:prstGeom>
          <a:noFill/>
          <a:ln w="12700">
            <a:solidFill>
              <a:srgbClr val="E2E8F0"/>
            </a:solidFill>
            <a:prstDash val="solid"/>
          </a:ln>
        </p:spPr>
      </p:sp>
      <p:sp>
        <p:nvSpPr>
          <p:cNvPr id="27" name="Text 25"/>
          <p:cNvSpPr/>
          <p:nvPr/>
        </p:nvSpPr>
        <p:spPr>
          <a:xfrm>
            <a:off x="6528816" y="3639312"/>
            <a:ext cx="2276856" cy="594360"/>
          </a:xfrm>
          <a:prstGeom prst="rect">
            <a:avLst/>
          </a:prstGeom>
          <a:noFill/>
          <a:ln/>
        </p:spPr>
        <p:txBody>
          <a:bodyPr wrap="square" lIns="0" tIns="0" rIns="0" bIns="0" rtlCol="0" anchor="t"/>
          <a:lstStyle/>
          <a:p>
            <a:pPr algn="ctr" indent="0" marL="0">
              <a:lnSpc>
                <a:spcPct val="105000"/>
              </a:lnSpc>
              <a:buNone/>
            </a:pPr>
            <a:r>
              <a:rPr lang="en-US" sz="1100" b="1" dirty="0">
                <a:solidFill>
                  <a:srgbClr val="0F766E"/>
                </a:solidFill>
                <a:latin typeface="Calibri" pitchFamily="34" charset="0"/>
                <a:ea typeface="Calibri" pitchFamily="34" charset="-122"/>
                <a:cs typeface="Calibri" pitchFamily="34" charset="-120"/>
              </a:rPr>
              <a:t>Post $90M · pha loãng 22%</a:t>
            </a:r>
            <a:endParaRPr lang="en-US" sz="1100" dirty="0"/>
          </a:p>
        </p:txBody>
      </p:sp>
      <p:sp>
        <p:nvSpPr>
          <p:cNvPr id="28" name="Text 26"/>
          <p:cNvSpPr/>
          <p:nvPr/>
        </p:nvSpPr>
        <p:spPr>
          <a:xfrm>
            <a:off x="6528816" y="4297680"/>
            <a:ext cx="2276856" cy="1188720"/>
          </a:xfrm>
          <a:prstGeom prst="rect">
            <a:avLst/>
          </a:prstGeom>
          <a:noFill/>
          <a:ln/>
        </p:spPr>
        <p:txBody>
          <a:bodyPr wrap="square" lIns="0" tIns="0" rIns="0" bIns="0" rtlCol="0" anchor="t"/>
          <a:lstStyle/>
          <a:p>
            <a:pPr algn="ctr" indent="0" marL="0">
              <a:lnSpc>
                <a:spcPct val="105000"/>
              </a:lnSpc>
              <a:buNone/>
            </a:pPr>
            <a:r>
              <a:rPr lang="en-US" sz="1100" dirty="0">
                <a:solidFill>
                  <a:srgbClr val="64748B"/>
                </a:solidFill>
                <a:latin typeface="Calibri" pitchFamily="34" charset="0"/>
                <a:ea typeface="Calibri" pitchFamily="34" charset="-122"/>
                <a:cs typeface="Calibri" pitchFamily="34" charset="-120"/>
              </a:rPr>
              <a:t>Phủ toàn quốc, sản xuất CareSense, hợp tác BH.</a:t>
            </a:r>
            <a:endParaRPr lang="en-US" sz="1100" dirty="0"/>
          </a:p>
        </p:txBody>
      </p:sp>
      <p:sp>
        <p:nvSpPr>
          <p:cNvPr id="29" name="Shape 27"/>
          <p:cNvSpPr/>
          <p:nvPr/>
        </p:nvSpPr>
        <p:spPr>
          <a:xfrm>
            <a:off x="9171432" y="1828800"/>
            <a:ext cx="2679192" cy="3794760"/>
          </a:xfrm>
          <a:prstGeom prst="roundRect">
            <a:avLst>
              <a:gd name="adj" fmla="val 2730"/>
            </a:avLst>
          </a:prstGeom>
          <a:solidFill>
            <a:srgbClr val="FFFFFF"/>
          </a:solidFill>
          <a:ln/>
          <a:effectLst>
            <a:outerShdw sx="100000" sy="100000" kx="0" ky="0" algn="bl" rotWithShape="0" blurRad="63500" dist="25400" dir="5400000">
              <a:srgbClr val="0F172A">
                <a:alpha val="10000"/>
              </a:srgbClr>
            </a:outerShdw>
          </a:effectLst>
        </p:spPr>
      </p:sp>
      <p:sp>
        <p:nvSpPr>
          <p:cNvPr id="30" name="Shape 28"/>
          <p:cNvSpPr/>
          <p:nvPr/>
        </p:nvSpPr>
        <p:spPr>
          <a:xfrm>
            <a:off x="9171432" y="1828800"/>
            <a:ext cx="2679192" cy="566928"/>
          </a:xfrm>
          <a:prstGeom prst="rect">
            <a:avLst/>
          </a:prstGeom>
          <a:solidFill>
            <a:srgbClr val="134E4A"/>
          </a:solidFill>
          <a:ln/>
        </p:spPr>
      </p:sp>
      <p:sp>
        <p:nvSpPr>
          <p:cNvPr id="31" name="Text 29"/>
          <p:cNvSpPr/>
          <p:nvPr/>
        </p:nvSpPr>
        <p:spPr>
          <a:xfrm>
            <a:off x="9171432" y="1828800"/>
            <a:ext cx="2679192" cy="566928"/>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Trebuchet MS" pitchFamily="34" charset="0"/>
                <a:ea typeface="Trebuchet MS" pitchFamily="34" charset="-122"/>
                <a:cs typeface="Trebuchet MS" pitchFamily="34" charset="-120"/>
              </a:rPr>
              <a:t>SERIES C</a:t>
            </a:r>
            <a:endParaRPr lang="en-US" sz="1500" dirty="0"/>
          </a:p>
        </p:txBody>
      </p:sp>
      <p:sp>
        <p:nvSpPr>
          <p:cNvPr id="32" name="Text 30"/>
          <p:cNvSpPr/>
          <p:nvPr/>
        </p:nvSpPr>
        <p:spPr>
          <a:xfrm>
            <a:off x="9171432" y="2542032"/>
            <a:ext cx="2679192" cy="548640"/>
          </a:xfrm>
          <a:prstGeom prst="rect">
            <a:avLst/>
          </a:prstGeom>
          <a:noFill/>
          <a:ln/>
        </p:spPr>
        <p:txBody>
          <a:bodyPr wrap="square" lIns="0" tIns="0" rIns="0" bIns="0" rtlCol="0" anchor="ctr"/>
          <a:lstStyle/>
          <a:p>
            <a:pPr algn="ctr" indent="0" marL="0">
              <a:buNone/>
            </a:pPr>
            <a:r>
              <a:rPr lang="en-US" sz="2800" b="1" dirty="0">
                <a:solidFill>
                  <a:srgbClr val="134E4A"/>
                </a:solidFill>
                <a:latin typeface="Trebuchet MS" pitchFamily="34" charset="0"/>
                <a:ea typeface="Trebuchet MS" pitchFamily="34" charset="-122"/>
                <a:cs typeface="Trebuchet MS" pitchFamily="34" charset="-120"/>
              </a:rPr>
              <a:t>1.275 tỷ</a:t>
            </a:r>
            <a:endParaRPr lang="en-US" sz="2800" dirty="0"/>
          </a:p>
        </p:txBody>
      </p:sp>
      <p:sp>
        <p:nvSpPr>
          <p:cNvPr id="33" name="Text 31"/>
          <p:cNvSpPr/>
          <p:nvPr/>
        </p:nvSpPr>
        <p:spPr>
          <a:xfrm>
            <a:off x="9171432" y="3108960"/>
            <a:ext cx="2679192" cy="27432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VNĐ · ~$50M</a:t>
            </a:r>
            <a:endParaRPr lang="en-US" sz="1150" dirty="0"/>
          </a:p>
        </p:txBody>
      </p:sp>
      <p:sp>
        <p:nvSpPr>
          <p:cNvPr id="34" name="Shape 32"/>
          <p:cNvSpPr/>
          <p:nvPr/>
        </p:nvSpPr>
        <p:spPr>
          <a:xfrm>
            <a:off x="9445752" y="3520440"/>
            <a:ext cx="2130552" cy="0"/>
          </a:xfrm>
          <a:prstGeom prst="line">
            <a:avLst/>
          </a:prstGeom>
          <a:noFill/>
          <a:ln w="12700">
            <a:solidFill>
              <a:srgbClr val="E2E8F0"/>
            </a:solidFill>
            <a:prstDash val="solid"/>
          </a:ln>
        </p:spPr>
      </p:sp>
      <p:sp>
        <p:nvSpPr>
          <p:cNvPr id="35" name="Text 33"/>
          <p:cNvSpPr/>
          <p:nvPr/>
        </p:nvSpPr>
        <p:spPr>
          <a:xfrm>
            <a:off x="9372600" y="3639312"/>
            <a:ext cx="2276856" cy="594360"/>
          </a:xfrm>
          <a:prstGeom prst="rect">
            <a:avLst/>
          </a:prstGeom>
          <a:noFill/>
          <a:ln/>
        </p:spPr>
        <p:txBody>
          <a:bodyPr wrap="square" lIns="0" tIns="0" rIns="0" bIns="0" rtlCol="0" anchor="t"/>
          <a:lstStyle/>
          <a:p>
            <a:pPr algn="ctr" indent="0" marL="0">
              <a:lnSpc>
                <a:spcPct val="105000"/>
              </a:lnSpc>
              <a:buNone/>
            </a:pPr>
            <a:r>
              <a:rPr lang="en-US" sz="1100" b="1" dirty="0">
                <a:solidFill>
                  <a:srgbClr val="0F766E"/>
                </a:solidFill>
                <a:latin typeface="Calibri" pitchFamily="34" charset="0"/>
                <a:ea typeface="Calibri" pitchFamily="34" charset="-122"/>
                <a:cs typeface="Calibri" pitchFamily="34" charset="-120"/>
              </a:rPr>
              <a:t>Post $300M · pha loãng 16,7%</a:t>
            </a:r>
            <a:endParaRPr lang="en-US" sz="1100" dirty="0"/>
          </a:p>
        </p:txBody>
      </p:sp>
      <p:sp>
        <p:nvSpPr>
          <p:cNvPr id="36" name="Text 34"/>
          <p:cNvSpPr/>
          <p:nvPr/>
        </p:nvSpPr>
        <p:spPr>
          <a:xfrm>
            <a:off x="9372600" y="4297680"/>
            <a:ext cx="2276856" cy="1188720"/>
          </a:xfrm>
          <a:prstGeom prst="rect">
            <a:avLst/>
          </a:prstGeom>
          <a:noFill/>
          <a:ln/>
        </p:spPr>
        <p:txBody>
          <a:bodyPr wrap="square" lIns="0" tIns="0" rIns="0" bIns="0" rtlCol="0" anchor="t"/>
          <a:lstStyle/>
          <a:p>
            <a:pPr algn="ctr" indent="0" marL="0">
              <a:lnSpc>
                <a:spcPct val="105000"/>
              </a:lnSpc>
              <a:buNone/>
            </a:pPr>
            <a:r>
              <a:rPr lang="en-US" sz="1100" dirty="0">
                <a:solidFill>
                  <a:srgbClr val="64748B"/>
                </a:solidFill>
                <a:latin typeface="Calibri" pitchFamily="34" charset="0"/>
                <a:ea typeface="Calibri" pitchFamily="34" charset="-122"/>
                <a:cs typeface="Calibri" pitchFamily="34" charset="-120"/>
              </a:rPr>
              <a:t>Thống lĩnh thị trường, M&amp;A, IPO prep.</a:t>
            </a:r>
            <a:endParaRPr lang="en-US" sz="1100" dirty="0"/>
          </a:p>
        </p:txBody>
      </p:sp>
      <p:sp>
        <p:nvSpPr>
          <p:cNvPr id="37" name="Text 35"/>
          <p:cNvSpPr/>
          <p:nvPr/>
        </p:nvSpPr>
        <p:spPr>
          <a:xfrm>
            <a:off x="640080" y="5852160"/>
            <a:ext cx="10908792" cy="320040"/>
          </a:xfrm>
          <a:prstGeom prst="rect">
            <a:avLst/>
          </a:prstGeom>
          <a:noFill/>
          <a:ln/>
        </p:spPr>
        <p:txBody>
          <a:bodyPr wrap="square" lIns="0" tIns="0" rIns="0" bIns="0" rtlCol="0" anchor="ctr"/>
          <a:lstStyle/>
          <a:p>
            <a:pPr algn="ctr" indent="0" marL="0">
              <a:buNone/>
            </a:pPr>
            <a:r>
              <a:rPr lang="en-US" sz="1150" b="1" i="1" dirty="0">
                <a:solidFill>
                  <a:srgbClr val="0F766E"/>
                </a:solidFill>
                <a:latin typeface="Calibri" pitchFamily="34" charset="0"/>
                <a:ea typeface="Calibri" pitchFamily="34" charset="-122"/>
                <a:cs typeface="Calibri" pitchFamily="34" charset="-120"/>
              </a:rPr>
              <a:t>Nhà sáng lập giữ ~34,3% sau Series C · tổng huy động ~1.973 tỷ qua 4 vòng.</a:t>
            </a:r>
            <a:endParaRPr lang="en-US" sz="1150" dirty="0"/>
          </a:p>
        </p:txBody>
      </p:sp>
      <p:sp>
        <p:nvSpPr>
          <p:cNvPr id="38" name="Shape 36"/>
          <p:cNvSpPr/>
          <p:nvPr/>
        </p:nvSpPr>
        <p:spPr>
          <a:xfrm>
            <a:off x="0" y="6565392"/>
            <a:ext cx="12191695" cy="292608"/>
          </a:xfrm>
          <a:prstGeom prst="rect">
            <a:avLst/>
          </a:prstGeom>
          <a:solidFill>
            <a:srgbClr val="FFFFFF"/>
          </a:solidFill>
          <a:ln/>
        </p:spPr>
      </p:sp>
      <p:sp>
        <p:nvSpPr>
          <p:cNvPr id="39" name="Shape 37"/>
          <p:cNvSpPr/>
          <p:nvPr/>
        </p:nvSpPr>
        <p:spPr>
          <a:xfrm>
            <a:off x="0" y="6547104"/>
            <a:ext cx="12191695" cy="20117"/>
          </a:xfrm>
          <a:prstGeom prst="rect">
            <a:avLst/>
          </a:prstGeom>
          <a:solidFill>
            <a:srgbClr val="E2E8F0"/>
          </a:solidFill>
          <a:ln/>
        </p:spPr>
      </p:sp>
      <p:sp>
        <p:nvSpPr>
          <p:cNvPr id="40" name="Shape 38"/>
          <p:cNvSpPr/>
          <p:nvPr/>
        </p:nvSpPr>
        <p:spPr>
          <a:xfrm>
            <a:off x="457200" y="6624828"/>
            <a:ext cx="118872" cy="118872"/>
          </a:xfrm>
          <a:prstGeom prst="ellipse">
            <a:avLst/>
          </a:prstGeom>
          <a:solidFill>
            <a:srgbClr val="0D9488"/>
          </a:solidFill>
          <a:ln/>
        </p:spPr>
      </p:sp>
      <p:sp>
        <p:nvSpPr>
          <p:cNvPr id="41" name="Text 39"/>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42" name="Text 40"/>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43" name="Text 41"/>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ĐỊNH GIÁ</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DCF — kịch bản Base / Bull / Bear</a:t>
            </a:r>
            <a:endParaRPr lang="en-US" sz="3000" dirty="0"/>
          </a:p>
        </p:txBody>
      </p:sp>
      <p:sp>
        <p:nvSpPr>
          <p:cNvPr id="5" name="Shape 3"/>
          <p:cNvSpPr/>
          <p:nvPr/>
        </p:nvSpPr>
        <p:spPr>
          <a:xfrm>
            <a:off x="640080" y="1783080"/>
            <a:ext cx="3529584" cy="2834640"/>
          </a:xfrm>
          <a:prstGeom prst="roundRect">
            <a:avLst>
              <a:gd name="adj" fmla="val 3226"/>
            </a:avLst>
          </a:prstGeom>
          <a:solidFill>
            <a:srgbClr val="FFFFFF"/>
          </a:solidFill>
          <a:ln/>
          <a:effectLst>
            <a:outerShdw sx="100000" sy="100000" kx="0" ky="0" algn="bl" rotWithShape="0" blurRad="63500" dist="25400" dir="5400000">
              <a:srgbClr val="0F172A">
                <a:alpha val="10000"/>
              </a:srgbClr>
            </a:outerShdw>
          </a:effectLst>
        </p:spPr>
      </p:sp>
      <p:sp>
        <p:nvSpPr>
          <p:cNvPr id="6" name="Text 4"/>
          <p:cNvSpPr/>
          <p:nvPr/>
        </p:nvSpPr>
        <p:spPr>
          <a:xfrm>
            <a:off x="640080" y="2039112"/>
            <a:ext cx="3529584" cy="411480"/>
          </a:xfrm>
          <a:prstGeom prst="rect">
            <a:avLst/>
          </a:prstGeom>
          <a:noFill/>
          <a:ln/>
        </p:spPr>
        <p:txBody>
          <a:bodyPr wrap="square" lIns="0" tIns="0" rIns="0" bIns="0" rtlCol="0" anchor="ctr"/>
          <a:lstStyle/>
          <a:p>
            <a:pPr algn="ctr" indent="0" marL="0">
              <a:buNone/>
            </a:pPr>
            <a:r>
              <a:rPr lang="en-US" sz="1800" b="1" dirty="0">
                <a:solidFill>
                  <a:srgbClr val="64748B"/>
                </a:solidFill>
                <a:latin typeface="Trebuchet MS" pitchFamily="34" charset="0"/>
                <a:ea typeface="Trebuchet MS" pitchFamily="34" charset="-122"/>
                <a:cs typeface="Trebuchet MS" pitchFamily="34" charset="-120"/>
              </a:rPr>
              <a:t>🐻 BEAR</a:t>
            </a:r>
            <a:endParaRPr lang="en-US" sz="1800" dirty="0"/>
          </a:p>
        </p:txBody>
      </p:sp>
      <p:sp>
        <p:nvSpPr>
          <p:cNvPr id="7" name="Text 5"/>
          <p:cNvSpPr/>
          <p:nvPr/>
        </p:nvSpPr>
        <p:spPr>
          <a:xfrm>
            <a:off x="640080" y="2560320"/>
            <a:ext cx="3529584" cy="594360"/>
          </a:xfrm>
          <a:prstGeom prst="rect">
            <a:avLst/>
          </a:prstGeom>
          <a:noFill/>
          <a:ln/>
        </p:spPr>
        <p:txBody>
          <a:bodyPr wrap="square" lIns="0" tIns="0" rIns="0" bIns="0" rtlCol="0" anchor="ctr"/>
          <a:lstStyle/>
          <a:p>
            <a:pPr algn="ctr" indent="0" marL="0">
              <a:buNone/>
            </a:pPr>
            <a:r>
              <a:rPr lang="en-US" sz="3200" b="1" dirty="0">
                <a:solidFill>
                  <a:srgbClr val="64748B"/>
                </a:solidFill>
                <a:latin typeface="Trebuchet MS" pitchFamily="34" charset="0"/>
                <a:ea typeface="Trebuchet MS" pitchFamily="34" charset="-122"/>
                <a:cs typeface="Trebuchet MS" pitchFamily="34" charset="-120"/>
              </a:rPr>
              <a:t>~460 tỷ</a:t>
            </a:r>
            <a:endParaRPr lang="en-US" sz="3200" dirty="0"/>
          </a:p>
        </p:txBody>
      </p:sp>
      <p:sp>
        <p:nvSpPr>
          <p:cNvPr id="8" name="Text 6"/>
          <p:cNvSpPr/>
          <p:nvPr/>
        </p:nvSpPr>
        <p:spPr>
          <a:xfrm>
            <a:off x="640080" y="3154680"/>
            <a:ext cx="3529584" cy="320040"/>
          </a:xfrm>
          <a:prstGeom prst="rect">
            <a:avLst/>
          </a:prstGeom>
          <a:noFill/>
          <a:ln/>
        </p:spPr>
        <p:txBody>
          <a:bodyPr wrap="square" lIns="0" tIns="0" rIns="0" bIns="0" rtlCol="0" anchor="ctr"/>
          <a:lstStyle/>
          <a:p>
            <a:pPr algn="ctr" indent="0" marL="0">
              <a:buNone/>
            </a:pPr>
            <a:r>
              <a:rPr lang="en-US" sz="1300" b="1" dirty="0">
                <a:solidFill>
                  <a:srgbClr val="64748B"/>
                </a:solidFill>
                <a:latin typeface="Calibri" pitchFamily="34" charset="0"/>
                <a:ea typeface="Calibri" pitchFamily="34" charset="-122"/>
                <a:cs typeface="Calibri" pitchFamily="34" charset="-120"/>
              </a:rPr>
              <a:t>EV · ≈ $18M</a:t>
            </a:r>
            <a:endParaRPr lang="en-US" sz="1300" dirty="0"/>
          </a:p>
        </p:txBody>
      </p:sp>
      <p:sp>
        <p:nvSpPr>
          <p:cNvPr id="9" name="Text 7"/>
          <p:cNvSpPr/>
          <p:nvPr/>
        </p:nvSpPr>
        <p:spPr>
          <a:xfrm>
            <a:off x="914400" y="3611880"/>
            <a:ext cx="2980944" cy="914400"/>
          </a:xfrm>
          <a:prstGeom prst="rect">
            <a:avLst/>
          </a:prstGeom>
          <a:noFill/>
          <a:ln/>
        </p:spPr>
        <p:txBody>
          <a:bodyPr wrap="square" lIns="0" tIns="0" rIns="0" bIns="0" rtlCol="0" anchor="t"/>
          <a:lstStyle/>
          <a:p>
            <a:pPr algn="ctr" indent="0" marL="0">
              <a:lnSpc>
                <a:spcPct val="110000"/>
              </a:lnSpc>
              <a:buNone/>
            </a:pPr>
            <a:r>
              <a:rPr lang="en-US" sz="1050" dirty="0">
                <a:solidFill>
                  <a:srgbClr val="64748B"/>
                </a:solidFill>
                <a:latin typeface="Calibri" pitchFamily="34" charset="0"/>
                <a:ea typeface="Calibri" pitchFamily="34" charset="-122"/>
                <a:cs typeface="Calibri" pitchFamily="34" charset="-120"/>
              </a:rPr>
              <a:t>DT Y5 600 tỷ · churn 5%/th · exit 3,0× · WACC 24%</a:t>
            </a:r>
            <a:endParaRPr lang="en-US" sz="1050" dirty="0"/>
          </a:p>
        </p:txBody>
      </p:sp>
      <p:sp>
        <p:nvSpPr>
          <p:cNvPr id="10" name="Shape 8"/>
          <p:cNvSpPr/>
          <p:nvPr/>
        </p:nvSpPr>
        <p:spPr>
          <a:xfrm>
            <a:off x="4334256" y="1673352"/>
            <a:ext cx="3529584" cy="3054096"/>
          </a:xfrm>
          <a:prstGeom prst="roundRect">
            <a:avLst>
              <a:gd name="adj" fmla="val 2994"/>
            </a:avLst>
          </a:prstGeom>
          <a:solidFill>
            <a:srgbClr val="0D9488"/>
          </a:solidFill>
          <a:ln/>
          <a:effectLst>
            <a:outerShdw sx="100000" sy="100000" kx="0" ky="0" algn="bl" rotWithShape="0" blurRad="114300" dist="38100" dir="5400000">
              <a:srgbClr val="0F172A">
                <a:alpha val="12000"/>
              </a:srgbClr>
            </a:outerShdw>
          </a:effectLst>
        </p:spPr>
      </p:sp>
      <p:sp>
        <p:nvSpPr>
          <p:cNvPr id="11" name="Text 9"/>
          <p:cNvSpPr/>
          <p:nvPr/>
        </p:nvSpPr>
        <p:spPr>
          <a:xfrm>
            <a:off x="4334256" y="1929384"/>
            <a:ext cx="3529584"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 BASE</a:t>
            </a:r>
            <a:endParaRPr lang="en-US" sz="1800" dirty="0"/>
          </a:p>
        </p:txBody>
      </p:sp>
      <p:sp>
        <p:nvSpPr>
          <p:cNvPr id="12" name="Text 10"/>
          <p:cNvSpPr/>
          <p:nvPr/>
        </p:nvSpPr>
        <p:spPr>
          <a:xfrm>
            <a:off x="4334256" y="2450592"/>
            <a:ext cx="3529584" cy="59436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~1.740 tỷ</a:t>
            </a:r>
            <a:endParaRPr lang="en-US" sz="3200" dirty="0"/>
          </a:p>
        </p:txBody>
      </p:sp>
      <p:sp>
        <p:nvSpPr>
          <p:cNvPr id="13" name="Text 11"/>
          <p:cNvSpPr/>
          <p:nvPr/>
        </p:nvSpPr>
        <p:spPr>
          <a:xfrm>
            <a:off x="4334256" y="3044952"/>
            <a:ext cx="3529584" cy="320040"/>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EV · ≈ $68M</a:t>
            </a:r>
            <a:endParaRPr lang="en-US" sz="1300" dirty="0"/>
          </a:p>
        </p:txBody>
      </p:sp>
      <p:sp>
        <p:nvSpPr>
          <p:cNvPr id="14" name="Text 12"/>
          <p:cNvSpPr/>
          <p:nvPr/>
        </p:nvSpPr>
        <p:spPr>
          <a:xfrm>
            <a:off x="4608576" y="3502152"/>
            <a:ext cx="2980944" cy="914400"/>
          </a:xfrm>
          <a:prstGeom prst="rect">
            <a:avLst/>
          </a:prstGeom>
          <a:noFill/>
          <a:ln/>
        </p:spPr>
        <p:txBody>
          <a:bodyPr wrap="square" lIns="0" tIns="0" rIns="0" bIns="0" rtlCol="0" anchor="t"/>
          <a:lstStyle/>
          <a:p>
            <a:pPr algn="ctr" indent="0" marL="0">
              <a:lnSpc>
                <a:spcPct val="110000"/>
              </a:lnSpc>
              <a:buNone/>
            </a:pPr>
            <a:r>
              <a:rPr lang="en-US" sz="1050" dirty="0">
                <a:solidFill>
                  <a:srgbClr val="D1FAE5"/>
                </a:solidFill>
                <a:latin typeface="Calibri" pitchFamily="34" charset="0"/>
                <a:ea typeface="Calibri" pitchFamily="34" charset="-122"/>
                <a:cs typeface="Calibri" pitchFamily="34" charset="-120"/>
              </a:rPr>
              <a:t>DT Y5 948 tỷ · churn 3,3%/th · exit 5,0× · WACC 20%</a:t>
            </a:r>
            <a:endParaRPr lang="en-US" sz="1050" dirty="0"/>
          </a:p>
        </p:txBody>
      </p:sp>
      <p:sp>
        <p:nvSpPr>
          <p:cNvPr id="15" name="Shape 13"/>
          <p:cNvSpPr/>
          <p:nvPr/>
        </p:nvSpPr>
        <p:spPr>
          <a:xfrm>
            <a:off x="8028432" y="1783080"/>
            <a:ext cx="3529584" cy="2834640"/>
          </a:xfrm>
          <a:prstGeom prst="roundRect">
            <a:avLst>
              <a:gd name="adj" fmla="val 3226"/>
            </a:avLst>
          </a:prstGeom>
          <a:solidFill>
            <a:srgbClr val="FFFFFF"/>
          </a:solidFill>
          <a:ln/>
          <a:effectLst>
            <a:outerShdw sx="100000" sy="100000" kx="0" ky="0" algn="bl" rotWithShape="0" blurRad="63500" dist="25400" dir="5400000">
              <a:srgbClr val="0F172A">
                <a:alpha val="10000"/>
              </a:srgbClr>
            </a:outerShdw>
          </a:effectLst>
        </p:spPr>
      </p:sp>
      <p:sp>
        <p:nvSpPr>
          <p:cNvPr id="16" name="Text 14"/>
          <p:cNvSpPr/>
          <p:nvPr/>
        </p:nvSpPr>
        <p:spPr>
          <a:xfrm>
            <a:off x="8028432" y="2039112"/>
            <a:ext cx="3529584" cy="411480"/>
          </a:xfrm>
          <a:prstGeom prst="rect">
            <a:avLst/>
          </a:prstGeom>
          <a:noFill/>
          <a:ln/>
        </p:spPr>
        <p:txBody>
          <a:bodyPr wrap="square" lIns="0" tIns="0" rIns="0" bIns="0" rtlCol="0" anchor="ctr"/>
          <a:lstStyle/>
          <a:p>
            <a:pPr algn="ctr" indent="0" marL="0">
              <a:buNone/>
            </a:pPr>
            <a:r>
              <a:rPr lang="en-US" sz="1800" b="1" dirty="0">
                <a:solidFill>
                  <a:srgbClr val="FB7185"/>
                </a:solidFill>
                <a:latin typeface="Trebuchet MS" pitchFamily="34" charset="0"/>
                <a:ea typeface="Trebuchet MS" pitchFamily="34" charset="-122"/>
                <a:cs typeface="Trebuchet MS" pitchFamily="34" charset="-120"/>
              </a:rPr>
              <a:t>🚀 BULL</a:t>
            </a:r>
            <a:endParaRPr lang="en-US" sz="1800" dirty="0"/>
          </a:p>
        </p:txBody>
      </p:sp>
      <p:sp>
        <p:nvSpPr>
          <p:cNvPr id="17" name="Text 15"/>
          <p:cNvSpPr/>
          <p:nvPr/>
        </p:nvSpPr>
        <p:spPr>
          <a:xfrm>
            <a:off x="8028432" y="2560320"/>
            <a:ext cx="3529584" cy="594360"/>
          </a:xfrm>
          <a:prstGeom prst="rect">
            <a:avLst/>
          </a:prstGeom>
          <a:noFill/>
          <a:ln/>
        </p:spPr>
        <p:txBody>
          <a:bodyPr wrap="square" lIns="0" tIns="0" rIns="0" bIns="0" rtlCol="0" anchor="ctr"/>
          <a:lstStyle/>
          <a:p>
            <a:pPr algn="ctr" indent="0" marL="0">
              <a:buNone/>
            </a:pPr>
            <a:r>
              <a:rPr lang="en-US" sz="3200" b="1" dirty="0">
                <a:solidFill>
                  <a:srgbClr val="FB7185"/>
                </a:solidFill>
                <a:latin typeface="Trebuchet MS" pitchFamily="34" charset="0"/>
                <a:ea typeface="Trebuchet MS" pitchFamily="34" charset="-122"/>
                <a:cs typeface="Trebuchet MS" pitchFamily="34" charset="-120"/>
              </a:rPr>
              <a:t>~4.160 tỷ</a:t>
            </a:r>
            <a:endParaRPr lang="en-US" sz="3200" dirty="0"/>
          </a:p>
        </p:txBody>
      </p:sp>
      <p:sp>
        <p:nvSpPr>
          <p:cNvPr id="18" name="Text 16"/>
          <p:cNvSpPr/>
          <p:nvPr/>
        </p:nvSpPr>
        <p:spPr>
          <a:xfrm>
            <a:off x="8028432" y="3154680"/>
            <a:ext cx="3529584" cy="320040"/>
          </a:xfrm>
          <a:prstGeom prst="rect">
            <a:avLst/>
          </a:prstGeom>
          <a:noFill/>
          <a:ln/>
        </p:spPr>
        <p:txBody>
          <a:bodyPr wrap="square" lIns="0" tIns="0" rIns="0" bIns="0" rtlCol="0" anchor="ctr"/>
          <a:lstStyle/>
          <a:p>
            <a:pPr algn="ctr" indent="0" marL="0">
              <a:buNone/>
            </a:pPr>
            <a:r>
              <a:rPr lang="en-US" sz="1300" b="1" dirty="0">
                <a:solidFill>
                  <a:srgbClr val="64748B"/>
                </a:solidFill>
                <a:latin typeface="Calibri" pitchFamily="34" charset="0"/>
                <a:ea typeface="Calibri" pitchFamily="34" charset="-122"/>
                <a:cs typeface="Calibri" pitchFamily="34" charset="-120"/>
              </a:rPr>
              <a:t>EV · ≈ $163M</a:t>
            </a:r>
            <a:endParaRPr lang="en-US" sz="1300" dirty="0"/>
          </a:p>
        </p:txBody>
      </p:sp>
      <p:sp>
        <p:nvSpPr>
          <p:cNvPr id="19" name="Text 17"/>
          <p:cNvSpPr/>
          <p:nvPr/>
        </p:nvSpPr>
        <p:spPr>
          <a:xfrm>
            <a:off x="8302752" y="3611880"/>
            <a:ext cx="2980944" cy="914400"/>
          </a:xfrm>
          <a:prstGeom prst="rect">
            <a:avLst/>
          </a:prstGeom>
          <a:noFill/>
          <a:ln/>
        </p:spPr>
        <p:txBody>
          <a:bodyPr wrap="square" lIns="0" tIns="0" rIns="0" bIns="0" rtlCol="0" anchor="t"/>
          <a:lstStyle/>
          <a:p>
            <a:pPr algn="ctr" indent="0" marL="0">
              <a:lnSpc>
                <a:spcPct val="110000"/>
              </a:lnSpc>
              <a:buNone/>
            </a:pPr>
            <a:r>
              <a:rPr lang="en-US" sz="1050" dirty="0">
                <a:solidFill>
                  <a:srgbClr val="64748B"/>
                </a:solidFill>
                <a:latin typeface="Calibri" pitchFamily="34" charset="0"/>
                <a:ea typeface="Calibri" pitchFamily="34" charset="-122"/>
                <a:cs typeface="Calibri" pitchFamily="34" charset="-120"/>
              </a:rPr>
              <a:t>DT Y5 1.400 tỷ · churn 2%/th · exit 7,0× · WACC 18%</a:t>
            </a:r>
            <a:endParaRPr lang="en-US" sz="1050" dirty="0"/>
          </a:p>
        </p:txBody>
      </p:sp>
      <p:sp>
        <p:nvSpPr>
          <p:cNvPr id="20" name="Shape 18"/>
          <p:cNvSpPr/>
          <p:nvPr/>
        </p:nvSpPr>
        <p:spPr>
          <a:xfrm>
            <a:off x="640080" y="5074920"/>
            <a:ext cx="10908792" cy="914400"/>
          </a:xfrm>
          <a:prstGeom prst="roundRect">
            <a:avLst>
              <a:gd name="adj" fmla="val 8000"/>
            </a:avLst>
          </a:prstGeom>
          <a:solidFill>
            <a:srgbClr val="F1F5F9"/>
          </a:solidFill>
          <a:ln/>
        </p:spPr>
      </p:sp>
      <p:sp>
        <p:nvSpPr>
          <p:cNvPr id="21" name="Text 19"/>
          <p:cNvSpPr/>
          <p:nvPr/>
        </p:nvSpPr>
        <p:spPr>
          <a:xfrm>
            <a:off x="914400" y="5074920"/>
            <a:ext cx="10424160" cy="914400"/>
          </a:xfrm>
          <a:prstGeom prst="rect">
            <a:avLst/>
          </a:prstGeom>
          <a:noFill/>
          <a:ln/>
        </p:spPr>
        <p:txBody>
          <a:bodyPr wrap="square" lIns="0" tIns="0" rIns="0" bIns="0" rtlCol="0" anchor="ctr"/>
          <a:lstStyle/>
          <a:p>
            <a:pPr indent="0" marL="0">
              <a:lnSpc>
                <a:spcPct val="105000"/>
              </a:lnSpc>
              <a:buNone/>
            </a:pPr>
            <a:r>
              <a:rPr lang="en-US" sz="1200" b="1" dirty="0">
                <a:solidFill>
                  <a:srgbClr val="1E293B"/>
                </a:solidFill>
                <a:latin typeface="Calibri" pitchFamily="34" charset="0"/>
                <a:ea typeface="Calibri" pitchFamily="34" charset="-122"/>
                <a:cs typeface="Calibri" pitchFamily="34" charset="-120"/>
              </a:rPr>
              <a:t>Phương pháp:  </a:t>
            </a:r>
            <a:pPr indent="0" marL="0">
              <a:lnSpc>
                <a:spcPct val="105000"/>
              </a:lnSpc>
              <a:buNone/>
            </a:pPr>
            <a:r>
              <a:rPr lang="en-US" sz="1150" dirty="0">
                <a:solidFill>
                  <a:srgbClr val="64748B"/>
                </a:solidFill>
                <a:latin typeface="Calibri" pitchFamily="34" charset="0"/>
                <a:ea typeface="Calibri" pitchFamily="34" charset="-122"/>
                <a:cs typeface="Calibri" pitchFamily="34" charset="-120"/>
              </a:rPr>
              <a:t>DCF với WACC ~20% (CAPM: Rf 4,5% + β 1,11 × ERP 8,13% + stage premium). EV base = PV terminal 1.905 tỷ − PV FCF Y1–5 163 tỷ ≈ 1.740 tỷ (~$68M).</a:t>
            </a:r>
            <a:endParaRPr lang="en-US" sz="1200" dirty="0"/>
          </a:p>
        </p:txBody>
      </p:sp>
      <p:sp>
        <p:nvSpPr>
          <p:cNvPr id="22" name="Shape 20"/>
          <p:cNvSpPr/>
          <p:nvPr/>
        </p:nvSpPr>
        <p:spPr>
          <a:xfrm>
            <a:off x="0" y="6565392"/>
            <a:ext cx="12191695" cy="292608"/>
          </a:xfrm>
          <a:prstGeom prst="rect">
            <a:avLst/>
          </a:prstGeom>
          <a:solidFill>
            <a:srgbClr val="FFFFFF"/>
          </a:solidFill>
          <a:ln/>
        </p:spPr>
      </p:sp>
      <p:sp>
        <p:nvSpPr>
          <p:cNvPr id="23" name="Shape 21"/>
          <p:cNvSpPr/>
          <p:nvPr/>
        </p:nvSpPr>
        <p:spPr>
          <a:xfrm>
            <a:off x="0" y="6547104"/>
            <a:ext cx="12191695" cy="20117"/>
          </a:xfrm>
          <a:prstGeom prst="rect">
            <a:avLst/>
          </a:prstGeom>
          <a:solidFill>
            <a:srgbClr val="E2E8F0"/>
          </a:solidFill>
          <a:ln/>
        </p:spPr>
      </p:sp>
      <p:sp>
        <p:nvSpPr>
          <p:cNvPr id="24" name="Shape 22"/>
          <p:cNvSpPr/>
          <p:nvPr/>
        </p:nvSpPr>
        <p:spPr>
          <a:xfrm>
            <a:off x="457200" y="6624828"/>
            <a:ext cx="118872" cy="118872"/>
          </a:xfrm>
          <a:prstGeom prst="ellipse">
            <a:avLst/>
          </a:prstGeom>
          <a:solidFill>
            <a:srgbClr val="0D9488"/>
          </a:solidFill>
          <a:ln/>
        </p:spPr>
      </p:sp>
      <p:sp>
        <p:nvSpPr>
          <p:cNvPr id="25" name="Text 23"/>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26" name="Text 24"/>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27" name="Text 25"/>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PHÁP LÝ &amp; ĐẠO ĐỨC</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Tuân thủ chủ động = lợi thế tin cậy</a:t>
            </a:r>
            <a:endParaRPr lang="en-US" sz="3000" dirty="0"/>
          </a:p>
        </p:txBody>
      </p:sp>
      <p:sp>
        <p:nvSpPr>
          <p:cNvPr id="5" name="Shape 3"/>
          <p:cNvSpPr/>
          <p:nvPr/>
        </p:nvSpPr>
        <p:spPr>
          <a:xfrm>
            <a:off x="640080" y="1783080"/>
            <a:ext cx="5532120" cy="960120"/>
          </a:xfrm>
          <a:prstGeom prst="roundRect">
            <a:avLst>
              <a:gd name="adj" fmla="val 6667"/>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868680" y="2029968"/>
            <a:ext cx="457200" cy="45720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978408" y="2139696"/>
            <a:ext cx="237744" cy="237744"/>
          </a:xfrm>
          <a:prstGeom prst="rect">
            <a:avLst/>
          </a:prstGeom>
        </p:spPr>
      </p:pic>
      <p:sp>
        <p:nvSpPr>
          <p:cNvPr id="8" name="Text 5"/>
          <p:cNvSpPr/>
          <p:nvPr/>
        </p:nvSpPr>
        <p:spPr>
          <a:xfrm>
            <a:off x="1508760" y="1911096"/>
            <a:ext cx="4526280" cy="329184"/>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Nghị định 13/2023</a:t>
            </a:r>
            <a:endParaRPr lang="en-US" sz="1300" dirty="0"/>
          </a:p>
        </p:txBody>
      </p:sp>
      <p:sp>
        <p:nvSpPr>
          <p:cNvPr id="9" name="Text 6"/>
          <p:cNvSpPr/>
          <p:nvPr/>
        </p:nvSpPr>
        <p:spPr>
          <a:xfrm>
            <a:off x="1508760" y="2240280"/>
            <a:ext cx="4526280" cy="45720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Bảo vệ dữ liệu cá nhân: mã hóa, phân quyền, audit trail hồ sơ sức khỏe.</a:t>
            </a:r>
            <a:endParaRPr lang="en-US" sz="1050" dirty="0"/>
          </a:p>
        </p:txBody>
      </p:sp>
      <p:sp>
        <p:nvSpPr>
          <p:cNvPr id="10" name="Shape 7"/>
          <p:cNvSpPr/>
          <p:nvPr/>
        </p:nvSpPr>
        <p:spPr>
          <a:xfrm>
            <a:off x="640080" y="2852928"/>
            <a:ext cx="5532120" cy="960120"/>
          </a:xfrm>
          <a:prstGeom prst="roundRect">
            <a:avLst>
              <a:gd name="adj" fmla="val 6667"/>
            </a:avLst>
          </a:prstGeom>
          <a:solidFill>
            <a:srgbClr val="FFFFFF"/>
          </a:solidFill>
          <a:ln/>
          <a:effectLst>
            <a:outerShdw sx="100000" sy="100000" kx="0" ky="0" algn="bl" rotWithShape="0" blurRad="63500" dist="25400" dir="5400000">
              <a:srgbClr val="0F172A">
                <a:alpha val="10000"/>
              </a:srgbClr>
            </a:outerShdw>
          </a:effectLst>
        </p:spPr>
      </p:sp>
      <p:sp>
        <p:nvSpPr>
          <p:cNvPr id="11" name="Shape 8"/>
          <p:cNvSpPr/>
          <p:nvPr/>
        </p:nvSpPr>
        <p:spPr>
          <a:xfrm>
            <a:off x="868680" y="3099816"/>
            <a:ext cx="457200" cy="45720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978408" y="3209544"/>
            <a:ext cx="237744" cy="237744"/>
          </a:xfrm>
          <a:prstGeom prst="rect">
            <a:avLst/>
          </a:prstGeom>
        </p:spPr>
      </p:pic>
      <p:sp>
        <p:nvSpPr>
          <p:cNvPr id="13" name="Text 9"/>
          <p:cNvSpPr/>
          <p:nvPr/>
        </p:nvSpPr>
        <p:spPr>
          <a:xfrm>
            <a:off x="1508760" y="2980944"/>
            <a:ext cx="4526280" cy="329184"/>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Luật KCB 2023 · Điều 80</a:t>
            </a:r>
            <a:endParaRPr lang="en-US" sz="1300" dirty="0"/>
          </a:p>
        </p:txBody>
      </p:sp>
      <p:sp>
        <p:nvSpPr>
          <p:cNvPr id="14" name="Text 10"/>
          <p:cNvSpPr/>
          <p:nvPr/>
        </p:nvSpPr>
        <p:spPr>
          <a:xfrm>
            <a:off x="1508760" y="3310128"/>
            <a:ext cx="4526280" cy="45720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Khám từ xa được phép — bắt buộc có hồ sơ điện tử.</a:t>
            </a:r>
            <a:endParaRPr lang="en-US" sz="1050" dirty="0"/>
          </a:p>
        </p:txBody>
      </p:sp>
      <p:sp>
        <p:nvSpPr>
          <p:cNvPr id="15" name="Shape 11"/>
          <p:cNvSpPr/>
          <p:nvPr/>
        </p:nvSpPr>
        <p:spPr>
          <a:xfrm>
            <a:off x="640080" y="3922776"/>
            <a:ext cx="5532120" cy="960120"/>
          </a:xfrm>
          <a:prstGeom prst="roundRect">
            <a:avLst>
              <a:gd name="adj" fmla="val 6667"/>
            </a:avLst>
          </a:prstGeom>
          <a:solidFill>
            <a:srgbClr val="FFFFFF"/>
          </a:solidFill>
          <a:ln/>
          <a:effectLst>
            <a:outerShdw sx="100000" sy="100000" kx="0" ky="0" algn="bl" rotWithShape="0" blurRad="63500" dist="25400" dir="5400000">
              <a:srgbClr val="0F172A">
                <a:alpha val="10000"/>
              </a:srgbClr>
            </a:outerShdw>
          </a:effectLst>
        </p:spPr>
      </p:sp>
      <p:sp>
        <p:nvSpPr>
          <p:cNvPr id="16" name="Shape 12"/>
          <p:cNvSpPr/>
          <p:nvPr/>
        </p:nvSpPr>
        <p:spPr>
          <a:xfrm>
            <a:off x="868680" y="4169664"/>
            <a:ext cx="457200" cy="457200"/>
          </a:xfrm>
          <a:prstGeom prst="ellipse">
            <a:avLst/>
          </a:prstGeom>
          <a:solidFill>
            <a:srgbClr val="0D9488"/>
          </a:solidFill>
          <a:ln/>
        </p:spPr>
      </p:sp>
      <p:pic>
        <p:nvPicPr>
          <p:cNvPr id="17" name="Image 2" descr="preencoded.png">    </p:cNvPr>
          <p:cNvPicPr>
            <a:picLocks noChangeAspect="1"/>
          </p:cNvPicPr>
          <p:nvPr/>
        </p:nvPicPr>
        <p:blipFill>
          <a:blip r:embed="rId3"/>
          <a:stretch>
            <a:fillRect/>
          </a:stretch>
        </p:blipFill>
        <p:spPr>
          <a:xfrm>
            <a:off x="978408" y="4279392"/>
            <a:ext cx="237744" cy="237744"/>
          </a:xfrm>
          <a:prstGeom prst="rect">
            <a:avLst/>
          </a:prstGeom>
        </p:spPr>
      </p:pic>
      <p:sp>
        <p:nvSpPr>
          <p:cNvPr id="18" name="Text 13"/>
          <p:cNvSpPr/>
          <p:nvPr/>
        </p:nvSpPr>
        <p:spPr>
          <a:xfrm>
            <a:off x="1508760" y="4050792"/>
            <a:ext cx="4526280" cy="329184"/>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Luật Dược · GPP</a:t>
            </a:r>
            <a:endParaRPr lang="en-US" sz="1300" dirty="0"/>
          </a:p>
        </p:txBody>
      </p:sp>
      <p:sp>
        <p:nvSpPr>
          <p:cNvPr id="19" name="Text 14"/>
          <p:cNvSpPr/>
          <p:nvPr/>
        </p:nvSpPr>
        <p:spPr>
          <a:xfrm>
            <a:off x="1508760" y="4379976"/>
            <a:ext cx="4526280" cy="45720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Giao dược đạt chuẩn Good Pharmacy Practice, nhà thuốc cấp phép.</a:t>
            </a:r>
            <a:endParaRPr lang="en-US" sz="1050" dirty="0"/>
          </a:p>
        </p:txBody>
      </p:sp>
      <p:sp>
        <p:nvSpPr>
          <p:cNvPr id="20" name="Shape 15"/>
          <p:cNvSpPr/>
          <p:nvPr/>
        </p:nvSpPr>
        <p:spPr>
          <a:xfrm>
            <a:off x="640080" y="4992624"/>
            <a:ext cx="5532120" cy="960120"/>
          </a:xfrm>
          <a:prstGeom prst="roundRect">
            <a:avLst>
              <a:gd name="adj" fmla="val 6667"/>
            </a:avLst>
          </a:prstGeom>
          <a:solidFill>
            <a:srgbClr val="FFFFFF"/>
          </a:solidFill>
          <a:ln/>
          <a:effectLst>
            <a:outerShdw sx="100000" sy="100000" kx="0" ky="0" algn="bl" rotWithShape="0" blurRad="63500" dist="25400" dir="5400000">
              <a:srgbClr val="0F172A">
                <a:alpha val="10000"/>
              </a:srgbClr>
            </a:outerShdw>
          </a:effectLst>
        </p:spPr>
      </p:sp>
      <p:sp>
        <p:nvSpPr>
          <p:cNvPr id="21" name="Shape 16"/>
          <p:cNvSpPr/>
          <p:nvPr/>
        </p:nvSpPr>
        <p:spPr>
          <a:xfrm>
            <a:off x="868680" y="5239512"/>
            <a:ext cx="457200" cy="457200"/>
          </a:xfrm>
          <a:prstGeom prst="ellipse">
            <a:avLst/>
          </a:prstGeom>
          <a:solidFill>
            <a:srgbClr val="0D9488"/>
          </a:solidFill>
          <a:ln/>
        </p:spPr>
      </p:sp>
      <p:pic>
        <p:nvPicPr>
          <p:cNvPr id="22" name="Image 3" descr="preencoded.png">    </p:cNvPr>
          <p:cNvPicPr>
            <a:picLocks noChangeAspect="1"/>
          </p:cNvPicPr>
          <p:nvPr/>
        </p:nvPicPr>
        <p:blipFill>
          <a:blip r:embed="rId4"/>
          <a:stretch>
            <a:fillRect/>
          </a:stretch>
        </p:blipFill>
        <p:spPr>
          <a:xfrm>
            <a:off x="978408" y="5349240"/>
            <a:ext cx="237744" cy="237744"/>
          </a:xfrm>
          <a:prstGeom prst="rect">
            <a:avLst/>
          </a:prstGeom>
        </p:spPr>
      </p:pic>
      <p:sp>
        <p:nvSpPr>
          <p:cNvPr id="23" name="Text 17"/>
          <p:cNvSpPr/>
          <p:nvPr/>
        </p:nvSpPr>
        <p:spPr>
          <a:xfrm>
            <a:off x="1508760" y="5120640"/>
            <a:ext cx="4526280" cy="329184"/>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Chống thuốc giả</a:t>
            </a:r>
            <a:endParaRPr lang="en-US" sz="1300" dirty="0"/>
          </a:p>
        </p:txBody>
      </p:sp>
      <p:sp>
        <p:nvSpPr>
          <p:cNvPr id="24" name="Text 18"/>
          <p:cNvSpPr/>
          <p:nvPr/>
        </p:nvSpPr>
        <p:spPr>
          <a:xfrm>
            <a:off x="1508760" y="5449824"/>
            <a:ext cx="4526280" cy="45720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QR xác thực từng vỉ, kết nối Cục Quản lý Dược cảnh báo lô giả.</a:t>
            </a:r>
            <a:endParaRPr lang="en-US" sz="1050" dirty="0"/>
          </a:p>
        </p:txBody>
      </p:sp>
      <p:sp>
        <p:nvSpPr>
          <p:cNvPr id="25" name="Shape 19"/>
          <p:cNvSpPr/>
          <p:nvPr/>
        </p:nvSpPr>
        <p:spPr>
          <a:xfrm>
            <a:off x="6355080" y="1783080"/>
            <a:ext cx="5193792" cy="4261104"/>
          </a:xfrm>
          <a:prstGeom prst="roundRect">
            <a:avLst>
              <a:gd name="adj" fmla="val 2146"/>
            </a:avLst>
          </a:prstGeom>
          <a:solidFill>
            <a:srgbClr val="134E4A"/>
          </a:solidFill>
          <a:ln/>
          <a:effectLst>
            <a:outerShdw sx="100000" sy="100000" kx="0" ky="0" algn="bl" rotWithShape="0" blurRad="114300" dist="38100" dir="5400000">
              <a:srgbClr val="0F172A">
                <a:alpha val="12000"/>
              </a:srgbClr>
            </a:outerShdw>
          </a:effectLst>
        </p:spPr>
      </p:sp>
      <p:pic>
        <p:nvPicPr>
          <p:cNvPr id="26" name="Image 4" descr="preencoded.png">    </p:cNvPr>
          <p:cNvPicPr>
            <a:picLocks noChangeAspect="1"/>
          </p:cNvPicPr>
          <p:nvPr/>
        </p:nvPicPr>
        <p:blipFill>
          <a:blip r:embed="rId5"/>
          <a:stretch>
            <a:fillRect/>
          </a:stretch>
        </p:blipFill>
        <p:spPr>
          <a:xfrm>
            <a:off x="6629400" y="2011680"/>
            <a:ext cx="457200" cy="457200"/>
          </a:xfrm>
          <a:prstGeom prst="rect">
            <a:avLst/>
          </a:prstGeom>
        </p:spPr>
      </p:pic>
      <p:sp>
        <p:nvSpPr>
          <p:cNvPr id="27" name="Text 20"/>
          <p:cNvSpPr/>
          <p:nvPr/>
        </p:nvSpPr>
        <p:spPr>
          <a:xfrm>
            <a:off x="7178040" y="2011680"/>
            <a:ext cx="4114800" cy="457200"/>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Đạo đức giám hộ</a:t>
            </a:r>
            <a:endParaRPr lang="en-US" sz="1700" dirty="0"/>
          </a:p>
        </p:txBody>
      </p:sp>
      <p:sp>
        <p:nvSpPr>
          <p:cNvPr id="28" name="Text 21"/>
          <p:cNvSpPr/>
          <p:nvPr/>
        </p:nvSpPr>
        <p:spPr>
          <a:xfrm>
            <a:off x="6675120" y="2697480"/>
            <a:ext cx="4617720" cy="3200400"/>
          </a:xfrm>
          <a:prstGeom prst="rect">
            <a:avLst/>
          </a:prstGeom>
          <a:noFill/>
          <a:ln/>
        </p:spPr>
        <p:txBody>
          <a:bodyPr wrap="square" lIns="0" tIns="0" rIns="0" bIns="0" rtlCol="0" anchor="t"/>
          <a:lstStyle/>
          <a:p>
            <a:pPr marL="177800" indent="-177800">
              <a:lnSpc>
                <a:spcPct val="105000"/>
              </a:lnSpc>
              <a:spcAft>
                <a:spcPts val="1000"/>
              </a:spcAft>
              <a:buSzPct val="100000"/>
              <a:buChar char="•"/>
            </a:pPr>
            <a:r>
              <a:rPr lang="en-US" sz="1250" dirty="0">
                <a:solidFill>
                  <a:srgbClr val="ECFEFF"/>
                </a:solidFill>
                <a:latin typeface="Calibri" pitchFamily="34" charset="0"/>
                <a:ea typeface="Calibri" pitchFamily="34" charset="-122"/>
                <a:cs typeface="Calibri" pitchFamily="34" charset="-120"/>
              </a:rPr>
              <a:t>Giám sát camera &amp; GPS chỉ khi có sự đồng ý rõ ràng, bảo vệ quyền riêng tư người già.</a:t>
            </a:r>
            <a:endParaRPr lang="en-US" sz="1250" dirty="0"/>
          </a:p>
          <a:p>
            <a:pPr marL="177800" indent="-177800">
              <a:lnSpc>
                <a:spcPct val="105000"/>
              </a:lnSpc>
              <a:spcAft>
                <a:spcPts val="1000"/>
              </a:spcAft>
              <a:buSzPct val="100000"/>
              <a:buChar char="•"/>
            </a:pPr>
            <a:r>
              <a:rPr lang="en-US" sz="1250" dirty="0">
                <a:solidFill>
                  <a:srgbClr val="ECFEFF"/>
                </a:solidFill>
                <a:latin typeface="Calibri" pitchFamily="34" charset="0"/>
                <a:ea typeface="Calibri" pitchFamily="34" charset="-122"/>
                <a:cs typeface="Calibri" pitchFamily="34" charset="-120"/>
              </a:rPr>
              <a:t>Chấm điểm tín dụng MedFin công bằng — không phân biệt tuổi/dân tộc, tiêu chí công khai.</a:t>
            </a:r>
            <a:endParaRPr lang="en-US" sz="1250" dirty="0"/>
          </a:p>
          <a:p>
            <a:pPr marL="177800" indent="-177800">
              <a:lnSpc>
                <a:spcPct val="105000"/>
              </a:lnSpc>
              <a:spcAft>
                <a:spcPts val="1000"/>
              </a:spcAft>
              <a:buSzPct val="100000"/>
              <a:buChar char="•"/>
            </a:pPr>
            <a:r>
              <a:rPr lang="en-US" sz="1250" dirty="0">
                <a:solidFill>
                  <a:srgbClr val="ECFEFF"/>
                </a:solidFill>
                <a:latin typeface="Calibri" pitchFamily="34" charset="0"/>
                <a:ea typeface="Calibri" pitchFamily="34" charset="-122"/>
                <a:cs typeface="Calibri" pitchFamily="34" charset="-120"/>
              </a:rPr>
              <a:t>Minh bạch phí y tế, hạn chế upsell không chính đáng.</a:t>
            </a:r>
            <a:endParaRPr lang="en-US" sz="1250" dirty="0"/>
          </a:p>
          <a:p>
            <a:pPr marL="177800" indent="-177800">
              <a:lnSpc>
                <a:spcPct val="105000"/>
              </a:lnSpc>
              <a:buSzPct val="100000"/>
              <a:buChar char="•"/>
            </a:pPr>
            <a:r>
              <a:rPr lang="en-US" sz="1250" dirty="0">
                <a:solidFill>
                  <a:srgbClr val="ECFEFF"/>
                </a:solidFill>
                <a:latin typeface="Calibri" pitchFamily="34" charset="0"/>
                <a:ea typeface="Calibri" pitchFamily="34" charset="-122"/>
                <a:cs typeface="Calibri" pitchFamily="34" charset="-120"/>
              </a:rPr>
              <a:t>Đối xử công bằng với caregiver: trả công hợp lý, bảo hiểm xã hội.</a:t>
            </a:r>
            <a:endParaRPr lang="en-US" sz="1250" dirty="0"/>
          </a:p>
        </p:txBody>
      </p:sp>
      <p:sp>
        <p:nvSpPr>
          <p:cNvPr id="29" name="Shape 22"/>
          <p:cNvSpPr/>
          <p:nvPr/>
        </p:nvSpPr>
        <p:spPr>
          <a:xfrm>
            <a:off x="0" y="6565392"/>
            <a:ext cx="12191695" cy="292608"/>
          </a:xfrm>
          <a:prstGeom prst="rect">
            <a:avLst/>
          </a:prstGeom>
          <a:solidFill>
            <a:srgbClr val="FFFFFF"/>
          </a:solidFill>
          <a:ln/>
        </p:spPr>
      </p:sp>
      <p:sp>
        <p:nvSpPr>
          <p:cNvPr id="30" name="Shape 23"/>
          <p:cNvSpPr/>
          <p:nvPr/>
        </p:nvSpPr>
        <p:spPr>
          <a:xfrm>
            <a:off x="0" y="6547104"/>
            <a:ext cx="12191695" cy="20117"/>
          </a:xfrm>
          <a:prstGeom prst="rect">
            <a:avLst/>
          </a:prstGeom>
          <a:solidFill>
            <a:srgbClr val="E2E8F0"/>
          </a:solidFill>
          <a:ln/>
        </p:spPr>
      </p:sp>
      <p:sp>
        <p:nvSpPr>
          <p:cNvPr id="31" name="Shape 24"/>
          <p:cNvSpPr/>
          <p:nvPr/>
        </p:nvSpPr>
        <p:spPr>
          <a:xfrm>
            <a:off x="457200" y="6624828"/>
            <a:ext cx="118872" cy="118872"/>
          </a:xfrm>
          <a:prstGeom prst="ellipse">
            <a:avLst/>
          </a:prstGeom>
          <a:solidFill>
            <a:srgbClr val="0D9488"/>
          </a:solidFill>
          <a:ln/>
        </p:spPr>
      </p:sp>
      <p:sp>
        <p:nvSpPr>
          <p:cNvPr id="32" name="Text 25"/>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33" name="Text 26"/>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34" name="Text 27"/>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AI TOÀN HỆ THỐNG</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AI ứng dụng ở 4 tầng</a:t>
            </a:r>
            <a:endParaRPr lang="en-US" sz="3000" dirty="0"/>
          </a:p>
        </p:txBody>
      </p:sp>
      <p:sp>
        <p:nvSpPr>
          <p:cNvPr id="5" name="Shape 3"/>
          <p:cNvSpPr/>
          <p:nvPr/>
        </p:nvSpPr>
        <p:spPr>
          <a:xfrm>
            <a:off x="640080" y="1828800"/>
            <a:ext cx="2679192" cy="4069080"/>
          </a:xfrm>
          <a:prstGeom prst="roundRect">
            <a:avLst>
              <a:gd name="adj" fmla="val 2730"/>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828800"/>
            <a:ext cx="2679192" cy="786384"/>
          </a:xfrm>
          <a:prstGeom prst="rect">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96112" y="2057400"/>
            <a:ext cx="329184" cy="329184"/>
          </a:xfrm>
          <a:prstGeom prst="rect">
            <a:avLst/>
          </a:prstGeom>
        </p:spPr>
      </p:pic>
      <p:sp>
        <p:nvSpPr>
          <p:cNvPr id="8" name="Text 5"/>
          <p:cNvSpPr/>
          <p:nvPr/>
        </p:nvSpPr>
        <p:spPr>
          <a:xfrm>
            <a:off x="1353312" y="1828800"/>
            <a:ext cx="1856232" cy="786384"/>
          </a:xfrm>
          <a:prstGeom prst="rect">
            <a:avLst/>
          </a:prstGeom>
          <a:noFill/>
          <a:ln/>
        </p:spPr>
        <p:txBody>
          <a:bodyPr wrap="square" lIns="0" tIns="0" rIns="0" bIns="0" rtlCol="0" anchor="ctr"/>
          <a:lstStyle/>
          <a:p>
            <a:pPr indent="0" marL="0">
              <a:buNone/>
            </a:pPr>
            <a:r>
              <a:rPr lang="en-US" sz="1350" b="1" dirty="0">
                <a:solidFill>
                  <a:srgbClr val="FFFFFF"/>
                </a:solidFill>
                <a:latin typeface="Trebuchet MS" pitchFamily="34" charset="0"/>
                <a:ea typeface="Trebuchet MS" pitchFamily="34" charset="-122"/>
                <a:cs typeface="Trebuchet MS" pitchFamily="34" charset="-120"/>
              </a:rPr>
              <a:t>Sản phẩm chăm sóc</a:t>
            </a:r>
            <a:endParaRPr lang="en-US" sz="1350" dirty="0"/>
          </a:p>
        </p:txBody>
      </p:sp>
      <p:sp>
        <p:nvSpPr>
          <p:cNvPr id="9" name="Text 6"/>
          <p:cNvSpPr/>
          <p:nvPr/>
        </p:nvSpPr>
        <p:spPr>
          <a:xfrm>
            <a:off x="859536" y="2788920"/>
            <a:ext cx="2295144" cy="292608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100" dirty="0">
                <a:solidFill>
                  <a:srgbClr val="1E293B"/>
                </a:solidFill>
                <a:latin typeface="Calibri" pitchFamily="34" charset="0"/>
                <a:ea typeface="Calibri" pitchFamily="34" charset="-122"/>
                <a:cs typeface="Calibri" pitchFamily="34" charset="-120"/>
              </a:rPr>
              <a:t>Camera AI phát hiện té ngã (computer vision)</a:t>
            </a:r>
            <a:endParaRPr lang="en-US" sz="1100" dirty="0"/>
          </a:p>
          <a:p>
            <a:pPr marL="152400" indent="-152400">
              <a:lnSpc>
                <a:spcPct val="105000"/>
              </a:lnSpc>
              <a:spcAft>
                <a:spcPts val="1000"/>
              </a:spcAft>
              <a:buSzPct val="100000"/>
              <a:buChar char="•"/>
            </a:pPr>
            <a:r>
              <a:rPr lang="en-US" sz="1100" dirty="0">
                <a:solidFill>
                  <a:srgbClr val="1E293B"/>
                </a:solidFill>
                <a:latin typeface="Calibri" pitchFamily="34" charset="0"/>
                <a:ea typeface="Calibri" pitchFamily="34" charset="-122"/>
                <a:cs typeface="Calibri" pitchFamily="34" charset="-120"/>
              </a:rPr>
              <a:t>Chatbot AI triage triệu chứng</a:t>
            </a:r>
            <a:endParaRPr lang="en-US" sz="1100" dirty="0"/>
          </a:p>
          <a:p>
            <a:pPr marL="152400" indent="-152400">
              <a:lnSpc>
                <a:spcPct val="105000"/>
              </a:lnSpc>
              <a:spcAft>
                <a:spcPts val="1000"/>
              </a:spcAft>
              <a:buSzPct val="100000"/>
              <a:buChar char="•"/>
            </a:pPr>
            <a:r>
              <a:rPr lang="en-US" sz="1100" dirty="0">
                <a:solidFill>
                  <a:srgbClr val="1E293B"/>
                </a:solidFill>
                <a:latin typeface="Calibri" pitchFamily="34" charset="0"/>
                <a:ea typeface="Calibri" pitchFamily="34" charset="-122"/>
                <a:cs typeface="Calibri" pitchFamily="34" charset="-120"/>
              </a:rPr>
              <a:t>AI tóm tắt EHR cho bác sĩ</a:t>
            </a:r>
            <a:endParaRPr lang="en-US" sz="1100" dirty="0"/>
          </a:p>
        </p:txBody>
      </p:sp>
      <p:sp>
        <p:nvSpPr>
          <p:cNvPr id="10" name="Shape 7"/>
          <p:cNvSpPr/>
          <p:nvPr/>
        </p:nvSpPr>
        <p:spPr>
          <a:xfrm>
            <a:off x="3483864" y="1828800"/>
            <a:ext cx="2679192" cy="4069080"/>
          </a:xfrm>
          <a:prstGeom prst="roundRect">
            <a:avLst>
              <a:gd name="adj" fmla="val 2730"/>
            </a:avLst>
          </a:prstGeom>
          <a:solidFill>
            <a:srgbClr val="FFFFFF"/>
          </a:solidFill>
          <a:ln/>
          <a:effectLst>
            <a:outerShdw sx="100000" sy="100000" kx="0" ky="0" algn="bl" rotWithShape="0" blurRad="63500" dist="25400" dir="5400000">
              <a:srgbClr val="0F172A">
                <a:alpha val="10000"/>
              </a:srgbClr>
            </a:outerShdw>
          </a:effectLst>
        </p:spPr>
      </p:sp>
      <p:sp>
        <p:nvSpPr>
          <p:cNvPr id="11" name="Shape 8"/>
          <p:cNvSpPr/>
          <p:nvPr/>
        </p:nvSpPr>
        <p:spPr>
          <a:xfrm>
            <a:off x="3483864" y="1828800"/>
            <a:ext cx="2679192" cy="786384"/>
          </a:xfrm>
          <a:prstGeom prst="rect">
            <a:avLst/>
          </a:prstGeom>
          <a:solidFill>
            <a:srgbClr val="F5A623"/>
          </a:solidFill>
          <a:ln/>
        </p:spPr>
      </p:sp>
      <p:pic>
        <p:nvPicPr>
          <p:cNvPr id="12" name="Image 1" descr="preencoded.png">    </p:cNvPr>
          <p:cNvPicPr>
            <a:picLocks noChangeAspect="1"/>
          </p:cNvPicPr>
          <p:nvPr/>
        </p:nvPicPr>
        <p:blipFill>
          <a:blip r:embed="rId2"/>
          <a:stretch>
            <a:fillRect/>
          </a:stretch>
        </p:blipFill>
        <p:spPr>
          <a:xfrm>
            <a:off x="3739896" y="2057400"/>
            <a:ext cx="329184" cy="329184"/>
          </a:xfrm>
          <a:prstGeom prst="rect">
            <a:avLst/>
          </a:prstGeom>
        </p:spPr>
      </p:pic>
      <p:sp>
        <p:nvSpPr>
          <p:cNvPr id="13" name="Text 9"/>
          <p:cNvSpPr/>
          <p:nvPr/>
        </p:nvSpPr>
        <p:spPr>
          <a:xfrm>
            <a:off x="4197096" y="1828800"/>
            <a:ext cx="1856232" cy="786384"/>
          </a:xfrm>
          <a:prstGeom prst="rect">
            <a:avLst/>
          </a:prstGeom>
          <a:noFill/>
          <a:ln/>
        </p:spPr>
        <p:txBody>
          <a:bodyPr wrap="square" lIns="0" tIns="0" rIns="0" bIns="0" rtlCol="0" anchor="ctr"/>
          <a:lstStyle/>
          <a:p>
            <a:pPr indent="0" marL="0">
              <a:buNone/>
            </a:pPr>
            <a:r>
              <a:rPr lang="en-US" sz="1350" b="1" dirty="0">
                <a:solidFill>
                  <a:srgbClr val="134E4A"/>
                </a:solidFill>
                <a:latin typeface="Trebuchet MS" pitchFamily="34" charset="0"/>
                <a:ea typeface="Trebuchet MS" pitchFamily="34" charset="-122"/>
                <a:cs typeface="Trebuchet MS" pitchFamily="34" charset="-120"/>
              </a:rPr>
              <a:t>Kinh tế &amp; tài chính</a:t>
            </a:r>
            <a:endParaRPr lang="en-US" sz="1350" dirty="0"/>
          </a:p>
        </p:txBody>
      </p:sp>
      <p:sp>
        <p:nvSpPr>
          <p:cNvPr id="14" name="Text 10"/>
          <p:cNvSpPr/>
          <p:nvPr/>
        </p:nvSpPr>
        <p:spPr>
          <a:xfrm>
            <a:off x="3703320" y="2788920"/>
            <a:ext cx="2295144" cy="292608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100" dirty="0">
                <a:solidFill>
                  <a:srgbClr val="1E293B"/>
                </a:solidFill>
                <a:latin typeface="Calibri" pitchFamily="34" charset="0"/>
                <a:ea typeface="Calibri" pitchFamily="34" charset="-122"/>
                <a:cs typeface="Calibri" pitchFamily="34" charset="-120"/>
              </a:rPr>
              <a:t>Churn prediction (survival + GBM)</a:t>
            </a:r>
            <a:endParaRPr lang="en-US" sz="1100" dirty="0"/>
          </a:p>
          <a:p>
            <a:pPr marL="152400" indent="-152400">
              <a:lnSpc>
                <a:spcPct val="105000"/>
              </a:lnSpc>
              <a:spcAft>
                <a:spcPts val="1000"/>
              </a:spcAft>
              <a:buSzPct val="100000"/>
              <a:buChar char="•"/>
            </a:pPr>
            <a:r>
              <a:rPr lang="en-US" sz="1100" dirty="0">
                <a:solidFill>
                  <a:srgbClr val="1E293B"/>
                </a:solidFill>
                <a:latin typeface="Calibri" pitchFamily="34" charset="0"/>
                <a:ea typeface="Calibri" pitchFamily="34" charset="-122"/>
                <a:cs typeface="Calibri" pitchFamily="34" charset="-120"/>
              </a:rPr>
              <a:t>Credit scoring MedFin</a:t>
            </a:r>
            <a:endParaRPr lang="en-US" sz="1100" dirty="0"/>
          </a:p>
          <a:p>
            <a:pPr marL="152400" indent="-152400">
              <a:lnSpc>
                <a:spcPct val="105000"/>
              </a:lnSpc>
              <a:spcAft>
                <a:spcPts val="1000"/>
              </a:spcAft>
              <a:buSzPct val="100000"/>
              <a:buChar char="•"/>
            </a:pPr>
            <a:r>
              <a:rPr lang="en-US" sz="1100" dirty="0">
                <a:solidFill>
                  <a:srgbClr val="1E293B"/>
                </a:solidFill>
                <a:latin typeface="Calibri" pitchFamily="34" charset="0"/>
                <a:ea typeface="Calibri" pitchFamily="34" charset="-122"/>
                <a:cs typeface="Calibri" pitchFamily="34" charset="-120"/>
              </a:rPr>
              <a:t>Tối ưu CAC đa kênh + pricing động</a:t>
            </a:r>
            <a:endParaRPr lang="en-US" sz="1100" dirty="0"/>
          </a:p>
        </p:txBody>
      </p:sp>
      <p:sp>
        <p:nvSpPr>
          <p:cNvPr id="15" name="Shape 11"/>
          <p:cNvSpPr/>
          <p:nvPr/>
        </p:nvSpPr>
        <p:spPr>
          <a:xfrm>
            <a:off x="6327648" y="1828800"/>
            <a:ext cx="2679192" cy="4069080"/>
          </a:xfrm>
          <a:prstGeom prst="roundRect">
            <a:avLst>
              <a:gd name="adj" fmla="val 2730"/>
            </a:avLst>
          </a:prstGeom>
          <a:solidFill>
            <a:srgbClr val="FFFFFF"/>
          </a:solidFill>
          <a:ln/>
          <a:effectLst>
            <a:outerShdw sx="100000" sy="100000" kx="0" ky="0" algn="bl" rotWithShape="0" blurRad="63500" dist="25400" dir="5400000">
              <a:srgbClr val="0F172A">
                <a:alpha val="10000"/>
              </a:srgbClr>
            </a:outerShdw>
          </a:effectLst>
        </p:spPr>
      </p:sp>
      <p:sp>
        <p:nvSpPr>
          <p:cNvPr id="16" name="Shape 12"/>
          <p:cNvSpPr/>
          <p:nvPr/>
        </p:nvSpPr>
        <p:spPr>
          <a:xfrm>
            <a:off x="6327648" y="1828800"/>
            <a:ext cx="2679192" cy="786384"/>
          </a:xfrm>
          <a:prstGeom prst="rect">
            <a:avLst/>
          </a:prstGeom>
          <a:solidFill>
            <a:srgbClr val="0F766E"/>
          </a:solidFill>
          <a:ln/>
        </p:spPr>
      </p:sp>
      <p:pic>
        <p:nvPicPr>
          <p:cNvPr id="17" name="Image 2" descr="preencoded.png">    </p:cNvPr>
          <p:cNvPicPr>
            <a:picLocks noChangeAspect="1"/>
          </p:cNvPicPr>
          <p:nvPr/>
        </p:nvPicPr>
        <p:blipFill>
          <a:blip r:embed="rId3"/>
          <a:stretch>
            <a:fillRect/>
          </a:stretch>
        </p:blipFill>
        <p:spPr>
          <a:xfrm>
            <a:off x="6583680" y="2057400"/>
            <a:ext cx="329184" cy="329184"/>
          </a:xfrm>
          <a:prstGeom prst="rect">
            <a:avLst/>
          </a:prstGeom>
        </p:spPr>
      </p:pic>
      <p:sp>
        <p:nvSpPr>
          <p:cNvPr id="18" name="Text 13"/>
          <p:cNvSpPr/>
          <p:nvPr/>
        </p:nvSpPr>
        <p:spPr>
          <a:xfrm>
            <a:off x="7040880" y="1828800"/>
            <a:ext cx="1856232" cy="786384"/>
          </a:xfrm>
          <a:prstGeom prst="rect">
            <a:avLst/>
          </a:prstGeom>
          <a:noFill/>
          <a:ln/>
        </p:spPr>
        <p:txBody>
          <a:bodyPr wrap="square" lIns="0" tIns="0" rIns="0" bIns="0" rtlCol="0" anchor="ctr"/>
          <a:lstStyle/>
          <a:p>
            <a:pPr indent="0" marL="0">
              <a:buNone/>
            </a:pPr>
            <a:r>
              <a:rPr lang="en-US" sz="1350" b="1" dirty="0">
                <a:solidFill>
                  <a:srgbClr val="FFFFFF"/>
                </a:solidFill>
                <a:latin typeface="Trebuchet MS" pitchFamily="34" charset="0"/>
                <a:ea typeface="Trebuchet MS" pitchFamily="34" charset="-122"/>
                <a:cs typeface="Trebuchet MS" pitchFamily="34" charset="-120"/>
              </a:rPr>
              <a:t>Vận hành</a:t>
            </a:r>
            <a:endParaRPr lang="en-US" sz="1350" dirty="0"/>
          </a:p>
        </p:txBody>
      </p:sp>
      <p:sp>
        <p:nvSpPr>
          <p:cNvPr id="19" name="Text 14"/>
          <p:cNvSpPr/>
          <p:nvPr/>
        </p:nvSpPr>
        <p:spPr>
          <a:xfrm>
            <a:off x="6547104" y="2788920"/>
            <a:ext cx="2295144" cy="292608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100" dirty="0">
                <a:solidFill>
                  <a:srgbClr val="1E293B"/>
                </a:solidFill>
                <a:latin typeface="Calibri" pitchFamily="34" charset="0"/>
                <a:ea typeface="Calibri" pitchFamily="34" charset="-122"/>
                <a:cs typeface="Calibri" pitchFamily="34" charset="-120"/>
              </a:rPr>
              <a:t>Matching caregiver (graph NN)</a:t>
            </a:r>
            <a:endParaRPr lang="en-US" sz="1100" dirty="0"/>
          </a:p>
          <a:p>
            <a:pPr marL="152400" indent="-152400">
              <a:lnSpc>
                <a:spcPct val="105000"/>
              </a:lnSpc>
              <a:spcAft>
                <a:spcPts val="1000"/>
              </a:spcAft>
              <a:buSzPct val="100000"/>
              <a:buChar char="•"/>
            </a:pPr>
            <a:r>
              <a:rPr lang="en-US" sz="1100" dirty="0">
                <a:solidFill>
                  <a:srgbClr val="1E293B"/>
                </a:solidFill>
                <a:latin typeface="Calibri" pitchFamily="34" charset="0"/>
                <a:ea typeface="Calibri" pitchFamily="34" charset="-122"/>
                <a:cs typeface="Calibri" pitchFamily="34" charset="-120"/>
              </a:rPr>
              <a:t>Monte Carlo dự phóng runway</a:t>
            </a:r>
            <a:endParaRPr lang="en-US" sz="1100" dirty="0"/>
          </a:p>
          <a:p>
            <a:pPr marL="152400" indent="-152400">
              <a:lnSpc>
                <a:spcPct val="105000"/>
              </a:lnSpc>
              <a:spcAft>
                <a:spcPts val="1000"/>
              </a:spcAft>
              <a:buSzPct val="100000"/>
              <a:buChar char="•"/>
            </a:pPr>
            <a:r>
              <a:rPr lang="en-US" sz="1100" dirty="0">
                <a:solidFill>
                  <a:srgbClr val="1E293B"/>
                </a:solidFill>
                <a:latin typeface="Calibri" pitchFamily="34" charset="0"/>
                <a:ea typeface="Calibri" pitchFamily="34" charset="-122"/>
                <a:cs typeface="Calibri" pitchFamily="34" charset="-120"/>
              </a:rPr>
              <a:t>Tối ưu lịch &amp; định tuyến</a:t>
            </a:r>
            <a:endParaRPr lang="en-US" sz="1100" dirty="0"/>
          </a:p>
        </p:txBody>
      </p:sp>
      <p:sp>
        <p:nvSpPr>
          <p:cNvPr id="20" name="Shape 15"/>
          <p:cNvSpPr/>
          <p:nvPr/>
        </p:nvSpPr>
        <p:spPr>
          <a:xfrm>
            <a:off x="9171432" y="1828800"/>
            <a:ext cx="2679192" cy="4069080"/>
          </a:xfrm>
          <a:prstGeom prst="roundRect">
            <a:avLst>
              <a:gd name="adj" fmla="val 2730"/>
            </a:avLst>
          </a:prstGeom>
          <a:solidFill>
            <a:srgbClr val="FFFFFF"/>
          </a:solidFill>
          <a:ln/>
          <a:effectLst>
            <a:outerShdw sx="100000" sy="100000" kx="0" ky="0" algn="bl" rotWithShape="0" blurRad="63500" dist="25400" dir="5400000">
              <a:srgbClr val="0F172A">
                <a:alpha val="10000"/>
              </a:srgbClr>
            </a:outerShdw>
          </a:effectLst>
        </p:spPr>
      </p:sp>
      <p:sp>
        <p:nvSpPr>
          <p:cNvPr id="21" name="Shape 16"/>
          <p:cNvSpPr/>
          <p:nvPr/>
        </p:nvSpPr>
        <p:spPr>
          <a:xfrm>
            <a:off x="9171432" y="1828800"/>
            <a:ext cx="2679192" cy="786384"/>
          </a:xfrm>
          <a:prstGeom prst="rect">
            <a:avLst/>
          </a:prstGeom>
          <a:solidFill>
            <a:srgbClr val="FB7185"/>
          </a:solidFill>
          <a:ln/>
        </p:spPr>
      </p:sp>
      <p:pic>
        <p:nvPicPr>
          <p:cNvPr id="22" name="Image 3" descr="preencoded.png">    </p:cNvPr>
          <p:cNvPicPr>
            <a:picLocks noChangeAspect="1"/>
          </p:cNvPicPr>
          <p:nvPr/>
        </p:nvPicPr>
        <p:blipFill>
          <a:blip r:embed="rId4"/>
          <a:stretch>
            <a:fillRect/>
          </a:stretch>
        </p:blipFill>
        <p:spPr>
          <a:xfrm>
            <a:off x="9427464" y="2057400"/>
            <a:ext cx="329184" cy="329184"/>
          </a:xfrm>
          <a:prstGeom prst="rect">
            <a:avLst/>
          </a:prstGeom>
        </p:spPr>
      </p:pic>
      <p:sp>
        <p:nvSpPr>
          <p:cNvPr id="23" name="Text 17"/>
          <p:cNvSpPr/>
          <p:nvPr/>
        </p:nvSpPr>
        <p:spPr>
          <a:xfrm>
            <a:off x="9884664" y="1828800"/>
            <a:ext cx="1856232" cy="786384"/>
          </a:xfrm>
          <a:prstGeom prst="rect">
            <a:avLst/>
          </a:prstGeom>
          <a:noFill/>
          <a:ln/>
        </p:spPr>
        <p:txBody>
          <a:bodyPr wrap="square" lIns="0" tIns="0" rIns="0" bIns="0" rtlCol="0" anchor="ctr"/>
          <a:lstStyle/>
          <a:p>
            <a:pPr indent="0" marL="0">
              <a:buNone/>
            </a:pPr>
            <a:r>
              <a:rPr lang="en-US" sz="1350" b="1" dirty="0">
                <a:solidFill>
                  <a:srgbClr val="FFFFFF"/>
                </a:solidFill>
                <a:latin typeface="Trebuchet MS" pitchFamily="34" charset="0"/>
                <a:ea typeface="Trebuchet MS" pitchFamily="34" charset="-122"/>
                <a:cs typeface="Trebuchet MS" pitchFamily="34" charset="-120"/>
              </a:rPr>
              <a:t>Quản trị dữ liệu</a:t>
            </a:r>
            <a:endParaRPr lang="en-US" sz="1350" dirty="0"/>
          </a:p>
        </p:txBody>
      </p:sp>
      <p:sp>
        <p:nvSpPr>
          <p:cNvPr id="24" name="Text 18"/>
          <p:cNvSpPr/>
          <p:nvPr/>
        </p:nvSpPr>
        <p:spPr>
          <a:xfrm>
            <a:off x="9390888" y="2788920"/>
            <a:ext cx="2295144" cy="292608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100" dirty="0">
                <a:solidFill>
                  <a:srgbClr val="1E293B"/>
                </a:solidFill>
                <a:latin typeface="Calibri" pitchFamily="34" charset="0"/>
                <a:ea typeface="Calibri" pitchFamily="34" charset="-122"/>
                <a:cs typeface="Calibri" pitchFamily="34" charset="-120"/>
              </a:rPr>
              <a:t>Cá nhân hóa nội dung (LLM)</a:t>
            </a:r>
            <a:endParaRPr lang="en-US" sz="1100" dirty="0"/>
          </a:p>
          <a:p>
            <a:pPr marL="152400" indent="-152400">
              <a:lnSpc>
                <a:spcPct val="105000"/>
              </a:lnSpc>
              <a:spcAft>
                <a:spcPts val="1000"/>
              </a:spcAft>
              <a:buSzPct val="100000"/>
              <a:buChar char="•"/>
            </a:pPr>
            <a:r>
              <a:rPr lang="en-US" sz="1100" dirty="0">
                <a:solidFill>
                  <a:srgbClr val="1E293B"/>
                </a:solidFill>
                <a:latin typeface="Calibri" pitchFamily="34" charset="0"/>
                <a:ea typeface="Calibri" pitchFamily="34" charset="-122"/>
                <a:cs typeface="Calibri" pitchFamily="34" charset="-120"/>
              </a:rPr>
              <a:t>Dự báo doanh thu cohort</a:t>
            </a:r>
            <a:endParaRPr lang="en-US" sz="1100" dirty="0"/>
          </a:p>
          <a:p>
            <a:pPr marL="152400" indent="-152400">
              <a:lnSpc>
                <a:spcPct val="105000"/>
              </a:lnSpc>
              <a:spcAft>
                <a:spcPts val="1000"/>
              </a:spcAft>
              <a:buSzPct val="100000"/>
              <a:buChar char="•"/>
            </a:pPr>
            <a:r>
              <a:rPr lang="en-US" sz="1100" dirty="0">
                <a:solidFill>
                  <a:srgbClr val="1E293B"/>
                </a:solidFill>
                <a:latin typeface="Calibri" pitchFamily="34" charset="0"/>
                <a:ea typeface="Calibri" pitchFamily="34" charset="-122"/>
                <a:cs typeface="Calibri" pitchFamily="34" charset="-120"/>
              </a:rPr>
              <a:t>Phân khúc &amp; retention modeling</a:t>
            </a:r>
            <a:endParaRPr lang="en-US" sz="1100" dirty="0"/>
          </a:p>
        </p:txBody>
      </p:sp>
      <p:sp>
        <p:nvSpPr>
          <p:cNvPr id="25" name="Shape 19"/>
          <p:cNvSpPr/>
          <p:nvPr/>
        </p:nvSpPr>
        <p:spPr>
          <a:xfrm>
            <a:off x="0" y="6565392"/>
            <a:ext cx="12191695" cy="292608"/>
          </a:xfrm>
          <a:prstGeom prst="rect">
            <a:avLst/>
          </a:prstGeom>
          <a:solidFill>
            <a:srgbClr val="FFFFFF"/>
          </a:solidFill>
          <a:ln/>
        </p:spPr>
      </p:sp>
      <p:sp>
        <p:nvSpPr>
          <p:cNvPr id="26" name="Shape 20"/>
          <p:cNvSpPr/>
          <p:nvPr/>
        </p:nvSpPr>
        <p:spPr>
          <a:xfrm>
            <a:off x="0" y="6547104"/>
            <a:ext cx="12191695" cy="20117"/>
          </a:xfrm>
          <a:prstGeom prst="rect">
            <a:avLst/>
          </a:prstGeom>
          <a:solidFill>
            <a:srgbClr val="E2E8F0"/>
          </a:solidFill>
          <a:ln/>
        </p:spPr>
      </p:sp>
      <p:sp>
        <p:nvSpPr>
          <p:cNvPr id="27" name="Shape 21"/>
          <p:cNvSpPr/>
          <p:nvPr/>
        </p:nvSpPr>
        <p:spPr>
          <a:xfrm>
            <a:off x="457200" y="6624828"/>
            <a:ext cx="118872" cy="118872"/>
          </a:xfrm>
          <a:prstGeom prst="ellipse">
            <a:avLst/>
          </a:prstGeom>
          <a:solidFill>
            <a:srgbClr val="0D9488"/>
          </a:solidFill>
          <a:ln/>
        </p:spPr>
      </p:sp>
      <p:sp>
        <p:nvSpPr>
          <p:cNvPr id="28" name="Text 22"/>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29" name="Text 23"/>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30" name="Text 24"/>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QUẢN TRỊ RỦI RO</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Rủi ro chính &amp; phương án dự phòng</a:t>
            </a:r>
            <a:endParaRPr lang="en-US" sz="3000" dirty="0"/>
          </a:p>
        </p:txBody>
      </p:sp>
      <p:sp>
        <p:nvSpPr>
          <p:cNvPr id="5" name="Shape 3"/>
          <p:cNvSpPr/>
          <p:nvPr/>
        </p:nvSpPr>
        <p:spPr>
          <a:xfrm>
            <a:off x="640080" y="1783080"/>
            <a:ext cx="10908792" cy="822960"/>
          </a:xfrm>
          <a:prstGeom prst="roundRect">
            <a:avLst>
              <a:gd name="adj" fmla="val 7778"/>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783080"/>
            <a:ext cx="91440" cy="822960"/>
          </a:xfrm>
          <a:prstGeom prst="rect">
            <a:avLst/>
          </a:prstGeom>
          <a:solidFill>
            <a:srgbClr val="FB7185"/>
          </a:solidFill>
          <a:ln/>
        </p:spPr>
      </p:sp>
      <p:sp>
        <p:nvSpPr>
          <p:cNvPr id="7" name="Shape 5"/>
          <p:cNvSpPr/>
          <p:nvPr/>
        </p:nvSpPr>
        <p:spPr>
          <a:xfrm>
            <a:off x="868680" y="2029968"/>
            <a:ext cx="1417320" cy="347472"/>
          </a:xfrm>
          <a:prstGeom prst="roundRect">
            <a:avLst>
              <a:gd name="adj" fmla="val 50000"/>
            </a:avLst>
          </a:prstGeom>
          <a:solidFill>
            <a:srgbClr val="FB7185"/>
          </a:solidFill>
          <a:ln/>
        </p:spPr>
      </p:sp>
      <p:sp>
        <p:nvSpPr>
          <p:cNvPr id="8" name="Text 6"/>
          <p:cNvSpPr/>
          <p:nvPr/>
        </p:nvSpPr>
        <p:spPr>
          <a:xfrm>
            <a:off x="868680" y="2029968"/>
            <a:ext cx="14173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Tài chính</a:t>
            </a:r>
            <a:endParaRPr lang="en-US" sz="1100" dirty="0"/>
          </a:p>
        </p:txBody>
      </p:sp>
      <p:sp>
        <p:nvSpPr>
          <p:cNvPr id="9" name="Text 7"/>
          <p:cNvSpPr/>
          <p:nvPr/>
        </p:nvSpPr>
        <p:spPr>
          <a:xfrm>
            <a:off x="2468880" y="1783080"/>
            <a:ext cx="2926080" cy="822960"/>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Burn nhanh / khó gọi vòng tiếp</a:t>
            </a:r>
            <a:endParaRPr lang="en-US" sz="1250" dirty="0"/>
          </a:p>
        </p:txBody>
      </p:sp>
      <p:pic>
        <p:nvPicPr>
          <p:cNvPr id="10" name="Image 0" descr="preencoded.png">    </p:cNvPr>
          <p:cNvPicPr>
            <a:picLocks noChangeAspect="1"/>
          </p:cNvPicPr>
          <p:nvPr/>
        </p:nvPicPr>
        <p:blipFill>
          <a:blip r:embed="rId1"/>
          <a:stretch>
            <a:fillRect/>
          </a:stretch>
        </p:blipFill>
        <p:spPr>
          <a:xfrm>
            <a:off x="5440680" y="2093976"/>
            <a:ext cx="237744" cy="237744"/>
          </a:xfrm>
          <a:prstGeom prst="rect">
            <a:avLst/>
          </a:prstGeom>
        </p:spPr>
      </p:pic>
      <p:sp>
        <p:nvSpPr>
          <p:cNvPr id="11" name="Text 8"/>
          <p:cNvSpPr/>
          <p:nvPr/>
        </p:nvSpPr>
        <p:spPr>
          <a:xfrm>
            <a:off x="5852160" y="1783080"/>
            <a:ext cx="5577840" cy="822960"/>
          </a:xfrm>
          <a:prstGeom prst="rect">
            <a:avLst/>
          </a:prstGeom>
          <a:noFill/>
          <a:ln/>
        </p:spPr>
        <p:txBody>
          <a:bodyPr wrap="square" lIns="0" tIns="0" rIns="0" bIns="0" rtlCol="0" anchor="ctr"/>
          <a:lstStyle/>
          <a:p>
            <a:pPr indent="0" marL="0">
              <a:lnSpc>
                <a:spcPct val="100000"/>
              </a:lnSpc>
              <a:buNone/>
            </a:pPr>
            <a:r>
              <a:rPr lang="en-US" sz="1150" dirty="0">
                <a:solidFill>
                  <a:srgbClr val="64748B"/>
                </a:solidFill>
                <a:latin typeface="Calibri" pitchFamily="34" charset="0"/>
                <a:ea typeface="Calibri" pitchFamily="34" charset="-122"/>
                <a:cs typeface="Calibri" pitchFamily="34" charset="-120"/>
              </a:rPr>
              <a:t>Runway tracking + buffer 6 tháng; “default alive” — hòa vốn quy mô nhỏ.</a:t>
            </a:r>
            <a:endParaRPr lang="en-US" sz="1150" dirty="0"/>
          </a:p>
        </p:txBody>
      </p:sp>
      <p:sp>
        <p:nvSpPr>
          <p:cNvPr id="12" name="Shape 9"/>
          <p:cNvSpPr/>
          <p:nvPr/>
        </p:nvSpPr>
        <p:spPr>
          <a:xfrm>
            <a:off x="640080" y="2670048"/>
            <a:ext cx="10908792" cy="822960"/>
          </a:xfrm>
          <a:prstGeom prst="roundRect">
            <a:avLst>
              <a:gd name="adj" fmla="val 7778"/>
            </a:avLst>
          </a:prstGeom>
          <a:solidFill>
            <a:srgbClr val="FFFFFF"/>
          </a:solidFill>
          <a:ln/>
          <a:effectLst>
            <a:outerShdw sx="100000" sy="100000" kx="0" ky="0" algn="bl" rotWithShape="0" blurRad="63500" dist="25400" dir="5400000">
              <a:srgbClr val="0F172A">
                <a:alpha val="10000"/>
              </a:srgbClr>
            </a:outerShdw>
          </a:effectLst>
        </p:spPr>
      </p:sp>
      <p:sp>
        <p:nvSpPr>
          <p:cNvPr id="13" name="Shape 10"/>
          <p:cNvSpPr/>
          <p:nvPr/>
        </p:nvSpPr>
        <p:spPr>
          <a:xfrm>
            <a:off x="640080" y="2670048"/>
            <a:ext cx="91440" cy="822960"/>
          </a:xfrm>
          <a:prstGeom prst="rect">
            <a:avLst/>
          </a:prstGeom>
          <a:solidFill>
            <a:srgbClr val="F5A623"/>
          </a:solidFill>
          <a:ln/>
        </p:spPr>
      </p:sp>
      <p:sp>
        <p:nvSpPr>
          <p:cNvPr id="14" name="Shape 11"/>
          <p:cNvSpPr/>
          <p:nvPr/>
        </p:nvSpPr>
        <p:spPr>
          <a:xfrm>
            <a:off x="868680" y="2916936"/>
            <a:ext cx="1417320" cy="347472"/>
          </a:xfrm>
          <a:prstGeom prst="roundRect">
            <a:avLst>
              <a:gd name="adj" fmla="val 50000"/>
            </a:avLst>
          </a:prstGeom>
          <a:solidFill>
            <a:srgbClr val="F5A623"/>
          </a:solidFill>
          <a:ln/>
        </p:spPr>
      </p:sp>
      <p:sp>
        <p:nvSpPr>
          <p:cNvPr id="15" name="Text 12"/>
          <p:cNvSpPr/>
          <p:nvPr/>
        </p:nvSpPr>
        <p:spPr>
          <a:xfrm>
            <a:off x="868680" y="2916936"/>
            <a:ext cx="14173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Marketing</a:t>
            </a:r>
            <a:endParaRPr lang="en-US" sz="1100" dirty="0"/>
          </a:p>
        </p:txBody>
      </p:sp>
      <p:sp>
        <p:nvSpPr>
          <p:cNvPr id="16" name="Text 13"/>
          <p:cNvSpPr/>
          <p:nvPr/>
        </p:nvSpPr>
        <p:spPr>
          <a:xfrm>
            <a:off x="2468880" y="2670048"/>
            <a:ext cx="2926080" cy="822960"/>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CAC tăng vượt ngưỡng</a:t>
            </a:r>
            <a:endParaRPr lang="en-US" sz="1250" dirty="0"/>
          </a:p>
        </p:txBody>
      </p:sp>
      <p:pic>
        <p:nvPicPr>
          <p:cNvPr id="17" name="Image 1" descr="preencoded.png">    </p:cNvPr>
          <p:cNvPicPr>
            <a:picLocks noChangeAspect="1"/>
          </p:cNvPicPr>
          <p:nvPr/>
        </p:nvPicPr>
        <p:blipFill>
          <a:blip r:embed="rId2"/>
          <a:stretch>
            <a:fillRect/>
          </a:stretch>
        </p:blipFill>
        <p:spPr>
          <a:xfrm>
            <a:off x="5440680" y="2980944"/>
            <a:ext cx="237744" cy="237744"/>
          </a:xfrm>
          <a:prstGeom prst="rect">
            <a:avLst/>
          </a:prstGeom>
        </p:spPr>
      </p:pic>
      <p:sp>
        <p:nvSpPr>
          <p:cNvPr id="18" name="Text 14"/>
          <p:cNvSpPr/>
          <p:nvPr/>
        </p:nvSpPr>
        <p:spPr>
          <a:xfrm>
            <a:off x="5852160" y="2670048"/>
            <a:ext cx="5577840" cy="822960"/>
          </a:xfrm>
          <a:prstGeom prst="rect">
            <a:avLst/>
          </a:prstGeom>
          <a:noFill/>
          <a:ln/>
        </p:spPr>
        <p:txBody>
          <a:bodyPr wrap="square" lIns="0" tIns="0" rIns="0" bIns="0" rtlCol="0" anchor="ctr"/>
          <a:lstStyle/>
          <a:p>
            <a:pPr indent="0" marL="0">
              <a:lnSpc>
                <a:spcPct val="100000"/>
              </a:lnSpc>
              <a:buNone/>
            </a:pPr>
            <a:r>
              <a:rPr lang="en-US" sz="1150" dirty="0">
                <a:solidFill>
                  <a:srgbClr val="64748B"/>
                </a:solidFill>
                <a:latin typeface="Calibri" pitchFamily="34" charset="0"/>
                <a:ea typeface="Calibri" pitchFamily="34" charset="-122"/>
                <a:cs typeface="Calibri" pitchFamily="34" charset="-120"/>
              </a:rPr>
              <a:t>Đa kênh ≤40%/nền tảng, dồn referral; backup B2B2C qua bảo hiểm/DN.</a:t>
            </a:r>
            <a:endParaRPr lang="en-US" sz="1150" dirty="0"/>
          </a:p>
        </p:txBody>
      </p:sp>
      <p:sp>
        <p:nvSpPr>
          <p:cNvPr id="19" name="Shape 15"/>
          <p:cNvSpPr/>
          <p:nvPr/>
        </p:nvSpPr>
        <p:spPr>
          <a:xfrm>
            <a:off x="640080" y="3557016"/>
            <a:ext cx="10908792" cy="822960"/>
          </a:xfrm>
          <a:prstGeom prst="roundRect">
            <a:avLst>
              <a:gd name="adj" fmla="val 7778"/>
            </a:avLst>
          </a:prstGeom>
          <a:solidFill>
            <a:srgbClr val="FFFFFF"/>
          </a:solidFill>
          <a:ln/>
          <a:effectLst>
            <a:outerShdw sx="100000" sy="100000" kx="0" ky="0" algn="bl" rotWithShape="0" blurRad="63500" dist="25400" dir="5400000">
              <a:srgbClr val="0F172A">
                <a:alpha val="10000"/>
              </a:srgbClr>
            </a:outerShdw>
          </a:effectLst>
        </p:spPr>
      </p:sp>
      <p:sp>
        <p:nvSpPr>
          <p:cNvPr id="20" name="Shape 16"/>
          <p:cNvSpPr/>
          <p:nvPr/>
        </p:nvSpPr>
        <p:spPr>
          <a:xfrm>
            <a:off x="640080" y="3557016"/>
            <a:ext cx="91440" cy="822960"/>
          </a:xfrm>
          <a:prstGeom prst="rect">
            <a:avLst/>
          </a:prstGeom>
          <a:solidFill>
            <a:srgbClr val="0D9488"/>
          </a:solidFill>
          <a:ln/>
        </p:spPr>
      </p:sp>
      <p:sp>
        <p:nvSpPr>
          <p:cNvPr id="21" name="Shape 17"/>
          <p:cNvSpPr/>
          <p:nvPr/>
        </p:nvSpPr>
        <p:spPr>
          <a:xfrm>
            <a:off x="868680" y="3803904"/>
            <a:ext cx="1417320" cy="347472"/>
          </a:xfrm>
          <a:prstGeom prst="roundRect">
            <a:avLst>
              <a:gd name="adj" fmla="val 50000"/>
            </a:avLst>
          </a:prstGeom>
          <a:solidFill>
            <a:srgbClr val="0D9488"/>
          </a:solidFill>
          <a:ln/>
        </p:spPr>
      </p:sp>
      <p:sp>
        <p:nvSpPr>
          <p:cNvPr id="22" name="Text 18"/>
          <p:cNvSpPr/>
          <p:nvPr/>
        </p:nvSpPr>
        <p:spPr>
          <a:xfrm>
            <a:off x="868680" y="3803904"/>
            <a:ext cx="14173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Công nghệ</a:t>
            </a:r>
            <a:endParaRPr lang="en-US" sz="1100" dirty="0"/>
          </a:p>
        </p:txBody>
      </p:sp>
      <p:sp>
        <p:nvSpPr>
          <p:cNvPr id="23" name="Text 19"/>
          <p:cNvSpPr/>
          <p:nvPr/>
        </p:nvSpPr>
        <p:spPr>
          <a:xfrm>
            <a:off x="2468880" y="3557016"/>
            <a:ext cx="2926080" cy="822960"/>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AI phát hiện té ngã sai</a:t>
            </a:r>
            <a:endParaRPr lang="en-US" sz="1250" dirty="0"/>
          </a:p>
        </p:txBody>
      </p:sp>
      <p:pic>
        <p:nvPicPr>
          <p:cNvPr id="24" name="Image 2" descr="preencoded.png">    </p:cNvPr>
          <p:cNvPicPr>
            <a:picLocks noChangeAspect="1"/>
          </p:cNvPicPr>
          <p:nvPr/>
        </p:nvPicPr>
        <p:blipFill>
          <a:blip r:embed="rId3"/>
          <a:stretch>
            <a:fillRect/>
          </a:stretch>
        </p:blipFill>
        <p:spPr>
          <a:xfrm>
            <a:off x="5440680" y="3867912"/>
            <a:ext cx="237744" cy="237744"/>
          </a:xfrm>
          <a:prstGeom prst="rect">
            <a:avLst/>
          </a:prstGeom>
        </p:spPr>
      </p:pic>
      <p:sp>
        <p:nvSpPr>
          <p:cNvPr id="25" name="Text 20"/>
          <p:cNvSpPr/>
          <p:nvPr/>
        </p:nvSpPr>
        <p:spPr>
          <a:xfrm>
            <a:off x="5852160" y="3557016"/>
            <a:ext cx="5577840" cy="822960"/>
          </a:xfrm>
          <a:prstGeom prst="rect">
            <a:avLst/>
          </a:prstGeom>
          <a:noFill/>
          <a:ln/>
        </p:spPr>
        <p:txBody>
          <a:bodyPr wrap="square" lIns="0" tIns="0" rIns="0" bIns="0" rtlCol="0" anchor="ctr"/>
          <a:lstStyle/>
          <a:p>
            <a:pPr indent="0" marL="0">
              <a:lnSpc>
                <a:spcPct val="100000"/>
              </a:lnSpc>
              <a:buNone/>
            </a:pPr>
            <a:r>
              <a:rPr lang="en-US" sz="1150" dirty="0">
                <a:solidFill>
                  <a:srgbClr val="64748B"/>
                </a:solidFill>
                <a:latin typeface="Calibri" pitchFamily="34" charset="0"/>
                <a:ea typeface="Calibri" pitchFamily="34" charset="-122"/>
                <a:cs typeface="Calibri" pitchFamily="34" charset="-120"/>
              </a:rPr>
              <a:t>Human-in-the-loop, pilot kỹ; backup cảm biến vật lý + edge computing.</a:t>
            </a:r>
            <a:endParaRPr lang="en-US" sz="1150" dirty="0"/>
          </a:p>
        </p:txBody>
      </p:sp>
      <p:sp>
        <p:nvSpPr>
          <p:cNvPr id="26" name="Shape 21"/>
          <p:cNvSpPr/>
          <p:nvPr/>
        </p:nvSpPr>
        <p:spPr>
          <a:xfrm>
            <a:off x="640080" y="4443984"/>
            <a:ext cx="10908792" cy="822960"/>
          </a:xfrm>
          <a:prstGeom prst="roundRect">
            <a:avLst>
              <a:gd name="adj" fmla="val 7778"/>
            </a:avLst>
          </a:prstGeom>
          <a:solidFill>
            <a:srgbClr val="FFFFFF"/>
          </a:solidFill>
          <a:ln/>
          <a:effectLst>
            <a:outerShdw sx="100000" sy="100000" kx="0" ky="0" algn="bl" rotWithShape="0" blurRad="63500" dist="25400" dir="5400000">
              <a:srgbClr val="0F172A">
                <a:alpha val="10000"/>
              </a:srgbClr>
            </a:outerShdw>
          </a:effectLst>
        </p:spPr>
      </p:sp>
      <p:sp>
        <p:nvSpPr>
          <p:cNvPr id="27" name="Shape 22"/>
          <p:cNvSpPr/>
          <p:nvPr/>
        </p:nvSpPr>
        <p:spPr>
          <a:xfrm>
            <a:off x="640080" y="4443984"/>
            <a:ext cx="91440" cy="822960"/>
          </a:xfrm>
          <a:prstGeom prst="rect">
            <a:avLst/>
          </a:prstGeom>
          <a:solidFill>
            <a:srgbClr val="0F766E"/>
          </a:solidFill>
          <a:ln/>
        </p:spPr>
      </p:sp>
      <p:sp>
        <p:nvSpPr>
          <p:cNvPr id="28" name="Shape 23"/>
          <p:cNvSpPr/>
          <p:nvPr/>
        </p:nvSpPr>
        <p:spPr>
          <a:xfrm>
            <a:off x="868680" y="4690872"/>
            <a:ext cx="1417320" cy="347472"/>
          </a:xfrm>
          <a:prstGeom prst="roundRect">
            <a:avLst>
              <a:gd name="adj" fmla="val 50000"/>
            </a:avLst>
          </a:prstGeom>
          <a:solidFill>
            <a:srgbClr val="0F766E"/>
          </a:solidFill>
          <a:ln/>
        </p:spPr>
      </p:sp>
      <p:sp>
        <p:nvSpPr>
          <p:cNvPr id="29" name="Text 24"/>
          <p:cNvSpPr/>
          <p:nvPr/>
        </p:nvSpPr>
        <p:spPr>
          <a:xfrm>
            <a:off x="868680" y="4690872"/>
            <a:ext cx="14173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Tín dụng</a:t>
            </a:r>
            <a:endParaRPr lang="en-US" sz="1100" dirty="0"/>
          </a:p>
        </p:txBody>
      </p:sp>
      <p:sp>
        <p:nvSpPr>
          <p:cNvPr id="30" name="Text 25"/>
          <p:cNvSpPr/>
          <p:nvPr/>
        </p:nvSpPr>
        <p:spPr>
          <a:xfrm>
            <a:off x="2468880" y="4443984"/>
            <a:ext cx="2926080" cy="822960"/>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MedFin nợ xấu</a:t>
            </a:r>
            <a:endParaRPr lang="en-US" sz="1250" dirty="0"/>
          </a:p>
        </p:txBody>
      </p:sp>
      <p:pic>
        <p:nvPicPr>
          <p:cNvPr id="31" name="Image 3" descr="preencoded.png">    </p:cNvPr>
          <p:cNvPicPr>
            <a:picLocks noChangeAspect="1"/>
          </p:cNvPicPr>
          <p:nvPr/>
        </p:nvPicPr>
        <p:blipFill>
          <a:blip r:embed="rId4"/>
          <a:stretch>
            <a:fillRect/>
          </a:stretch>
        </p:blipFill>
        <p:spPr>
          <a:xfrm>
            <a:off x="5440680" y="4754880"/>
            <a:ext cx="237744" cy="237744"/>
          </a:xfrm>
          <a:prstGeom prst="rect">
            <a:avLst/>
          </a:prstGeom>
        </p:spPr>
      </p:pic>
      <p:sp>
        <p:nvSpPr>
          <p:cNvPr id="32" name="Text 26"/>
          <p:cNvSpPr/>
          <p:nvPr/>
        </p:nvSpPr>
        <p:spPr>
          <a:xfrm>
            <a:off x="5852160" y="4443984"/>
            <a:ext cx="5577840" cy="822960"/>
          </a:xfrm>
          <a:prstGeom prst="rect">
            <a:avLst/>
          </a:prstGeom>
          <a:noFill/>
          <a:ln/>
        </p:spPr>
        <p:txBody>
          <a:bodyPr wrap="square" lIns="0" tIns="0" rIns="0" bIns="0" rtlCol="0" anchor="ctr"/>
          <a:lstStyle/>
          <a:p>
            <a:pPr indent="0" marL="0">
              <a:lnSpc>
                <a:spcPct val="100000"/>
              </a:lnSpc>
              <a:buNone/>
            </a:pPr>
            <a:r>
              <a:rPr lang="en-US" sz="1150" dirty="0">
                <a:solidFill>
                  <a:srgbClr val="64748B"/>
                </a:solidFill>
                <a:latin typeface="Calibri" pitchFamily="34" charset="0"/>
                <a:ea typeface="Calibri" pitchFamily="34" charset="-122"/>
                <a:cs typeface="Calibri" pitchFamily="34" charset="-120"/>
              </a:rPr>
              <a:t>AI scoring + originate-to-distribute; backup chuyển mô hình phí.</a:t>
            </a:r>
            <a:endParaRPr lang="en-US" sz="1150" dirty="0"/>
          </a:p>
        </p:txBody>
      </p:sp>
      <p:sp>
        <p:nvSpPr>
          <p:cNvPr id="33" name="Shape 27"/>
          <p:cNvSpPr/>
          <p:nvPr/>
        </p:nvSpPr>
        <p:spPr>
          <a:xfrm>
            <a:off x="640080" y="5330952"/>
            <a:ext cx="10908792" cy="822960"/>
          </a:xfrm>
          <a:prstGeom prst="roundRect">
            <a:avLst>
              <a:gd name="adj" fmla="val 7778"/>
            </a:avLst>
          </a:prstGeom>
          <a:solidFill>
            <a:srgbClr val="FFFFFF"/>
          </a:solidFill>
          <a:ln/>
          <a:effectLst>
            <a:outerShdw sx="100000" sy="100000" kx="0" ky="0" algn="bl" rotWithShape="0" blurRad="63500" dist="25400" dir="5400000">
              <a:srgbClr val="0F172A">
                <a:alpha val="10000"/>
              </a:srgbClr>
            </a:outerShdw>
          </a:effectLst>
        </p:spPr>
      </p:sp>
      <p:sp>
        <p:nvSpPr>
          <p:cNvPr id="34" name="Shape 28"/>
          <p:cNvSpPr/>
          <p:nvPr/>
        </p:nvSpPr>
        <p:spPr>
          <a:xfrm>
            <a:off x="640080" y="5330952"/>
            <a:ext cx="91440" cy="822960"/>
          </a:xfrm>
          <a:prstGeom prst="rect">
            <a:avLst/>
          </a:prstGeom>
          <a:solidFill>
            <a:srgbClr val="134E4A"/>
          </a:solidFill>
          <a:ln/>
        </p:spPr>
      </p:sp>
      <p:sp>
        <p:nvSpPr>
          <p:cNvPr id="35" name="Shape 29"/>
          <p:cNvSpPr/>
          <p:nvPr/>
        </p:nvSpPr>
        <p:spPr>
          <a:xfrm>
            <a:off x="868680" y="5577840"/>
            <a:ext cx="1417320" cy="347472"/>
          </a:xfrm>
          <a:prstGeom prst="roundRect">
            <a:avLst>
              <a:gd name="adj" fmla="val 50000"/>
            </a:avLst>
          </a:prstGeom>
          <a:solidFill>
            <a:srgbClr val="134E4A"/>
          </a:solidFill>
          <a:ln/>
        </p:spPr>
      </p:sp>
      <p:sp>
        <p:nvSpPr>
          <p:cNvPr id="36" name="Text 30"/>
          <p:cNvSpPr/>
          <p:nvPr/>
        </p:nvSpPr>
        <p:spPr>
          <a:xfrm>
            <a:off x="868680" y="5577840"/>
            <a:ext cx="14173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Pháp lý</a:t>
            </a:r>
            <a:endParaRPr lang="en-US" sz="1100" dirty="0"/>
          </a:p>
        </p:txBody>
      </p:sp>
      <p:sp>
        <p:nvSpPr>
          <p:cNvPr id="37" name="Text 31"/>
          <p:cNvSpPr/>
          <p:nvPr/>
        </p:nvSpPr>
        <p:spPr>
          <a:xfrm>
            <a:off x="2468880" y="5330952"/>
            <a:ext cx="2926080" cy="822960"/>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Rò rỉ dữ liệu / caregiver</a:t>
            </a:r>
            <a:endParaRPr lang="en-US" sz="1250" dirty="0"/>
          </a:p>
        </p:txBody>
      </p:sp>
      <p:pic>
        <p:nvPicPr>
          <p:cNvPr id="38" name="Image 4" descr="preencoded.png">    </p:cNvPr>
          <p:cNvPicPr>
            <a:picLocks noChangeAspect="1"/>
          </p:cNvPicPr>
          <p:nvPr/>
        </p:nvPicPr>
        <p:blipFill>
          <a:blip r:embed="rId5"/>
          <a:stretch>
            <a:fillRect/>
          </a:stretch>
        </p:blipFill>
        <p:spPr>
          <a:xfrm>
            <a:off x="5440680" y="5641848"/>
            <a:ext cx="237744" cy="237744"/>
          </a:xfrm>
          <a:prstGeom prst="rect">
            <a:avLst/>
          </a:prstGeom>
        </p:spPr>
      </p:pic>
      <p:sp>
        <p:nvSpPr>
          <p:cNvPr id="39" name="Text 32"/>
          <p:cNvSpPr/>
          <p:nvPr/>
        </p:nvSpPr>
        <p:spPr>
          <a:xfrm>
            <a:off x="5852160" y="5330952"/>
            <a:ext cx="5577840" cy="822960"/>
          </a:xfrm>
          <a:prstGeom prst="rect">
            <a:avLst/>
          </a:prstGeom>
          <a:noFill/>
          <a:ln/>
        </p:spPr>
        <p:txBody>
          <a:bodyPr wrap="square" lIns="0" tIns="0" rIns="0" bIns="0" rtlCol="0" anchor="ctr"/>
          <a:lstStyle/>
          <a:p>
            <a:pPr indent="0" marL="0">
              <a:lnSpc>
                <a:spcPct val="100000"/>
              </a:lnSpc>
              <a:buNone/>
            </a:pPr>
            <a:r>
              <a:rPr lang="en-US" sz="1150" dirty="0">
                <a:solidFill>
                  <a:srgbClr val="64748B"/>
                </a:solidFill>
                <a:latin typeface="Calibri" pitchFamily="34" charset="0"/>
                <a:ea typeface="Calibri" pitchFamily="34" charset="-122"/>
                <a:cs typeface="Calibri" pitchFamily="34" charset="-120"/>
              </a:rPr>
              <a:t>Mã hóa, audit, background check; backup bảo hiểm cyber &amp; bồi thường.</a:t>
            </a:r>
            <a:endParaRPr lang="en-US" sz="1150" dirty="0"/>
          </a:p>
        </p:txBody>
      </p:sp>
      <p:sp>
        <p:nvSpPr>
          <p:cNvPr id="40" name="Shape 33"/>
          <p:cNvSpPr/>
          <p:nvPr/>
        </p:nvSpPr>
        <p:spPr>
          <a:xfrm>
            <a:off x="0" y="6565392"/>
            <a:ext cx="12191695" cy="292608"/>
          </a:xfrm>
          <a:prstGeom prst="rect">
            <a:avLst/>
          </a:prstGeom>
          <a:solidFill>
            <a:srgbClr val="FFFFFF"/>
          </a:solidFill>
          <a:ln/>
        </p:spPr>
      </p:sp>
      <p:sp>
        <p:nvSpPr>
          <p:cNvPr id="41" name="Shape 34"/>
          <p:cNvSpPr/>
          <p:nvPr/>
        </p:nvSpPr>
        <p:spPr>
          <a:xfrm>
            <a:off x="0" y="6547104"/>
            <a:ext cx="12191695" cy="20117"/>
          </a:xfrm>
          <a:prstGeom prst="rect">
            <a:avLst/>
          </a:prstGeom>
          <a:solidFill>
            <a:srgbClr val="E2E8F0"/>
          </a:solidFill>
          <a:ln/>
        </p:spPr>
      </p:sp>
      <p:sp>
        <p:nvSpPr>
          <p:cNvPr id="42" name="Shape 35"/>
          <p:cNvSpPr/>
          <p:nvPr/>
        </p:nvSpPr>
        <p:spPr>
          <a:xfrm>
            <a:off x="457200" y="6624828"/>
            <a:ext cx="118872" cy="118872"/>
          </a:xfrm>
          <a:prstGeom prst="ellipse">
            <a:avLst/>
          </a:prstGeom>
          <a:solidFill>
            <a:srgbClr val="0D9488"/>
          </a:solidFill>
          <a:ln/>
        </p:spPr>
      </p:sp>
      <p:sp>
        <p:nvSpPr>
          <p:cNvPr id="43" name="Text 36"/>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44" name="Text 37"/>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45" name="Text 38"/>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GO-TO-MARKET &amp; LỘ TRÌNH</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Kênh tăng trưởng + rollout tính năng</a:t>
            </a:r>
            <a:endParaRPr lang="en-US" sz="3000" dirty="0"/>
          </a:p>
        </p:txBody>
      </p:sp>
      <p:sp>
        <p:nvSpPr>
          <p:cNvPr id="5" name="Shape 3"/>
          <p:cNvSpPr/>
          <p:nvPr/>
        </p:nvSpPr>
        <p:spPr>
          <a:xfrm>
            <a:off x="640080" y="1783080"/>
            <a:ext cx="5440680" cy="4297680"/>
          </a:xfrm>
          <a:prstGeom prst="roundRect">
            <a:avLst>
              <a:gd name="adj" fmla="val 1702"/>
            </a:avLst>
          </a:prstGeom>
          <a:solidFill>
            <a:srgbClr val="FFFFFF"/>
          </a:solidFill>
          <a:ln/>
          <a:effectLst>
            <a:outerShdw sx="100000" sy="100000" kx="0" ky="0" algn="bl" rotWithShape="0" blurRad="63500" dist="25400" dir="5400000">
              <a:srgbClr val="0F172A">
                <a:alpha val="10000"/>
              </a:srgbClr>
            </a:outerShdw>
          </a:effectLst>
        </p:spPr>
      </p:sp>
      <p:sp>
        <p:nvSpPr>
          <p:cNvPr id="6" name="Text 4"/>
          <p:cNvSpPr/>
          <p:nvPr/>
        </p:nvSpPr>
        <p:spPr>
          <a:xfrm>
            <a:off x="914400" y="1965960"/>
            <a:ext cx="4937760" cy="36576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Kênh thu hút khách (blended CAC ~480k)</a:t>
            </a:r>
            <a:endParaRPr lang="en-US" sz="1300" dirty="0"/>
          </a:p>
        </p:txBody>
      </p:sp>
      <p:sp>
        <p:nvSpPr>
          <p:cNvPr id="7" name="Shape 5"/>
          <p:cNvSpPr/>
          <p:nvPr/>
        </p:nvSpPr>
        <p:spPr>
          <a:xfrm>
            <a:off x="914400" y="2542032"/>
            <a:ext cx="164592" cy="164592"/>
          </a:xfrm>
          <a:prstGeom prst="ellipse">
            <a:avLst/>
          </a:prstGeom>
          <a:solidFill>
            <a:srgbClr val="FB7185"/>
          </a:solidFill>
          <a:ln/>
        </p:spPr>
      </p:sp>
      <p:sp>
        <p:nvSpPr>
          <p:cNvPr id="8" name="Text 6"/>
          <p:cNvSpPr/>
          <p:nvPr/>
        </p:nvSpPr>
        <p:spPr>
          <a:xfrm>
            <a:off x="1188720" y="2468880"/>
            <a:ext cx="3200400" cy="32004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Digital (FB/TikTok/Google)</a:t>
            </a:r>
            <a:endParaRPr lang="en-US" sz="1150" dirty="0"/>
          </a:p>
        </p:txBody>
      </p:sp>
      <p:sp>
        <p:nvSpPr>
          <p:cNvPr id="9" name="Text 7"/>
          <p:cNvSpPr/>
          <p:nvPr/>
        </p:nvSpPr>
        <p:spPr>
          <a:xfrm>
            <a:off x="4343400" y="2468880"/>
            <a:ext cx="640080" cy="320040"/>
          </a:xfrm>
          <a:prstGeom prst="rect">
            <a:avLst/>
          </a:prstGeom>
          <a:noFill/>
          <a:ln/>
        </p:spPr>
        <p:txBody>
          <a:bodyPr wrap="square" lIns="0" tIns="0" rIns="0" bIns="0" rtlCol="0" anchor="ctr"/>
          <a:lstStyle/>
          <a:p>
            <a:pPr algn="r" indent="0" marL="0">
              <a:buNone/>
            </a:pPr>
            <a:r>
              <a:rPr lang="en-US" sz="1250" b="1" dirty="0">
                <a:solidFill>
                  <a:srgbClr val="FB7185"/>
                </a:solidFill>
                <a:latin typeface="Trebuchet MS" pitchFamily="34" charset="0"/>
                <a:ea typeface="Trebuchet MS" pitchFamily="34" charset="-122"/>
                <a:cs typeface="Trebuchet MS" pitchFamily="34" charset="-120"/>
              </a:rPr>
              <a:t>40%</a:t>
            </a:r>
            <a:endParaRPr lang="en-US" sz="1250" dirty="0"/>
          </a:p>
        </p:txBody>
      </p:sp>
      <p:sp>
        <p:nvSpPr>
          <p:cNvPr id="10" name="Text 8"/>
          <p:cNvSpPr/>
          <p:nvPr/>
        </p:nvSpPr>
        <p:spPr>
          <a:xfrm>
            <a:off x="5029200" y="2468880"/>
            <a:ext cx="914400" cy="320040"/>
          </a:xfrm>
          <a:prstGeom prst="rect">
            <a:avLst/>
          </a:prstGeom>
          <a:noFill/>
          <a:ln/>
        </p:spPr>
        <p:txBody>
          <a:bodyPr wrap="square" lIns="0" tIns="0" rIns="0" bIns="0"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CAC 650k</a:t>
            </a:r>
            <a:endParaRPr lang="en-US" sz="1050" dirty="0"/>
          </a:p>
        </p:txBody>
      </p:sp>
      <p:sp>
        <p:nvSpPr>
          <p:cNvPr id="11" name="Shape 9"/>
          <p:cNvSpPr/>
          <p:nvPr/>
        </p:nvSpPr>
        <p:spPr>
          <a:xfrm>
            <a:off x="914400" y="3200400"/>
            <a:ext cx="164592" cy="164592"/>
          </a:xfrm>
          <a:prstGeom prst="ellipse">
            <a:avLst/>
          </a:prstGeom>
          <a:solidFill>
            <a:srgbClr val="0D9488"/>
          </a:solidFill>
          <a:ln/>
        </p:spPr>
      </p:sp>
      <p:sp>
        <p:nvSpPr>
          <p:cNvPr id="12" name="Text 10"/>
          <p:cNvSpPr/>
          <p:nvPr/>
        </p:nvSpPr>
        <p:spPr>
          <a:xfrm>
            <a:off x="1188720" y="3127248"/>
            <a:ext cx="3200400" cy="32004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Bệnh viện / phòng khám đối tác</a:t>
            </a:r>
            <a:endParaRPr lang="en-US" sz="1150" dirty="0"/>
          </a:p>
        </p:txBody>
      </p:sp>
      <p:sp>
        <p:nvSpPr>
          <p:cNvPr id="13" name="Text 11"/>
          <p:cNvSpPr/>
          <p:nvPr/>
        </p:nvSpPr>
        <p:spPr>
          <a:xfrm>
            <a:off x="4343400" y="3127248"/>
            <a:ext cx="640080" cy="320040"/>
          </a:xfrm>
          <a:prstGeom prst="rect">
            <a:avLst/>
          </a:prstGeom>
          <a:noFill/>
          <a:ln/>
        </p:spPr>
        <p:txBody>
          <a:bodyPr wrap="square" lIns="0" tIns="0" rIns="0" bIns="0" rtlCol="0" anchor="ctr"/>
          <a:lstStyle/>
          <a:p>
            <a:pPr algn="r" indent="0" marL="0">
              <a:buNone/>
            </a:pPr>
            <a:r>
              <a:rPr lang="en-US" sz="1250" b="1" dirty="0">
                <a:solidFill>
                  <a:srgbClr val="0D9488"/>
                </a:solidFill>
                <a:latin typeface="Trebuchet MS" pitchFamily="34" charset="0"/>
                <a:ea typeface="Trebuchet MS" pitchFamily="34" charset="-122"/>
                <a:cs typeface="Trebuchet MS" pitchFamily="34" charset="-120"/>
              </a:rPr>
              <a:t>22%</a:t>
            </a:r>
            <a:endParaRPr lang="en-US" sz="1250" dirty="0"/>
          </a:p>
        </p:txBody>
      </p:sp>
      <p:sp>
        <p:nvSpPr>
          <p:cNvPr id="14" name="Text 12"/>
          <p:cNvSpPr/>
          <p:nvPr/>
        </p:nvSpPr>
        <p:spPr>
          <a:xfrm>
            <a:off x="5029200" y="3127248"/>
            <a:ext cx="914400" cy="320040"/>
          </a:xfrm>
          <a:prstGeom prst="rect">
            <a:avLst/>
          </a:prstGeom>
          <a:noFill/>
          <a:ln/>
        </p:spPr>
        <p:txBody>
          <a:bodyPr wrap="square" lIns="0" tIns="0" rIns="0" bIns="0"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CAC 420k</a:t>
            </a:r>
            <a:endParaRPr lang="en-US" sz="1050" dirty="0"/>
          </a:p>
        </p:txBody>
      </p:sp>
      <p:sp>
        <p:nvSpPr>
          <p:cNvPr id="15" name="Shape 13"/>
          <p:cNvSpPr/>
          <p:nvPr/>
        </p:nvSpPr>
        <p:spPr>
          <a:xfrm>
            <a:off x="914400" y="3858768"/>
            <a:ext cx="164592" cy="164592"/>
          </a:xfrm>
          <a:prstGeom prst="ellipse">
            <a:avLst/>
          </a:prstGeom>
          <a:solidFill>
            <a:srgbClr val="0F766E"/>
          </a:solidFill>
          <a:ln/>
        </p:spPr>
      </p:sp>
      <p:sp>
        <p:nvSpPr>
          <p:cNvPr id="16" name="Text 14"/>
          <p:cNvSpPr/>
          <p:nvPr/>
        </p:nvSpPr>
        <p:spPr>
          <a:xfrm>
            <a:off x="1188720" y="3785616"/>
            <a:ext cx="3200400" cy="32004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Referral (WOW té ngã)</a:t>
            </a:r>
            <a:endParaRPr lang="en-US" sz="1150" dirty="0"/>
          </a:p>
        </p:txBody>
      </p:sp>
      <p:sp>
        <p:nvSpPr>
          <p:cNvPr id="17" name="Text 15"/>
          <p:cNvSpPr/>
          <p:nvPr/>
        </p:nvSpPr>
        <p:spPr>
          <a:xfrm>
            <a:off x="4343400" y="3785616"/>
            <a:ext cx="640080" cy="320040"/>
          </a:xfrm>
          <a:prstGeom prst="rect">
            <a:avLst/>
          </a:prstGeom>
          <a:noFill/>
          <a:ln/>
        </p:spPr>
        <p:txBody>
          <a:bodyPr wrap="square" lIns="0" tIns="0" rIns="0" bIns="0" rtlCol="0" anchor="ctr"/>
          <a:lstStyle/>
          <a:p>
            <a:pPr algn="r" indent="0" marL="0">
              <a:buNone/>
            </a:pPr>
            <a:r>
              <a:rPr lang="en-US" sz="1250" b="1" dirty="0">
                <a:solidFill>
                  <a:srgbClr val="0F766E"/>
                </a:solidFill>
                <a:latin typeface="Trebuchet MS" pitchFamily="34" charset="0"/>
                <a:ea typeface="Trebuchet MS" pitchFamily="34" charset="-122"/>
                <a:cs typeface="Trebuchet MS" pitchFamily="34" charset="-120"/>
              </a:rPr>
              <a:t>15%</a:t>
            </a:r>
            <a:endParaRPr lang="en-US" sz="1250" dirty="0"/>
          </a:p>
        </p:txBody>
      </p:sp>
      <p:sp>
        <p:nvSpPr>
          <p:cNvPr id="18" name="Text 16"/>
          <p:cNvSpPr/>
          <p:nvPr/>
        </p:nvSpPr>
        <p:spPr>
          <a:xfrm>
            <a:off x="5029200" y="3785616"/>
            <a:ext cx="914400" cy="320040"/>
          </a:xfrm>
          <a:prstGeom prst="rect">
            <a:avLst/>
          </a:prstGeom>
          <a:noFill/>
          <a:ln/>
        </p:spPr>
        <p:txBody>
          <a:bodyPr wrap="square" lIns="0" tIns="0" rIns="0" bIns="0"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CAC 180k</a:t>
            </a:r>
            <a:endParaRPr lang="en-US" sz="1050" dirty="0"/>
          </a:p>
        </p:txBody>
      </p:sp>
      <p:sp>
        <p:nvSpPr>
          <p:cNvPr id="19" name="Shape 17"/>
          <p:cNvSpPr/>
          <p:nvPr/>
        </p:nvSpPr>
        <p:spPr>
          <a:xfrm>
            <a:off x="914400" y="4517136"/>
            <a:ext cx="164592" cy="164592"/>
          </a:xfrm>
          <a:prstGeom prst="ellipse">
            <a:avLst/>
          </a:prstGeom>
          <a:solidFill>
            <a:srgbClr val="F5A623"/>
          </a:solidFill>
          <a:ln/>
        </p:spPr>
      </p:sp>
      <p:sp>
        <p:nvSpPr>
          <p:cNvPr id="20" name="Text 18"/>
          <p:cNvSpPr/>
          <p:nvPr/>
        </p:nvSpPr>
        <p:spPr>
          <a:xfrm>
            <a:off x="1188720" y="4443984"/>
            <a:ext cx="3200400" cy="32004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KOL bác sĩ / lão khoa</a:t>
            </a:r>
            <a:endParaRPr lang="en-US" sz="1150" dirty="0"/>
          </a:p>
        </p:txBody>
      </p:sp>
      <p:sp>
        <p:nvSpPr>
          <p:cNvPr id="21" name="Text 19"/>
          <p:cNvSpPr/>
          <p:nvPr/>
        </p:nvSpPr>
        <p:spPr>
          <a:xfrm>
            <a:off x="4343400" y="4443984"/>
            <a:ext cx="640080" cy="320040"/>
          </a:xfrm>
          <a:prstGeom prst="rect">
            <a:avLst/>
          </a:prstGeom>
          <a:noFill/>
          <a:ln/>
        </p:spPr>
        <p:txBody>
          <a:bodyPr wrap="square" lIns="0" tIns="0" rIns="0" bIns="0" rtlCol="0" anchor="ctr"/>
          <a:lstStyle/>
          <a:p>
            <a:pPr algn="r" indent="0" marL="0">
              <a:buNone/>
            </a:pPr>
            <a:r>
              <a:rPr lang="en-US" sz="1250" b="1" dirty="0">
                <a:solidFill>
                  <a:srgbClr val="F5A623"/>
                </a:solidFill>
                <a:latin typeface="Trebuchet MS" pitchFamily="34" charset="0"/>
                <a:ea typeface="Trebuchet MS" pitchFamily="34" charset="-122"/>
                <a:cs typeface="Trebuchet MS" pitchFamily="34" charset="-120"/>
              </a:rPr>
              <a:t>13%</a:t>
            </a:r>
            <a:endParaRPr lang="en-US" sz="1250" dirty="0"/>
          </a:p>
        </p:txBody>
      </p:sp>
      <p:sp>
        <p:nvSpPr>
          <p:cNvPr id="22" name="Text 20"/>
          <p:cNvSpPr/>
          <p:nvPr/>
        </p:nvSpPr>
        <p:spPr>
          <a:xfrm>
            <a:off x="5029200" y="4443984"/>
            <a:ext cx="914400" cy="320040"/>
          </a:xfrm>
          <a:prstGeom prst="rect">
            <a:avLst/>
          </a:prstGeom>
          <a:noFill/>
          <a:ln/>
        </p:spPr>
        <p:txBody>
          <a:bodyPr wrap="square" lIns="0" tIns="0" rIns="0" bIns="0"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CAC 600k</a:t>
            </a:r>
            <a:endParaRPr lang="en-US" sz="1050" dirty="0"/>
          </a:p>
        </p:txBody>
      </p:sp>
      <p:sp>
        <p:nvSpPr>
          <p:cNvPr id="23" name="Shape 21"/>
          <p:cNvSpPr/>
          <p:nvPr/>
        </p:nvSpPr>
        <p:spPr>
          <a:xfrm>
            <a:off x="914400" y="5175504"/>
            <a:ext cx="164592" cy="164592"/>
          </a:xfrm>
          <a:prstGeom prst="ellipse">
            <a:avLst/>
          </a:prstGeom>
          <a:solidFill>
            <a:srgbClr val="2DD4BF"/>
          </a:solidFill>
          <a:ln/>
        </p:spPr>
      </p:sp>
      <p:sp>
        <p:nvSpPr>
          <p:cNvPr id="24" name="Text 22"/>
          <p:cNvSpPr/>
          <p:nvPr/>
        </p:nvSpPr>
        <p:spPr>
          <a:xfrm>
            <a:off x="1188720" y="5102352"/>
            <a:ext cx="3200400" cy="32004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BHXH / hội người già / phường</a:t>
            </a:r>
            <a:endParaRPr lang="en-US" sz="1150" dirty="0"/>
          </a:p>
        </p:txBody>
      </p:sp>
      <p:sp>
        <p:nvSpPr>
          <p:cNvPr id="25" name="Text 23"/>
          <p:cNvSpPr/>
          <p:nvPr/>
        </p:nvSpPr>
        <p:spPr>
          <a:xfrm>
            <a:off x="4343400" y="5102352"/>
            <a:ext cx="640080" cy="320040"/>
          </a:xfrm>
          <a:prstGeom prst="rect">
            <a:avLst/>
          </a:prstGeom>
          <a:noFill/>
          <a:ln/>
        </p:spPr>
        <p:txBody>
          <a:bodyPr wrap="square" lIns="0" tIns="0" rIns="0" bIns="0" rtlCol="0" anchor="ctr"/>
          <a:lstStyle/>
          <a:p>
            <a:pPr algn="r" indent="0" marL="0">
              <a:buNone/>
            </a:pPr>
            <a:r>
              <a:rPr lang="en-US" sz="1250" b="1" dirty="0">
                <a:solidFill>
                  <a:srgbClr val="2DD4BF"/>
                </a:solidFill>
                <a:latin typeface="Trebuchet MS" pitchFamily="34" charset="0"/>
                <a:ea typeface="Trebuchet MS" pitchFamily="34" charset="-122"/>
                <a:cs typeface="Trebuchet MS" pitchFamily="34" charset="-120"/>
              </a:rPr>
              <a:t>10%</a:t>
            </a:r>
            <a:endParaRPr lang="en-US" sz="1250" dirty="0"/>
          </a:p>
        </p:txBody>
      </p:sp>
      <p:sp>
        <p:nvSpPr>
          <p:cNvPr id="26" name="Text 24"/>
          <p:cNvSpPr/>
          <p:nvPr/>
        </p:nvSpPr>
        <p:spPr>
          <a:xfrm>
            <a:off x="5029200" y="5102352"/>
            <a:ext cx="914400" cy="320040"/>
          </a:xfrm>
          <a:prstGeom prst="rect">
            <a:avLst/>
          </a:prstGeom>
          <a:noFill/>
          <a:ln/>
        </p:spPr>
        <p:txBody>
          <a:bodyPr wrap="square" lIns="0" tIns="0" rIns="0" bIns="0"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CAC 300k</a:t>
            </a:r>
            <a:endParaRPr lang="en-US" sz="1050" dirty="0"/>
          </a:p>
        </p:txBody>
      </p:sp>
      <p:sp>
        <p:nvSpPr>
          <p:cNvPr id="27" name="Shape 25"/>
          <p:cNvSpPr/>
          <p:nvPr/>
        </p:nvSpPr>
        <p:spPr>
          <a:xfrm>
            <a:off x="6263640" y="1783080"/>
            <a:ext cx="5285232" cy="4297680"/>
          </a:xfrm>
          <a:prstGeom prst="roundRect">
            <a:avLst>
              <a:gd name="adj" fmla="val 1702"/>
            </a:avLst>
          </a:prstGeom>
          <a:solidFill>
            <a:srgbClr val="FFFFFF"/>
          </a:solidFill>
          <a:ln/>
          <a:effectLst>
            <a:outerShdw sx="100000" sy="100000" kx="0" ky="0" algn="bl" rotWithShape="0" blurRad="63500" dist="25400" dir="5400000">
              <a:srgbClr val="0F172A">
                <a:alpha val="10000"/>
              </a:srgbClr>
            </a:outerShdw>
          </a:effectLst>
        </p:spPr>
      </p:sp>
      <p:sp>
        <p:nvSpPr>
          <p:cNvPr id="28" name="Text 26"/>
          <p:cNvSpPr/>
          <p:nvPr/>
        </p:nvSpPr>
        <p:spPr>
          <a:xfrm>
            <a:off x="6537960" y="1965960"/>
            <a:ext cx="4754880" cy="36576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Rollout tính năng (Năm 1–2)</a:t>
            </a:r>
            <a:endParaRPr lang="en-US" sz="1300" dirty="0"/>
          </a:p>
        </p:txBody>
      </p:sp>
      <p:sp>
        <p:nvSpPr>
          <p:cNvPr id="29" name="Shape 27"/>
          <p:cNvSpPr/>
          <p:nvPr/>
        </p:nvSpPr>
        <p:spPr>
          <a:xfrm>
            <a:off x="6720840" y="2697480"/>
            <a:ext cx="27432" cy="3063240"/>
          </a:xfrm>
          <a:prstGeom prst="rect">
            <a:avLst/>
          </a:prstGeom>
          <a:solidFill>
            <a:srgbClr val="E2E8F0"/>
          </a:solidFill>
          <a:ln/>
        </p:spPr>
      </p:sp>
      <p:sp>
        <p:nvSpPr>
          <p:cNvPr id="30" name="Shape 28"/>
          <p:cNvSpPr/>
          <p:nvPr/>
        </p:nvSpPr>
        <p:spPr>
          <a:xfrm>
            <a:off x="6601968" y="2514600"/>
            <a:ext cx="274320" cy="274320"/>
          </a:xfrm>
          <a:prstGeom prst="ellipse">
            <a:avLst/>
          </a:prstGeom>
          <a:solidFill>
            <a:srgbClr val="FB7185"/>
          </a:solidFill>
          <a:ln/>
        </p:spPr>
      </p:sp>
      <p:sp>
        <p:nvSpPr>
          <p:cNvPr id="31" name="Text 29"/>
          <p:cNvSpPr/>
          <p:nvPr/>
        </p:nvSpPr>
        <p:spPr>
          <a:xfrm>
            <a:off x="7040880" y="2468880"/>
            <a:ext cx="4297680" cy="320040"/>
          </a:xfrm>
          <a:prstGeom prst="rect">
            <a:avLst/>
          </a:prstGeom>
          <a:noFill/>
          <a:ln/>
        </p:spPr>
        <p:txBody>
          <a:bodyPr wrap="square" lIns="0" tIns="0" rIns="0" bIns="0" rtlCol="0" anchor="ctr"/>
          <a:lstStyle/>
          <a:p>
            <a:pPr indent="0" marL="0">
              <a:buNone/>
            </a:pPr>
            <a:r>
              <a:rPr lang="en-US" sz="1250" b="1" dirty="0">
                <a:solidFill>
                  <a:srgbClr val="FB7185"/>
                </a:solidFill>
                <a:latin typeface="Trebuchet MS" pitchFamily="34" charset="0"/>
                <a:ea typeface="Trebuchet MS" pitchFamily="34" charset="-122"/>
                <a:cs typeface="Trebuchet MS" pitchFamily="34" charset="-120"/>
              </a:rPr>
              <a:t>Q1–Q2 · Năm 1</a:t>
            </a:r>
            <a:endParaRPr lang="en-US" sz="1250" dirty="0"/>
          </a:p>
        </p:txBody>
      </p:sp>
      <p:sp>
        <p:nvSpPr>
          <p:cNvPr id="32" name="Text 30"/>
          <p:cNvSpPr/>
          <p:nvPr/>
        </p:nvSpPr>
        <p:spPr>
          <a:xfrm>
            <a:off x="7040880" y="2788920"/>
            <a:ext cx="4297680" cy="502920"/>
          </a:xfrm>
          <a:prstGeom prst="rect">
            <a:avLst/>
          </a:prstGeom>
          <a:noFill/>
          <a:ln/>
        </p:spPr>
        <p:txBody>
          <a:bodyPr wrap="square" lIns="0" tIns="0" rIns="0" bIns="0" rtlCol="0" anchor="t"/>
          <a:lstStyle/>
          <a:p>
            <a:pPr indent="0" marL="0">
              <a:lnSpc>
                <a:spcPct val="100000"/>
              </a:lnSpc>
              <a:buNone/>
            </a:pPr>
            <a:r>
              <a:rPr lang="en-US" sz="1100" dirty="0">
                <a:solidFill>
                  <a:srgbClr val="64748B"/>
                </a:solidFill>
                <a:latin typeface="Calibri" pitchFamily="34" charset="0"/>
                <a:ea typeface="Calibri" pitchFamily="34" charset="-122"/>
                <a:cs typeface="Calibri" pitchFamily="34" charset="-120"/>
              </a:rPr>
              <a:t>CareSense (té ngã) + CareConnect — hook cảm xúc.</a:t>
            </a:r>
            <a:endParaRPr lang="en-US" sz="1100" dirty="0"/>
          </a:p>
        </p:txBody>
      </p:sp>
      <p:sp>
        <p:nvSpPr>
          <p:cNvPr id="33" name="Shape 31"/>
          <p:cNvSpPr/>
          <p:nvPr/>
        </p:nvSpPr>
        <p:spPr>
          <a:xfrm>
            <a:off x="6601968" y="3319272"/>
            <a:ext cx="274320" cy="274320"/>
          </a:xfrm>
          <a:prstGeom prst="ellipse">
            <a:avLst/>
          </a:prstGeom>
          <a:solidFill>
            <a:srgbClr val="0D9488"/>
          </a:solidFill>
          <a:ln/>
        </p:spPr>
      </p:sp>
      <p:sp>
        <p:nvSpPr>
          <p:cNvPr id="34" name="Text 32"/>
          <p:cNvSpPr/>
          <p:nvPr/>
        </p:nvSpPr>
        <p:spPr>
          <a:xfrm>
            <a:off x="7040880" y="3273552"/>
            <a:ext cx="4297680" cy="320040"/>
          </a:xfrm>
          <a:prstGeom prst="rect">
            <a:avLst/>
          </a:prstGeom>
          <a:noFill/>
          <a:ln/>
        </p:spPr>
        <p:txBody>
          <a:bodyPr wrap="square" lIns="0" tIns="0" rIns="0" bIns="0" rtlCol="0" anchor="ctr"/>
          <a:lstStyle/>
          <a:p>
            <a:pPr indent="0" marL="0">
              <a:buNone/>
            </a:pPr>
            <a:r>
              <a:rPr lang="en-US" sz="1250" b="1" dirty="0">
                <a:solidFill>
                  <a:srgbClr val="0D9488"/>
                </a:solidFill>
                <a:latin typeface="Trebuchet MS" pitchFamily="34" charset="0"/>
                <a:ea typeface="Trebuchet MS" pitchFamily="34" charset="-122"/>
                <a:cs typeface="Trebuchet MS" pitchFamily="34" charset="-120"/>
              </a:rPr>
              <a:t>Q3–Q4 · Năm 1</a:t>
            </a:r>
            <a:endParaRPr lang="en-US" sz="1250" dirty="0"/>
          </a:p>
        </p:txBody>
      </p:sp>
      <p:sp>
        <p:nvSpPr>
          <p:cNvPr id="35" name="Text 33"/>
          <p:cNvSpPr/>
          <p:nvPr/>
        </p:nvSpPr>
        <p:spPr>
          <a:xfrm>
            <a:off x="7040880" y="3593592"/>
            <a:ext cx="4297680" cy="502920"/>
          </a:xfrm>
          <a:prstGeom prst="rect">
            <a:avLst/>
          </a:prstGeom>
          <a:noFill/>
          <a:ln/>
        </p:spPr>
        <p:txBody>
          <a:bodyPr wrap="square" lIns="0" tIns="0" rIns="0" bIns="0" rtlCol="0" anchor="t"/>
          <a:lstStyle/>
          <a:p>
            <a:pPr indent="0" marL="0">
              <a:lnSpc>
                <a:spcPct val="100000"/>
              </a:lnSpc>
              <a:buNone/>
            </a:pPr>
            <a:r>
              <a:rPr lang="en-US" sz="1100" dirty="0">
                <a:solidFill>
                  <a:srgbClr val="64748B"/>
                </a:solidFill>
                <a:latin typeface="Calibri" pitchFamily="34" charset="0"/>
                <a:ea typeface="Calibri" pitchFamily="34" charset="-122"/>
                <a:cs typeface="Calibri" pitchFamily="34" charset="-120"/>
              </a:rPr>
              <a:t>TeleSpecialist + gói thuê bao 299–599k — chuyển recurring.</a:t>
            </a:r>
            <a:endParaRPr lang="en-US" sz="1100" dirty="0"/>
          </a:p>
        </p:txBody>
      </p:sp>
      <p:sp>
        <p:nvSpPr>
          <p:cNvPr id="36" name="Shape 34"/>
          <p:cNvSpPr/>
          <p:nvPr/>
        </p:nvSpPr>
        <p:spPr>
          <a:xfrm>
            <a:off x="6601968" y="4123944"/>
            <a:ext cx="274320" cy="274320"/>
          </a:xfrm>
          <a:prstGeom prst="ellipse">
            <a:avLst/>
          </a:prstGeom>
          <a:solidFill>
            <a:srgbClr val="F5A623"/>
          </a:solidFill>
          <a:ln/>
        </p:spPr>
      </p:sp>
      <p:sp>
        <p:nvSpPr>
          <p:cNvPr id="37" name="Text 35"/>
          <p:cNvSpPr/>
          <p:nvPr/>
        </p:nvSpPr>
        <p:spPr>
          <a:xfrm>
            <a:off x="7040880" y="4078224"/>
            <a:ext cx="4297680" cy="320040"/>
          </a:xfrm>
          <a:prstGeom prst="rect">
            <a:avLst/>
          </a:prstGeom>
          <a:noFill/>
          <a:ln/>
        </p:spPr>
        <p:txBody>
          <a:bodyPr wrap="square" lIns="0" tIns="0" rIns="0" bIns="0" rtlCol="0" anchor="ctr"/>
          <a:lstStyle/>
          <a:p>
            <a:pPr indent="0" marL="0">
              <a:buNone/>
            </a:pPr>
            <a:r>
              <a:rPr lang="en-US" sz="1250" b="1" dirty="0">
                <a:solidFill>
                  <a:srgbClr val="F5A623"/>
                </a:solidFill>
                <a:latin typeface="Trebuchet MS" pitchFamily="34" charset="0"/>
                <a:ea typeface="Trebuchet MS" pitchFamily="34" charset="-122"/>
                <a:cs typeface="Trebuchet MS" pitchFamily="34" charset="-120"/>
              </a:rPr>
              <a:t>Q1–Q2 · Năm 2</a:t>
            </a:r>
            <a:endParaRPr lang="en-US" sz="1250" dirty="0"/>
          </a:p>
        </p:txBody>
      </p:sp>
      <p:sp>
        <p:nvSpPr>
          <p:cNvPr id="38" name="Text 36"/>
          <p:cNvSpPr/>
          <p:nvPr/>
        </p:nvSpPr>
        <p:spPr>
          <a:xfrm>
            <a:off x="7040880" y="4398264"/>
            <a:ext cx="4297680" cy="502920"/>
          </a:xfrm>
          <a:prstGeom prst="rect">
            <a:avLst/>
          </a:prstGeom>
          <a:noFill/>
          <a:ln/>
        </p:spPr>
        <p:txBody>
          <a:bodyPr wrap="square" lIns="0" tIns="0" rIns="0" bIns="0" rtlCol="0" anchor="t"/>
          <a:lstStyle/>
          <a:p>
            <a:pPr indent="0" marL="0">
              <a:lnSpc>
                <a:spcPct val="100000"/>
              </a:lnSpc>
              <a:buNone/>
            </a:pPr>
            <a:r>
              <a:rPr lang="en-US" sz="1100" dirty="0">
                <a:solidFill>
                  <a:srgbClr val="64748B"/>
                </a:solidFill>
                <a:latin typeface="Calibri" pitchFamily="34" charset="0"/>
                <a:ea typeface="Calibri" pitchFamily="34" charset="-122"/>
                <a:cs typeface="Calibri" pitchFamily="34" charset="-120"/>
              </a:rPr>
              <a:t>MedFin trả góp ca mổ — cần giấy phép tài chính.</a:t>
            </a:r>
            <a:endParaRPr lang="en-US" sz="1100" dirty="0"/>
          </a:p>
        </p:txBody>
      </p:sp>
      <p:sp>
        <p:nvSpPr>
          <p:cNvPr id="39" name="Shape 37"/>
          <p:cNvSpPr/>
          <p:nvPr/>
        </p:nvSpPr>
        <p:spPr>
          <a:xfrm>
            <a:off x="6601968" y="4928616"/>
            <a:ext cx="274320" cy="274320"/>
          </a:xfrm>
          <a:prstGeom prst="ellipse">
            <a:avLst/>
          </a:prstGeom>
          <a:solidFill>
            <a:srgbClr val="0F766E"/>
          </a:solidFill>
          <a:ln/>
        </p:spPr>
      </p:sp>
      <p:sp>
        <p:nvSpPr>
          <p:cNvPr id="40" name="Text 38"/>
          <p:cNvSpPr/>
          <p:nvPr/>
        </p:nvSpPr>
        <p:spPr>
          <a:xfrm>
            <a:off x="7040880" y="4882896"/>
            <a:ext cx="4297680" cy="320040"/>
          </a:xfrm>
          <a:prstGeom prst="rect">
            <a:avLst/>
          </a:prstGeom>
          <a:noFill/>
          <a:ln/>
        </p:spPr>
        <p:txBody>
          <a:bodyPr wrap="square" lIns="0" tIns="0" rIns="0" bIns="0" rtlCol="0" anchor="ctr"/>
          <a:lstStyle/>
          <a:p>
            <a:pPr indent="0" marL="0">
              <a:buNone/>
            </a:pPr>
            <a:r>
              <a:rPr lang="en-US" sz="1250" b="1" dirty="0">
                <a:solidFill>
                  <a:srgbClr val="0F766E"/>
                </a:solidFill>
                <a:latin typeface="Trebuchet MS" pitchFamily="34" charset="0"/>
                <a:ea typeface="Trebuchet MS" pitchFamily="34" charset="-122"/>
                <a:cs typeface="Trebuchet MS" pitchFamily="34" charset="-120"/>
              </a:rPr>
              <a:t>Q3–Q4 · Năm 2</a:t>
            </a:r>
            <a:endParaRPr lang="en-US" sz="1250" dirty="0"/>
          </a:p>
        </p:txBody>
      </p:sp>
      <p:sp>
        <p:nvSpPr>
          <p:cNvPr id="41" name="Text 39"/>
          <p:cNvSpPr/>
          <p:nvPr/>
        </p:nvSpPr>
        <p:spPr>
          <a:xfrm>
            <a:off x="7040880" y="5202936"/>
            <a:ext cx="4297680" cy="502920"/>
          </a:xfrm>
          <a:prstGeom prst="rect">
            <a:avLst/>
          </a:prstGeom>
          <a:noFill/>
          <a:ln/>
        </p:spPr>
        <p:txBody>
          <a:bodyPr wrap="square" lIns="0" tIns="0" rIns="0" bIns="0" rtlCol="0" anchor="t"/>
          <a:lstStyle/>
          <a:p>
            <a:pPr indent="0" marL="0">
              <a:lnSpc>
                <a:spcPct val="100000"/>
              </a:lnSpc>
              <a:buNone/>
            </a:pPr>
            <a:r>
              <a:rPr lang="en-US" sz="1100" dirty="0">
                <a:solidFill>
                  <a:srgbClr val="64748B"/>
                </a:solidFill>
                <a:latin typeface="Calibri" pitchFamily="34" charset="0"/>
                <a:ea typeface="Calibri" pitchFamily="34" charset="-122"/>
                <a:cs typeface="Calibri" pitchFamily="34" charset="-120"/>
              </a:rPr>
              <a:t>Pharma &amp; thiết bị — tăng ARPU.</a:t>
            </a:r>
            <a:endParaRPr lang="en-US" sz="1100" dirty="0"/>
          </a:p>
        </p:txBody>
      </p:sp>
      <p:sp>
        <p:nvSpPr>
          <p:cNvPr id="42" name="Shape 40"/>
          <p:cNvSpPr/>
          <p:nvPr/>
        </p:nvSpPr>
        <p:spPr>
          <a:xfrm>
            <a:off x="0" y="6565392"/>
            <a:ext cx="12191695" cy="292608"/>
          </a:xfrm>
          <a:prstGeom prst="rect">
            <a:avLst/>
          </a:prstGeom>
          <a:solidFill>
            <a:srgbClr val="FFFFFF"/>
          </a:solidFill>
          <a:ln/>
        </p:spPr>
      </p:sp>
      <p:sp>
        <p:nvSpPr>
          <p:cNvPr id="43" name="Shape 41"/>
          <p:cNvSpPr/>
          <p:nvPr/>
        </p:nvSpPr>
        <p:spPr>
          <a:xfrm>
            <a:off x="0" y="6547104"/>
            <a:ext cx="12191695" cy="20117"/>
          </a:xfrm>
          <a:prstGeom prst="rect">
            <a:avLst/>
          </a:prstGeom>
          <a:solidFill>
            <a:srgbClr val="E2E8F0"/>
          </a:solidFill>
          <a:ln/>
        </p:spPr>
      </p:sp>
      <p:sp>
        <p:nvSpPr>
          <p:cNvPr id="44" name="Shape 42"/>
          <p:cNvSpPr/>
          <p:nvPr/>
        </p:nvSpPr>
        <p:spPr>
          <a:xfrm>
            <a:off x="457200" y="6624828"/>
            <a:ext cx="118872" cy="118872"/>
          </a:xfrm>
          <a:prstGeom prst="ellipse">
            <a:avLst/>
          </a:prstGeom>
          <a:solidFill>
            <a:srgbClr val="0D9488"/>
          </a:solidFill>
          <a:ln/>
        </p:spPr>
      </p:sp>
      <p:sp>
        <p:nvSpPr>
          <p:cNvPr id="45" name="Text 43"/>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46" name="Text 44"/>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47" name="Text 45"/>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91440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ĐỘI NGŨ</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6 nhà sáng lập — mỗi người một trụ cột</a:t>
            </a:r>
            <a:endParaRPr lang="en-US" sz="3000" dirty="0"/>
          </a:p>
        </p:txBody>
      </p:sp>
      <p:sp>
        <p:nvSpPr>
          <p:cNvPr id="5" name="Shape 3"/>
          <p:cNvSpPr/>
          <p:nvPr/>
        </p:nvSpPr>
        <p:spPr>
          <a:xfrm>
            <a:off x="640080" y="1783080"/>
            <a:ext cx="3529584" cy="1874520"/>
          </a:xfrm>
          <a:prstGeom prst="roundRect">
            <a:avLst>
              <a:gd name="adj" fmla="val 3902"/>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914400" y="2240280"/>
            <a:ext cx="914400" cy="91440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1143000" y="2468880"/>
            <a:ext cx="457200" cy="457200"/>
          </a:xfrm>
          <a:prstGeom prst="rect">
            <a:avLst/>
          </a:prstGeom>
        </p:spPr>
      </p:pic>
      <p:sp>
        <p:nvSpPr>
          <p:cNvPr id="8" name="Text 5"/>
          <p:cNvSpPr/>
          <p:nvPr/>
        </p:nvSpPr>
        <p:spPr>
          <a:xfrm>
            <a:off x="1965960" y="2167128"/>
            <a:ext cx="2066544" cy="36576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Minh Tân</a:t>
            </a:r>
            <a:endParaRPr lang="en-US" sz="1500" dirty="0"/>
          </a:p>
        </p:txBody>
      </p:sp>
      <p:sp>
        <p:nvSpPr>
          <p:cNvPr id="9" name="Text 6"/>
          <p:cNvSpPr/>
          <p:nvPr/>
        </p:nvSpPr>
        <p:spPr>
          <a:xfrm>
            <a:off x="1965960" y="2551176"/>
            <a:ext cx="2066544"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Care Ops &amp; Quality</a:t>
            </a:r>
            <a:endParaRPr lang="en-US" sz="1150" dirty="0"/>
          </a:p>
        </p:txBody>
      </p:sp>
      <p:sp>
        <p:nvSpPr>
          <p:cNvPr id="10" name="Shape 7"/>
          <p:cNvSpPr/>
          <p:nvPr/>
        </p:nvSpPr>
        <p:spPr>
          <a:xfrm>
            <a:off x="1965960" y="2898648"/>
            <a:ext cx="1920240" cy="365760"/>
          </a:xfrm>
          <a:prstGeom prst="roundRect">
            <a:avLst>
              <a:gd name="adj" fmla="val 50000"/>
            </a:avLst>
          </a:prstGeom>
          <a:solidFill>
            <a:srgbClr val="F1F5F9"/>
          </a:solidFill>
          <a:ln/>
        </p:spPr>
      </p:sp>
      <p:sp>
        <p:nvSpPr>
          <p:cNvPr id="11" name="Text 8"/>
          <p:cNvSpPr/>
          <p:nvPr/>
        </p:nvSpPr>
        <p:spPr>
          <a:xfrm>
            <a:off x="1965960" y="2898648"/>
            <a:ext cx="1920240" cy="365760"/>
          </a:xfrm>
          <a:prstGeom prst="rect">
            <a:avLst/>
          </a:prstGeom>
          <a:noFill/>
          <a:ln/>
        </p:spPr>
        <p:txBody>
          <a:bodyPr wrap="square" lIns="0" tIns="0" rIns="0" bIns="0" rtlCol="0" anchor="ctr"/>
          <a:lstStyle/>
          <a:p>
            <a:pPr algn="ctr" indent="0" marL="0">
              <a:buNone/>
            </a:pPr>
            <a:r>
              <a:rPr lang="en-US" sz="1000" b="1" dirty="0">
                <a:solidFill>
                  <a:srgbClr val="134E4A"/>
                </a:solidFill>
                <a:latin typeface="Trebuchet MS" pitchFamily="34" charset="0"/>
                <a:ea typeface="Trebuchet MS" pitchFamily="34" charset="-122"/>
                <a:cs typeface="Trebuchet MS" pitchFamily="34" charset="-120"/>
              </a:rPr>
              <a:t>CareConnect</a:t>
            </a:r>
            <a:endParaRPr lang="en-US" sz="1000" dirty="0"/>
          </a:p>
        </p:txBody>
      </p:sp>
      <p:sp>
        <p:nvSpPr>
          <p:cNvPr id="12" name="Shape 9"/>
          <p:cNvSpPr/>
          <p:nvPr/>
        </p:nvSpPr>
        <p:spPr>
          <a:xfrm>
            <a:off x="4334256" y="1783080"/>
            <a:ext cx="3529584" cy="1874520"/>
          </a:xfrm>
          <a:prstGeom prst="roundRect">
            <a:avLst>
              <a:gd name="adj" fmla="val 3902"/>
            </a:avLst>
          </a:prstGeom>
          <a:solidFill>
            <a:srgbClr val="FFFFFF"/>
          </a:solidFill>
          <a:ln/>
          <a:effectLst>
            <a:outerShdw sx="100000" sy="100000" kx="0" ky="0" algn="bl" rotWithShape="0" blurRad="63500" dist="25400" dir="5400000">
              <a:srgbClr val="0F172A">
                <a:alpha val="10000"/>
              </a:srgbClr>
            </a:outerShdw>
          </a:effectLst>
        </p:spPr>
      </p:sp>
      <p:sp>
        <p:nvSpPr>
          <p:cNvPr id="13" name="Shape 10"/>
          <p:cNvSpPr/>
          <p:nvPr/>
        </p:nvSpPr>
        <p:spPr>
          <a:xfrm>
            <a:off x="4608576" y="2240280"/>
            <a:ext cx="914400" cy="914400"/>
          </a:xfrm>
          <a:prstGeom prst="ellipse">
            <a:avLst/>
          </a:prstGeom>
          <a:solidFill>
            <a:srgbClr val="0F766E"/>
          </a:solidFill>
          <a:ln/>
        </p:spPr>
      </p:sp>
      <p:pic>
        <p:nvPicPr>
          <p:cNvPr id="14" name="Image 1" descr="preencoded.png">    </p:cNvPr>
          <p:cNvPicPr>
            <a:picLocks noChangeAspect="1"/>
          </p:cNvPicPr>
          <p:nvPr/>
        </p:nvPicPr>
        <p:blipFill>
          <a:blip r:embed="rId2"/>
          <a:stretch>
            <a:fillRect/>
          </a:stretch>
        </p:blipFill>
        <p:spPr>
          <a:xfrm>
            <a:off x="4837176" y="2468880"/>
            <a:ext cx="457200" cy="457200"/>
          </a:xfrm>
          <a:prstGeom prst="rect">
            <a:avLst/>
          </a:prstGeom>
        </p:spPr>
      </p:pic>
      <p:sp>
        <p:nvSpPr>
          <p:cNvPr id="15" name="Text 11"/>
          <p:cNvSpPr/>
          <p:nvPr/>
        </p:nvSpPr>
        <p:spPr>
          <a:xfrm>
            <a:off x="5660136" y="2167128"/>
            <a:ext cx="2066544" cy="36576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Anh Hiếu · CTO</a:t>
            </a:r>
            <a:endParaRPr lang="en-US" sz="1500" dirty="0"/>
          </a:p>
        </p:txBody>
      </p:sp>
      <p:sp>
        <p:nvSpPr>
          <p:cNvPr id="16" name="Text 12"/>
          <p:cNvSpPr/>
          <p:nvPr/>
        </p:nvSpPr>
        <p:spPr>
          <a:xfrm>
            <a:off x="5660136" y="2551176"/>
            <a:ext cx="2066544"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Cloud &amp; Điều phối</a:t>
            </a:r>
            <a:endParaRPr lang="en-US" sz="1150" dirty="0"/>
          </a:p>
        </p:txBody>
      </p:sp>
      <p:sp>
        <p:nvSpPr>
          <p:cNvPr id="17" name="Shape 13"/>
          <p:cNvSpPr/>
          <p:nvPr/>
        </p:nvSpPr>
        <p:spPr>
          <a:xfrm>
            <a:off x="5660136" y="2898648"/>
            <a:ext cx="1920240" cy="365760"/>
          </a:xfrm>
          <a:prstGeom prst="roundRect">
            <a:avLst>
              <a:gd name="adj" fmla="val 50000"/>
            </a:avLst>
          </a:prstGeom>
          <a:solidFill>
            <a:srgbClr val="F1F5F9"/>
          </a:solidFill>
          <a:ln/>
        </p:spPr>
      </p:sp>
      <p:sp>
        <p:nvSpPr>
          <p:cNvPr id="18" name="Text 14"/>
          <p:cNvSpPr/>
          <p:nvPr/>
        </p:nvSpPr>
        <p:spPr>
          <a:xfrm>
            <a:off x="5660136" y="2898648"/>
            <a:ext cx="1920240" cy="365760"/>
          </a:xfrm>
          <a:prstGeom prst="rect">
            <a:avLst/>
          </a:prstGeom>
          <a:noFill/>
          <a:ln/>
        </p:spPr>
        <p:txBody>
          <a:bodyPr wrap="square" lIns="0" tIns="0" rIns="0" bIns="0" rtlCol="0" anchor="ctr"/>
          <a:lstStyle/>
          <a:p>
            <a:pPr algn="ctr" indent="0" marL="0">
              <a:buNone/>
            </a:pPr>
            <a:r>
              <a:rPr lang="en-US" sz="1000" b="1" dirty="0">
                <a:solidFill>
                  <a:srgbClr val="134E4A"/>
                </a:solidFill>
                <a:latin typeface="Trebuchet MS" pitchFamily="34" charset="0"/>
                <a:ea typeface="Trebuchet MS" pitchFamily="34" charset="-122"/>
                <a:cs typeface="Trebuchet MS" pitchFamily="34" charset="-120"/>
              </a:rPr>
              <a:t>SmartBooking · Tele</a:t>
            </a:r>
            <a:endParaRPr lang="en-US" sz="1000" dirty="0"/>
          </a:p>
        </p:txBody>
      </p:sp>
      <p:sp>
        <p:nvSpPr>
          <p:cNvPr id="19" name="Shape 15"/>
          <p:cNvSpPr/>
          <p:nvPr/>
        </p:nvSpPr>
        <p:spPr>
          <a:xfrm>
            <a:off x="8028432" y="1783080"/>
            <a:ext cx="3529584" cy="1874520"/>
          </a:xfrm>
          <a:prstGeom prst="roundRect">
            <a:avLst>
              <a:gd name="adj" fmla="val 3902"/>
            </a:avLst>
          </a:prstGeom>
          <a:solidFill>
            <a:srgbClr val="FFFFFF"/>
          </a:solidFill>
          <a:ln/>
          <a:effectLst>
            <a:outerShdw sx="100000" sy="100000" kx="0" ky="0" algn="bl" rotWithShape="0" blurRad="63500" dist="25400" dir="5400000">
              <a:srgbClr val="0F172A">
                <a:alpha val="10000"/>
              </a:srgbClr>
            </a:outerShdw>
          </a:effectLst>
        </p:spPr>
      </p:sp>
      <p:sp>
        <p:nvSpPr>
          <p:cNvPr id="20" name="Shape 16"/>
          <p:cNvSpPr/>
          <p:nvPr/>
        </p:nvSpPr>
        <p:spPr>
          <a:xfrm>
            <a:off x="8302752" y="2240280"/>
            <a:ext cx="914400" cy="914400"/>
          </a:xfrm>
          <a:prstGeom prst="ellipse">
            <a:avLst/>
          </a:prstGeom>
          <a:solidFill>
            <a:srgbClr val="F5A623"/>
          </a:solidFill>
          <a:ln/>
        </p:spPr>
      </p:sp>
      <p:pic>
        <p:nvPicPr>
          <p:cNvPr id="21" name="Image 2" descr="preencoded.png">    </p:cNvPr>
          <p:cNvPicPr>
            <a:picLocks noChangeAspect="1"/>
          </p:cNvPicPr>
          <p:nvPr/>
        </p:nvPicPr>
        <p:blipFill>
          <a:blip r:embed="rId3"/>
          <a:stretch>
            <a:fillRect/>
          </a:stretch>
        </p:blipFill>
        <p:spPr>
          <a:xfrm>
            <a:off x="8531352" y="2468880"/>
            <a:ext cx="457200" cy="457200"/>
          </a:xfrm>
          <a:prstGeom prst="rect">
            <a:avLst/>
          </a:prstGeom>
        </p:spPr>
      </p:pic>
      <p:sp>
        <p:nvSpPr>
          <p:cNvPr id="22" name="Text 17"/>
          <p:cNvSpPr/>
          <p:nvPr/>
        </p:nvSpPr>
        <p:spPr>
          <a:xfrm>
            <a:off x="9354312" y="2167128"/>
            <a:ext cx="2066544" cy="36576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Chị Liên · CFO</a:t>
            </a:r>
            <a:endParaRPr lang="en-US" sz="1500" dirty="0"/>
          </a:p>
        </p:txBody>
      </p:sp>
      <p:sp>
        <p:nvSpPr>
          <p:cNvPr id="23" name="Text 18"/>
          <p:cNvSpPr/>
          <p:nvPr/>
        </p:nvSpPr>
        <p:spPr>
          <a:xfrm>
            <a:off x="9354312" y="2551176"/>
            <a:ext cx="2066544"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MedFin &amp; Billing</a:t>
            </a:r>
            <a:endParaRPr lang="en-US" sz="1150" dirty="0"/>
          </a:p>
        </p:txBody>
      </p:sp>
      <p:sp>
        <p:nvSpPr>
          <p:cNvPr id="24" name="Shape 19"/>
          <p:cNvSpPr/>
          <p:nvPr/>
        </p:nvSpPr>
        <p:spPr>
          <a:xfrm>
            <a:off x="9354312" y="2898648"/>
            <a:ext cx="1920240" cy="365760"/>
          </a:xfrm>
          <a:prstGeom prst="roundRect">
            <a:avLst>
              <a:gd name="adj" fmla="val 50000"/>
            </a:avLst>
          </a:prstGeom>
          <a:solidFill>
            <a:srgbClr val="F1F5F9"/>
          </a:solidFill>
          <a:ln/>
        </p:spPr>
      </p:sp>
      <p:sp>
        <p:nvSpPr>
          <p:cNvPr id="25" name="Text 20"/>
          <p:cNvSpPr/>
          <p:nvPr/>
        </p:nvSpPr>
        <p:spPr>
          <a:xfrm>
            <a:off x="9354312" y="2898648"/>
            <a:ext cx="1920240" cy="365760"/>
          </a:xfrm>
          <a:prstGeom prst="rect">
            <a:avLst/>
          </a:prstGeom>
          <a:noFill/>
          <a:ln/>
        </p:spPr>
        <p:txBody>
          <a:bodyPr wrap="square" lIns="0" tIns="0" rIns="0" bIns="0" rtlCol="0" anchor="ctr"/>
          <a:lstStyle/>
          <a:p>
            <a:pPr algn="ctr" indent="0" marL="0">
              <a:buNone/>
            </a:pPr>
            <a:r>
              <a:rPr lang="en-US" sz="1000" b="1" dirty="0">
                <a:solidFill>
                  <a:srgbClr val="134E4A"/>
                </a:solidFill>
                <a:latin typeface="Trebuchet MS" pitchFamily="34" charset="0"/>
                <a:ea typeface="Trebuchet MS" pitchFamily="34" charset="-122"/>
                <a:cs typeface="Trebuchet MS" pitchFamily="34" charset="-120"/>
              </a:rPr>
              <a:t>Tài chính y tế</a:t>
            </a:r>
            <a:endParaRPr lang="en-US" sz="1000" dirty="0"/>
          </a:p>
        </p:txBody>
      </p:sp>
      <p:sp>
        <p:nvSpPr>
          <p:cNvPr id="26" name="Shape 21"/>
          <p:cNvSpPr/>
          <p:nvPr/>
        </p:nvSpPr>
        <p:spPr>
          <a:xfrm>
            <a:off x="640080" y="3840480"/>
            <a:ext cx="3529584" cy="1874520"/>
          </a:xfrm>
          <a:prstGeom prst="roundRect">
            <a:avLst>
              <a:gd name="adj" fmla="val 3902"/>
            </a:avLst>
          </a:prstGeom>
          <a:solidFill>
            <a:srgbClr val="FFFFFF"/>
          </a:solidFill>
          <a:ln/>
          <a:effectLst>
            <a:outerShdw sx="100000" sy="100000" kx="0" ky="0" algn="bl" rotWithShape="0" blurRad="63500" dist="25400" dir="5400000">
              <a:srgbClr val="0F172A">
                <a:alpha val="10000"/>
              </a:srgbClr>
            </a:outerShdw>
          </a:effectLst>
        </p:spPr>
      </p:sp>
      <p:sp>
        <p:nvSpPr>
          <p:cNvPr id="27" name="Shape 22"/>
          <p:cNvSpPr/>
          <p:nvPr/>
        </p:nvSpPr>
        <p:spPr>
          <a:xfrm>
            <a:off x="914400" y="4297680"/>
            <a:ext cx="914400" cy="914400"/>
          </a:xfrm>
          <a:prstGeom prst="ellipse">
            <a:avLst/>
          </a:prstGeom>
          <a:solidFill>
            <a:srgbClr val="FB7185"/>
          </a:solidFill>
          <a:ln/>
        </p:spPr>
      </p:sp>
      <p:pic>
        <p:nvPicPr>
          <p:cNvPr id="28" name="Image 3" descr="preencoded.png">    </p:cNvPr>
          <p:cNvPicPr>
            <a:picLocks noChangeAspect="1"/>
          </p:cNvPicPr>
          <p:nvPr/>
        </p:nvPicPr>
        <p:blipFill>
          <a:blip r:embed="rId4"/>
          <a:stretch>
            <a:fillRect/>
          </a:stretch>
        </p:blipFill>
        <p:spPr>
          <a:xfrm>
            <a:off x="1143000" y="4526280"/>
            <a:ext cx="457200" cy="457200"/>
          </a:xfrm>
          <a:prstGeom prst="rect">
            <a:avLst/>
          </a:prstGeom>
        </p:spPr>
      </p:pic>
      <p:sp>
        <p:nvSpPr>
          <p:cNvPr id="29" name="Text 23"/>
          <p:cNvSpPr/>
          <p:nvPr/>
        </p:nvSpPr>
        <p:spPr>
          <a:xfrm>
            <a:off x="1965960" y="4224528"/>
            <a:ext cx="2066544" cy="36576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Chị Nhi</a:t>
            </a:r>
            <a:endParaRPr lang="en-US" sz="1500" dirty="0"/>
          </a:p>
        </p:txBody>
      </p:sp>
      <p:sp>
        <p:nvSpPr>
          <p:cNvPr id="30" name="Text 24"/>
          <p:cNvSpPr/>
          <p:nvPr/>
        </p:nvSpPr>
        <p:spPr>
          <a:xfrm>
            <a:off x="1965960" y="4608576"/>
            <a:ext cx="2066544"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Hardware/IoT &amp; Commerce</a:t>
            </a:r>
            <a:endParaRPr lang="en-US" sz="1150" dirty="0"/>
          </a:p>
        </p:txBody>
      </p:sp>
      <p:sp>
        <p:nvSpPr>
          <p:cNvPr id="31" name="Shape 25"/>
          <p:cNvSpPr/>
          <p:nvPr/>
        </p:nvSpPr>
        <p:spPr>
          <a:xfrm>
            <a:off x="1965960" y="4956048"/>
            <a:ext cx="1920240" cy="365760"/>
          </a:xfrm>
          <a:prstGeom prst="roundRect">
            <a:avLst>
              <a:gd name="adj" fmla="val 50000"/>
            </a:avLst>
          </a:prstGeom>
          <a:solidFill>
            <a:srgbClr val="F1F5F9"/>
          </a:solidFill>
          <a:ln/>
        </p:spPr>
      </p:sp>
      <p:sp>
        <p:nvSpPr>
          <p:cNvPr id="32" name="Text 26"/>
          <p:cNvSpPr/>
          <p:nvPr/>
        </p:nvSpPr>
        <p:spPr>
          <a:xfrm>
            <a:off x="1965960" y="4956048"/>
            <a:ext cx="1920240" cy="365760"/>
          </a:xfrm>
          <a:prstGeom prst="rect">
            <a:avLst/>
          </a:prstGeom>
          <a:noFill/>
          <a:ln/>
        </p:spPr>
        <p:txBody>
          <a:bodyPr wrap="square" lIns="0" tIns="0" rIns="0" bIns="0" rtlCol="0" anchor="ctr"/>
          <a:lstStyle/>
          <a:p>
            <a:pPr algn="ctr" indent="0" marL="0">
              <a:buNone/>
            </a:pPr>
            <a:r>
              <a:rPr lang="en-US" sz="1000" b="1" dirty="0">
                <a:solidFill>
                  <a:srgbClr val="134E4A"/>
                </a:solidFill>
                <a:latin typeface="Trebuchet MS" pitchFamily="34" charset="0"/>
                <a:ea typeface="Trebuchet MS" pitchFamily="34" charset="-122"/>
                <a:cs typeface="Trebuchet MS" pitchFamily="34" charset="-120"/>
              </a:rPr>
              <a:t>CareSense</a:t>
            </a:r>
            <a:endParaRPr lang="en-US" sz="1000" dirty="0"/>
          </a:p>
        </p:txBody>
      </p:sp>
      <p:sp>
        <p:nvSpPr>
          <p:cNvPr id="33" name="Shape 27"/>
          <p:cNvSpPr/>
          <p:nvPr/>
        </p:nvSpPr>
        <p:spPr>
          <a:xfrm>
            <a:off x="4334256" y="3840480"/>
            <a:ext cx="3529584" cy="1874520"/>
          </a:xfrm>
          <a:prstGeom prst="roundRect">
            <a:avLst>
              <a:gd name="adj" fmla="val 3902"/>
            </a:avLst>
          </a:prstGeom>
          <a:solidFill>
            <a:srgbClr val="FFFFFF"/>
          </a:solidFill>
          <a:ln/>
          <a:effectLst>
            <a:outerShdw sx="100000" sy="100000" kx="0" ky="0" algn="bl" rotWithShape="0" blurRad="63500" dist="25400" dir="5400000">
              <a:srgbClr val="0F172A">
                <a:alpha val="10000"/>
              </a:srgbClr>
            </a:outerShdw>
          </a:effectLst>
        </p:spPr>
      </p:sp>
      <p:sp>
        <p:nvSpPr>
          <p:cNvPr id="34" name="Shape 28"/>
          <p:cNvSpPr/>
          <p:nvPr/>
        </p:nvSpPr>
        <p:spPr>
          <a:xfrm>
            <a:off x="4608576" y="4297680"/>
            <a:ext cx="914400" cy="914400"/>
          </a:xfrm>
          <a:prstGeom prst="ellipse">
            <a:avLst/>
          </a:prstGeom>
          <a:solidFill>
            <a:srgbClr val="134E4A"/>
          </a:solidFill>
          <a:ln/>
        </p:spPr>
      </p:sp>
      <p:pic>
        <p:nvPicPr>
          <p:cNvPr id="35" name="Image 4" descr="preencoded.png">    </p:cNvPr>
          <p:cNvPicPr>
            <a:picLocks noChangeAspect="1"/>
          </p:cNvPicPr>
          <p:nvPr/>
        </p:nvPicPr>
        <p:blipFill>
          <a:blip r:embed="rId5"/>
          <a:stretch>
            <a:fillRect/>
          </a:stretch>
        </p:blipFill>
        <p:spPr>
          <a:xfrm>
            <a:off x="4837176" y="4526280"/>
            <a:ext cx="457200" cy="457200"/>
          </a:xfrm>
          <a:prstGeom prst="rect">
            <a:avLst/>
          </a:prstGeom>
        </p:spPr>
      </p:pic>
      <p:sp>
        <p:nvSpPr>
          <p:cNvPr id="36" name="Text 29"/>
          <p:cNvSpPr/>
          <p:nvPr/>
        </p:nvSpPr>
        <p:spPr>
          <a:xfrm>
            <a:off x="5660136" y="4224528"/>
            <a:ext cx="2066544" cy="36576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Thành Duy · CSO</a:t>
            </a:r>
            <a:endParaRPr lang="en-US" sz="1500" dirty="0"/>
          </a:p>
        </p:txBody>
      </p:sp>
      <p:sp>
        <p:nvSpPr>
          <p:cNvPr id="37" name="Text 30"/>
          <p:cNvSpPr/>
          <p:nvPr/>
        </p:nvSpPr>
        <p:spPr>
          <a:xfrm>
            <a:off x="5660136" y="4608576"/>
            <a:ext cx="2066544"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Security &amp; Compliance</a:t>
            </a:r>
            <a:endParaRPr lang="en-US" sz="1150" dirty="0"/>
          </a:p>
        </p:txBody>
      </p:sp>
      <p:sp>
        <p:nvSpPr>
          <p:cNvPr id="38" name="Shape 31"/>
          <p:cNvSpPr/>
          <p:nvPr/>
        </p:nvSpPr>
        <p:spPr>
          <a:xfrm>
            <a:off x="5660136" y="4956048"/>
            <a:ext cx="1920240" cy="365760"/>
          </a:xfrm>
          <a:prstGeom prst="roundRect">
            <a:avLst>
              <a:gd name="adj" fmla="val 50000"/>
            </a:avLst>
          </a:prstGeom>
          <a:solidFill>
            <a:srgbClr val="F1F5F9"/>
          </a:solidFill>
          <a:ln/>
        </p:spPr>
      </p:sp>
      <p:sp>
        <p:nvSpPr>
          <p:cNvPr id="39" name="Text 32"/>
          <p:cNvSpPr/>
          <p:nvPr/>
        </p:nvSpPr>
        <p:spPr>
          <a:xfrm>
            <a:off x="5660136" y="4956048"/>
            <a:ext cx="1920240" cy="365760"/>
          </a:xfrm>
          <a:prstGeom prst="rect">
            <a:avLst/>
          </a:prstGeom>
          <a:noFill/>
          <a:ln/>
        </p:spPr>
        <p:txBody>
          <a:bodyPr wrap="square" lIns="0" tIns="0" rIns="0" bIns="0" rtlCol="0" anchor="ctr"/>
          <a:lstStyle/>
          <a:p>
            <a:pPr algn="ctr" indent="0" marL="0">
              <a:buNone/>
            </a:pPr>
            <a:r>
              <a:rPr lang="en-US" sz="1000" b="1" dirty="0">
                <a:solidFill>
                  <a:srgbClr val="134E4A"/>
                </a:solidFill>
                <a:latin typeface="Trebuchet MS" pitchFamily="34" charset="0"/>
                <a:ea typeface="Trebuchet MS" pitchFamily="34" charset="-122"/>
                <a:cs typeface="Trebuchet MS" pitchFamily="34" charset="-120"/>
              </a:rPr>
              <a:t>Bảo mật &amp; pháp lý</a:t>
            </a:r>
            <a:endParaRPr lang="en-US" sz="1000" dirty="0"/>
          </a:p>
        </p:txBody>
      </p:sp>
      <p:sp>
        <p:nvSpPr>
          <p:cNvPr id="40" name="Shape 33"/>
          <p:cNvSpPr/>
          <p:nvPr/>
        </p:nvSpPr>
        <p:spPr>
          <a:xfrm>
            <a:off x="8028432" y="3840480"/>
            <a:ext cx="3529584" cy="1874520"/>
          </a:xfrm>
          <a:prstGeom prst="roundRect">
            <a:avLst>
              <a:gd name="adj" fmla="val 3902"/>
            </a:avLst>
          </a:prstGeom>
          <a:solidFill>
            <a:srgbClr val="FFFFFF"/>
          </a:solidFill>
          <a:ln/>
          <a:effectLst>
            <a:outerShdw sx="100000" sy="100000" kx="0" ky="0" algn="bl" rotWithShape="0" blurRad="63500" dist="25400" dir="5400000">
              <a:srgbClr val="0F172A">
                <a:alpha val="10000"/>
              </a:srgbClr>
            </a:outerShdw>
          </a:effectLst>
        </p:spPr>
      </p:sp>
      <p:sp>
        <p:nvSpPr>
          <p:cNvPr id="41" name="Shape 34"/>
          <p:cNvSpPr/>
          <p:nvPr/>
        </p:nvSpPr>
        <p:spPr>
          <a:xfrm>
            <a:off x="8302752" y="4297680"/>
            <a:ext cx="914400" cy="914400"/>
          </a:xfrm>
          <a:prstGeom prst="ellipse">
            <a:avLst/>
          </a:prstGeom>
          <a:solidFill>
            <a:srgbClr val="2DD4BF"/>
          </a:solidFill>
          <a:ln/>
        </p:spPr>
      </p:sp>
      <p:pic>
        <p:nvPicPr>
          <p:cNvPr id="42" name="Image 5" descr="preencoded.png">    </p:cNvPr>
          <p:cNvPicPr>
            <a:picLocks noChangeAspect="1"/>
          </p:cNvPicPr>
          <p:nvPr/>
        </p:nvPicPr>
        <p:blipFill>
          <a:blip r:embed="rId6"/>
          <a:stretch>
            <a:fillRect/>
          </a:stretch>
        </p:blipFill>
        <p:spPr>
          <a:xfrm>
            <a:off x="8531352" y="4526280"/>
            <a:ext cx="457200" cy="457200"/>
          </a:xfrm>
          <a:prstGeom prst="rect">
            <a:avLst/>
          </a:prstGeom>
        </p:spPr>
      </p:pic>
      <p:sp>
        <p:nvSpPr>
          <p:cNvPr id="43" name="Text 35"/>
          <p:cNvSpPr/>
          <p:nvPr/>
        </p:nvSpPr>
        <p:spPr>
          <a:xfrm>
            <a:off x="9354312" y="4224528"/>
            <a:ext cx="2066544" cy="36576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Thanh Bình · CMO</a:t>
            </a:r>
            <a:endParaRPr lang="en-US" sz="1500" dirty="0"/>
          </a:p>
        </p:txBody>
      </p:sp>
      <p:sp>
        <p:nvSpPr>
          <p:cNvPr id="44" name="Text 36"/>
          <p:cNvSpPr/>
          <p:nvPr/>
        </p:nvSpPr>
        <p:spPr>
          <a:xfrm>
            <a:off x="9354312" y="4608576"/>
            <a:ext cx="2066544" cy="3200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Marketing &amp; Growth</a:t>
            </a:r>
            <a:endParaRPr lang="en-US" sz="1150" dirty="0"/>
          </a:p>
        </p:txBody>
      </p:sp>
      <p:sp>
        <p:nvSpPr>
          <p:cNvPr id="45" name="Shape 37"/>
          <p:cNvSpPr/>
          <p:nvPr/>
        </p:nvSpPr>
        <p:spPr>
          <a:xfrm>
            <a:off x="9354312" y="4956048"/>
            <a:ext cx="1920240" cy="365760"/>
          </a:xfrm>
          <a:prstGeom prst="roundRect">
            <a:avLst>
              <a:gd name="adj" fmla="val 50000"/>
            </a:avLst>
          </a:prstGeom>
          <a:solidFill>
            <a:srgbClr val="F1F5F9"/>
          </a:solidFill>
          <a:ln/>
        </p:spPr>
      </p:sp>
      <p:sp>
        <p:nvSpPr>
          <p:cNvPr id="46" name="Text 38"/>
          <p:cNvSpPr/>
          <p:nvPr/>
        </p:nvSpPr>
        <p:spPr>
          <a:xfrm>
            <a:off x="9354312" y="4956048"/>
            <a:ext cx="1920240" cy="365760"/>
          </a:xfrm>
          <a:prstGeom prst="rect">
            <a:avLst/>
          </a:prstGeom>
          <a:noFill/>
          <a:ln/>
        </p:spPr>
        <p:txBody>
          <a:bodyPr wrap="square" lIns="0" tIns="0" rIns="0" bIns="0" rtlCol="0" anchor="ctr"/>
          <a:lstStyle/>
          <a:p>
            <a:pPr algn="ctr" indent="0" marL="0">
              <a:buNone/>
            </a:pPr>
            <a:r>
              <a:rPr lang="en-US" sz="1000" b="1" dirty="0">
                <a:solidFill>
                  <a:srgbClr val="134E4A"/>
                </a:solidFill>
                <a:latin typeface="Trebuchet MS" pitchFamily="34" charset="0"/>
                <a:ea typeface="Trebuchet MS" pitchFamily="34" charset="-122"/>
                <a:cs typeface="Trebuchet MS" pitchFamily="34" charset="-120"/>
              </a:rPr>
              <a:t>Tăng trưởng</a:t>
            </a:r>
            <a:endParaRPr lang="en-US" sz="1000" dirty="0"/>
          </a:p>
        </p:txBody>
      </p:sp>
      <p:sp>
        <p:nvSpPr>
          <p:cNvPr id="47" name="Shape 39"/>
          <p:cNvSpPr/>
          <p:nvPr/>
        </p:nvSpPr>
        <p:spPr>
          <a:xfrm>
            <a:off x="0" y="6565392"/>
            <a:ext cx="12191695" cy="292608"/>
          </a:xfrm>
          <a:prstGeom prst="rect">
            <a:avLst/>
          </a:prstGeom>
          <a:solidFill>
            <a:srgbClr val="FFFFFF"/>
          </a:solidFill>
          <a:ln/>
        </p:spPr>
      </p:sp>
      <p:sp>
        <p:nvSpPr>
          <p:cNvPr id="48" name="Shape 40"/>
          <p:cNvSpPr/>
          <p:nvPr/>
        </p:nvSpPr>
        <p:spPr>
          <a:xfrm>
            <a:off x="0" y="6547104"/>
            <a:ext cx="12191695" cy="20117"/>
          </a:xfrm>
          <a:prstGeom prst="rect">
            <a:avLst/>
          </a:prstGeom>
          <a:solidFill>
            <a:srgbClr val="E2E8F0"/>
          </a:solidFill>
          <a:ln/>
        </p:spPr>
      </p:sp>
      <p:sp>
        <p:nvSpPr>
          <p:cNvPr id="49" name="Shape 41"/>
          <p:cNvSpPr/>
          <p:nvPr/>
        </p:nvSpPr>
        <p:spPr>
          <a:xfrm>
            <a:off x="457200" y="6624828"/>
            <a:ext cx="118872" cy="118872"/>
          </a:xfrm>
          <a:prstGeom prst="ellipse">
            <a:avLst/>
          </a:prstGeom>
          <a:solidFill>
            <a:srgbClr val="0D9488"/>
          </a:solidFill>
          <a:ln/>
        </p:spPr>
      </p:sp>
      <p:sp>
        <p:nvSpPr>
          <p:cNvPr id="50" name="Text 42"/>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51" name="Text 43"/>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52" name="Text 44"/>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4E4A"/>
        </a:solidFill>
      </p:bgPr>
    </p:bg>
    <p:spTree>
      <p:nvGrpSpPr>
        <p:cNvPr id="1" name=""/>
        <p:cNvGrpSpPr/>
        <p:nvPr/>
      </p:nvGrpSpPr>
      <p:grpSpPr>
        <a:xfrm>
          <a:off x="0" y="0"/>
          <a:ext cx="0" cy="0"/>
          <a:chOff x="0" y="0"/>
          <a:chExt cx="0" cy="0"/>
        </a:xfrm>
      </p:grpSpPr>
      <p:sp>
        <p:nvSpPr>
          <p:cNvPr id="2" name="Shape 0"/>
          <p:cNvSpPr/>
          <p:nvPr/>
        </p:nvSpPr>
        <p:spPr>
          <a:xfrm>
            <a:off x="-1463040" y="-1645920"/>
            <a:ext cx="5029200" cy="5029200"/>
          </a:xfrm>
          <a:prstGeom prst="ellipse">
            <a:avLst/>
          </a:prstGeom>
          <a:solidFill>
            <a:srgbClr val="0F766E">
              <a:alpha val="60000"/>
            </a:srgbClr>
          </a:solidFill>
          <a:ln/>
        </p:spPr>
      </p:sp>
      <p:sp>
        <p:nvSpPr>
          <p:cNvPr id="3" name="Shape 1"/>
          <p:cNvSpPr/>
          <p:nvPr/>
        </p:nvSpPr>
        <p:spPr>
          <a:xfrm>
            <a:off x="9692640" y="3108960"/>
            <a:ext cx="4572000" cy="4572000"/>
          </a:xfrm>
          <a:prstGeom prst="ellipse">
            <a:avLst/>
          </a:prstGeom>
          <a:solidFill>
            <a:srgbClr val="0D9488">
              <a:alpha val="55000"/>
            </a:srgbClr>
          </a:solidFill>
          <a:ln/>
        </p:spPr>
      </p:sp>
      <p:sp>
        <p:nvSpPr>
          <p:cNvPr id="4" name="Shape 2"/>
          <p:cNvSpPr/>
          <p:nvPr/>
        </p:nvSpPr>
        <p:spPr>
          <a:xfrm>
            <a:off x="822960" y="822960"/>
            <a:ext cx="310896" cy="310896"/>
          </a:xfrm>
          <a:prstGeom prst="ellipse">
            <a:avLst/>
          </a:prstGeom>
          <a:solidFill>
            <a:srgbClr val="2DD4BF"/>
          </a:solidFill>
          <a:ln/>
        </p:spPr>
      </p:sp>
      <p:pic>
        <p:nvPicPr>
          <p:cNvPr id="5" name="Image 0" descr="preencoded.png">    </p:cNvPr>
          <p:cNvPicPr>
            <a:picLocks noChangeAspect="1"/>
          </p:cNvPicPr>
          <p:nvPr/>
        </p:nvPicPr>
        <p:blipFill>
          <a:blip r:embed="rId1"/>
          <a:stretch>
            <a:fillRect/>
          </a:stretch>
        </p:blipFill>
        <p:spPr>
          <a:xfrm>
            <a:off x="900684" y="900684"/>
            <a:ext cx="155448" cy="155448"/>
          </a:xfrm>
          <a:prstGeom prst="rect">
            <a:avLst/>
          </a:prstGeom>
        </p:spPr>
      </p:pic>
      <p:sp>
        <p:nvSpPr>
          <p:cNvPr id="6" name="Text 3"/>
          <p:cNvSpPr/>
          <p:nvPr/>
        </p:nvSpPr>
        <p:spPr>
          <a:xfrm>
            <a:off x="1243584" y="795528"/>
            <a:ext cx="5486400" cy="384048"/>
          </a:xfrm>
          <a:prstGeom prst="rect">
            <a:avLst/>
          </a:prstGeom>
          <a:noFill/>
          <a:ln/>
        </p:spPr>
        <p:txBody>
          <a:bodyPr wrap="square" lIns="0" tIns="0" rIns="0" bIns="0" rtlCol="0" anchor="ctr"/>
          <a:lstStyle/>
          <a:p>
            <a:pPr indent="0" marL="0">
              <a:buNone/>
            </a:pPr>
            <a:r>
              <a:rPr lang="en-US" sz="1400" b="1" spc="300" kern="0" dirty="0">
                <a:solidFill>
                  <a:srgbClr val="FFFFFF"/>
                </a:solidFill>
                <a:latin typeface="Trebuchet MS" pitchFamily="34" charset="0"/>
                <a:ea typeface="Trebuchet MS" pitchFamily="34" charset="-122"/>
                <a:cs typeface="Trebuchet MS" pitchFamily="34" charset="-120"/>
              </a:rPr>
              <a:t>ELDERCARE VN</a:t>
            </a:r>
            <a:endParaRPr lang="en-US" sz="1400" dirty="0"/>
          </a:p>
        </p:txBody>
      </p:sp>
      <p:sp>
        <p:nvSpPr>
          <p:cNvPr id="7" name="Text 4"/>
          <p:cNvSpPr/>
          <p:nvPr/>
        </p:nvSpPr>
        <p:spPr>
          <a:xfrm>
            <a:off x="822960" y="1783080"/>
            <a:ext cx="10515600" cy="1645920"/>
          </a:xfrm>
          <a:prstGeom prst="rect">
            <a:avLst/>
          </a:prstGeom>
          <a:noFill/>
          <a:ln/>
        </p:spPr>
        <p:txBody>
          <a:bodyPr wrap="square" lIns="0" tIns="0" rIns="0" bIns="0" rtlCol="0" anchor="ctr"/>
          <a:lstStyle/>
          <a:p>
            <a:pPr indent="0" marL="0">
              <a:lnSpc>
                <a:spcPct val="102000"/>
              </a:lnSpc>
              <a:buNone/>
            </a:pPr>
            <a:r>
              <a:rPr lang="en-US" sz="3800" b="1" dirty="0">
                <a:solidFill>
                  <a:srgbClr val="FFFFFF"/>
                </a:solidFill>
                <a:latin typeface="Trebuchet MS" pitchFamily="34" charset="0"/>
                <a:ea typeface="Trebuchet MS" pitchFamily="34" charset="-122"/>
                <a:cs typeface="Trebuchet MS" pitchFamily="34" charset="-120"/>
              </a:rPr>
              <a:t>“Ping An Good Doctor</a:t>
            </a:r>
            <a:endParaRPr lang="en-US" sz="3800" dirty="0"/>
          </a:p>
          <a:p>
            <a:pPr indent="0" marL="0">
              <a:lnSpc>
                <a:spcPct val="102000"/>
              </a:lnSpc>
              <a:buNone/>
            </a:pPr>
            <a:r>
              <a:rPr lang="en-US" sz="3800" b="1" dirty="0">
                <a:solidFill>
                  <a:srgbClr val="FFFFFF"/>
                </a:solidFill>
                <a:latin typeface="Trebuchet MS" pitchFamily="34" charset="0"/>
                <a:ea typeface="Trebuchet MS" pitchFamily="34" charset="-122"/>
                <a:cs typeface="Trebuchet MS" pitchFamily="34" charset="-120"/>
              </a:rPr>
              <a:t>của người cao tuổi Việt Nam”</a:t>
            </a:r>
            <a:endParaRPr lang="en-US" sz="3800" dirty="0"/>
          </a:p>
        </p:txBody>
      </p:sp>
      <p:sp>
        <p:nvSpPr>
          <p:cNvPr id="8" name="Text 5"/>
          <p:cNvSpPr/>
          <p:nvPr/>
        </p:nvSpPr>
        <p:spPr>
          <a:xfrm>
            <a:off x="859536" y="3429000"/>
            <a:ext cx="9601200" cy="640080"/>
          </a:xfrm>
          <a:prstGeom prst="rect">
            <a:avLst/>
          </a:prstGeom>
          <a:noFill/>
          <a:ln/>
        </p:spPr>
        <p:txBody>
          <a:bodyPr wrap="square" lIns="0" tIns="0" rIns="0" bIns="0" rtlCol="0" anchor="ctr"/>
          <a:lstStyle/>
          <a:p>
            <a:pPr indent="0" marL="0">
              <a:lnSpc>
                <a:spcPct val="105000"/>
              </a:lnSpc>
              <a:buNone/>
            </a:pPr>
            <a:r>
              <a:rPr lang="en-US" sz="1600" i="1" dirty="0">
                <a:solidFill>
                  <a:srgbClr val="2DD4BF"/>
                </a:solidFill>
                <a:latin typeface="Calibri" pitchFamily="34" charset="0"/>
                <a:ea typeface="Calibri" pitchFamily="34" charset="-122"/>
                <a:cs typeface="Calibri" pitchFamily="34" charset="-120"/>
              </a:rPr>
              <a:t>Một super-app mọi gia đình có bố mẹ già đều cài đặt — chiến lược unicorn nội địa trong 8–10 năm.</a:t>
            </a:r>
            <a:endParaRPr lang="en-US" sz="1600" dirty="0"/>
          </a:p>
        </p:txBody>
      </p:sp>
      <p:sp>
        <p:nvSpPr>
          <p:cNvPr id="9" name="Shape 6"/>
          <p:cNvSpPr/>
          <p:nvPr/>
        </p:nvSpPr>
        <p:spPr>
          <a:xfrm>
            <a:off x="822960" y="4297680"/>
            <a:ext cx="5120640" cy="1234440"/>
          </a:xfrm>
          <a:prstGeom prst="roundRect">
            <a:avLst>
              <a:gd name="adj" fmla="val 7407"/>
            </a:avLst>
          </a:prstGeom>
          <a:solidFill>
            <a:srgbClr val="0F766E"/>
          </a:solidFill>
          <a:ln/>
        </p:spPr>
      </p:sp>
      <p:sp>
        <p:nvSpPr>
          <p:cNvPr id="10" name="Shape 7"/>
          <p:cNvSpPr/>
          <p:nvPr/>
        </p:nvSpPr>
        <p:spPr>
          <a:xfrm>
            <a:off x="1097280" y="4645152"/>
            <a:ext cx="548640" cy="548640"/>
          </a:xfrm>
          <a:prstGeom prst="ellipse">
            <a:avLst/>
          </a:prstGeom>
          <a:solidFill>
            <a:srgbClr val="2DD4BF"/>
          </a:solidFill>
          <a:ln/>
        </p:spPr>
      </p:sp>
      <p:pic>
        <p:nvPicPr>
          <p:cNvPr id="11" name="Image 1" descr="preencoded.png">    </p:cNvPr>
          <p:cNvPicPr>
            <a:picLocks noChangeAspect="1"/>
          </p:cNvPicPr>
          <p:nvPr/>
        </p:nvPicPr>
        <p:blipFill>
          <a:blip r:embed="rId2"/>
          <a:stretch>
            <a:fillRect/>
          </a:stretch>
        </p:blipFill>
        <p:spPr>
          <a:xfrm>
            <a:off x="1225296" y="4773168"/>
            <a:ext cx="292608" cy="292608"/>
          </a:xfrm>
          <a:prstGeom prst="rect">
            <a:avLst/>
          </a:prstGeom>
        </p:spPr>
      </p:pic>
      <p:sp>
        <p:nvSpPr>
          <p:cNvPr id="12" name="Text 8"/>
          <p:cNvSpPr/>
          <p:nvPr/>
        </p:nvSpPr>
        <p:spPr>
          <a:xfrm>
            <a:off x="1783080" y="4462272"/>
            <a:ext cx="4023360" cy="347472"/>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Kêu gọi Seed</a:t>
            </a:r>
            <a:endParaRPr lang="en-US" sz="1500" dirty="0"/>
          </a:p>
        </p:txBody>
      </p:sp>
      <p:sp>
        <p:nvSpPr>
          <p:cNvPr id="13" name="Text 9"/>
          <p:cNvSpPr/>
          <p:nvPr/>
        </p:nvSpPr>
        <p:spPr>
          <a:xfrm>
            <a:off x="1783080" y="4791456"/>
            <a:ext cx="4023360" cy="640080"/>
          </a:xfrm>
          <a:prstGeom prst="rect">
            <a:avLst/>
          </a:prstGeom>
          <a:noFill/>
          <a:ln/>
        </p:spPr>
        <p:txBody>
          <a:bodyPr wrap="square" lIns="0" tIns="0" rIns="0" bIns="0" rtlCol="0" anchor="t"/>
          <a:lstStyle/>
          <a:p>
            <a:pPr indent="0" marL="0">
              <a:lnSpc>
                <a:spcPct val="100000"/>
              </a:lnSpc>
              <a:buNone/>
            </a:pPr>
            <a:r>
              <a:rPr lang="en-US" sz="1100" dirty="0">
                <a:solidFill>
                  <a:srgbClr val="ECFEFF"/>
                </a:solidFill>
                <a:latin typeface="Calibri" pitchFamily="34" charset="0"/>
                <a:ea typeface="Calibri" pitchFamily="34" charset="-122"/>
                <a:cs typeface="Calibri" pitchFamily="34" charset="-120"/>
              </a:rPr>
              <a:t>38 tỷ VNĐ (~$1,5M) — MVP 5 trụ cột, pilot TP.HCM, 6k gia đình.</a:t>
            </a:r>
            <a:endParaRPr lang="en-US" sz="1100" dirty="0"/>
          </a:p>
        </p:txBody>
      </p:sp>
      <p:sp>
        <p:nvSpPr>
          <p:cNvPr id="14" name="Shape 10"/>
          <p:cNvSpPr/>
          <p:nvPr/>
        </p:nvSpPr>
        <p:spPr>
          <a:xfrm>
            <a:off x="6309360" y="4297680"/>
            <a:ext cx="5120640" cy="1234440"/>
          </a:xfrm>
          <a:prstGeom prst="roundRect">
            <a:avLst>
              <a:gd name="adj" fmla="val 7407"/>
            </a:avLst>
          </a:prstGeom>
          <a:solidFill>
            <a:srgbClr val="0F766E"/>
          </a:solidFill>
          <a:ln/>
        </p:spPr>
      </p:sp>
      <p:sp>
        <p:nvSpPr>
          <p:cNvPr id="15" name="Shape 11"/>
          <p:cNvSpPr/>
          <p:nvPr/>
        </p:nvSpPr>
        <p:spPr>
          <a:xfrm>
            <a:off x="6583680" y="4645152"/>
            <a:ext cx="548640" cy="548640"/>
          </a:xfrm>
          <a:prstGeom prst="ellipse">
            <a:avLst/>
          </a:prstGeom>
          <a:solidFill>
            <a:srgbClr val="2DD4BF"/>
          </a:solidFill>
          <a:ln/>
        </p:spPr>
      </p:sp>
      <p:pic>
        <p:nvPicPr>
          <p:cNvPr id="16" name="Image 2" descr="preencoded.png">    </p:cNvPr>
          <p:cNvPicPr>
            <a:picLocks noChangeAspect="1"/>
          </p:cNvPicPr>
          <p:nvPr/>
        </p:nvPicPr>
        <p:blipFill>
          <a:blip r:embed="rId3"/>
          <a:stretch>
            <a:fillRect/>
          </a:stretch>
        </p:blipFill>
        <p:spPr>
          <a:xfrm>
            <a:off x="6711696" y="4773168"/>
            <a:ext cx="292608" cy="292608"/>
          </a:xfrm>
          <a:prstGeom prst="rect">
            <a:avLst/>
          </a:prstGeom>
        </p:spPr>
      </p:pic>
      <p:sp>
        <p:nvSpPr>
          <p:cNvPr id="17" name="Text 12"/>
          <p:cNvSpPr/>
          <p:nvPr/>
        </p:nvSpPr>
        <p:spPr>
          <a:xfrm>
            <a:off x="7269480" y="4462272"/>
            <a:ext cx="4023360" cy="347472"/>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Tầm nhìn</a:t>
            </a:r>
            <a:endParaRPr lang="en-US" sz="1500" dirty="0"/>
          </a:p>
        </p:txBody>
      </p:sp>
      <p:sp>
        <p:nvSpPr>
          <p:cNvPr id="18" name="Text 13"/>
          <p:cNvSpPr/>
          <p:nvPr/>
        </p:nvSpPr>
        <p:spPr>
          <a:xfrm>
            <a:off x="7269480" y="4791456"/>
            <a:ext cx="4023360" cy="640080"/>
          </a:xfrm>
          <a:prstGeom prst="rect">
            <a:avLst/>
          </a:prstGeom>
          <a:noFill/>
          <a:ln/>
        </p:spPr>
        <p:txBody>
          <a:bodyPr wrap="square" lIns="0" tIns="0" rIns="0" bIns="0" rtlCol="0" anchor="t"/>
          <a:lstStyle/>
          <a:p>
            <a:pPr indent="0" marL="0">
              <a:lnSpc>
                <a:spcPct val="100000"/>
              </a:lnSpc>
              <a:buNone/>
            </a:pPr>
            <a:r>
              <a:rPr lang="en-US" sz="1100" dirty="0">
                <a:solidFill>
                  <a:srgbClr val="ECFEFF"/>
                </a:solidFill>
                <a:latin typeface="Calibri" pitchFamily="34" charset="0"/>
                <a:ea typeface="Calibri" pitchFamily="34" charset="-122"/>
                <a:cs typeface="Calibri" pitchFamily="34" charset="-120"/>
              </a:rPr>
              <a:t>EBITDA dương Năm 5 · IPO Năm 7+ · hướng “tỉ đô”.</a:t>
            </a:r>
            <a:endParaRPr lang="en-US" sz="1100" dirty="0"/>
          </a:p>
        </p:txBody>
      </p:sp>
      <p:sp>
        <p:nvSpPr>
          <p:cNvPr id="19" name="Shape 14"/>
          <p:cNvSpPr/>
          <p:nvPr/>
        </p:nvSpPr>
        <p:spPr>
          <a:xfrm>
            <a:off x="822960" y="5806440"/>
            <a:ext cx="10515600" cy="566928"/>
          </a:xfrm>
          <a:prstGeom prst="roundRect">
            <a:avLst>
              <a:gd name="adj" fmla="val 50000"/>
            </a:avLst>
          </a:prstGeom>
          <a:solidFill>
            <a:srgbClr val="FB7185"/>
          </a:solidFill>
          <a:ln/>
        </p:spPr>
      </p:sp>
      <p:sp>
        <p:nvSpPr>
          <p:cNvPr id="20" name="Text 15"/>
          <p:cNvSpPr/>
          <p:nvPr/>
        </p:nvSpPr>
        <p:spPr>
          <a:xfrm>
            <a:off x="822960" y="5806440"/>
            <a:ext cx="1051560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Một chạm để biết bố mẹ vẫn ổn.   </a:t>
            </a:r>
            <a:pPr algn="ctr" indent="0" marL="0">
              <a:buNone/>
            </a:pPr>
            <a:r>
              <a:rPr lang="en-US" sz="1250" dirty="0">
                <a:solidFill>
                  <a:srgbClr val="FFE4E6"/>
                </a:solidFill>
                <a:latin typeface="Calibri" pitchFamily="34" charset="0"/>
                <a:ea typeface="Calibri" pitchFamily="34" charset="-122"/>
                <a:cs typeface="Calibri" pitchFamily="34" charset="-120"/>
              </a:rPr>
              <a:t>startup.sem40hn.asia/eldercare  ·  /eldercare-app</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ElderCare VN — Pitch Deck</dc:title>
  <dc:subject>PptxGenJS Presentation</dc:subject>
  <dc:creator>Team ElderCare VN — SEM40HN</dc:creator>
  <cp:lastModifiedBy>Team ElderCare VN — SEM40HN</cp:lastModifiedBy>
  <cp:revision>1</cp:revision>
  <dcterms:created xsi:type="dcterms:W3CDTF">2026-06-11T18:38:08Z</dcterms:created>
  <dcterms:modified xsi:type="dcterms:W3CDTF">2026-06-11T18:38:08Z</dcterms:modified>
</cp:coreProperties>
</file>